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ertura" id="{17e35687-3a6a-b8b3-d4c8-6e51b75301c7}">
          <p14:sldIdLst>
            <p14:sldId id="256"/>
          </p14:sldIdLst>
        </p14:section>
        <p14:section name="Introduzione" id="{da4a62dd-8eda-d8aa-377a-714216ad6cbe}">
          <p14:sldIdLst>
            <p14:sldId id="257"/>
          </p14:sldIdLst>
        </p14:section>
        <p14:section name="Applicazioni cliniche" id="{85f1d377-7873-c2f3-5f81-3c958e5c4414}">
          <p14:sldIdLst>
            <p14:sldId id="258"/>
            <p14:sldId id="259"/>
            <p14:sldId id="260"/>
            <p14:sldId id="261"/>
          </p14:sldIdLst>
        </p14:section>
        <p14:section name="BHRT e protocollo" id="{7f9ad110-1ba0-9bc7-fdc8-770faf144db1}">
          <p14:sldIdLst>
            <p14:sldId id="262"/>
            <p14:sldId id="263"/>
          </p14:sldIdLst>
        </p14:section>
        <p14:section name="Conclusioni" id="{9fb15e61-01dd-fd1d-daba-7180708924c9}">
          <p14:sldIdLst>
            <p14:sldId id="264"/>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GSM</c:v>
                </c:pt>
              </c:strCache>
            </c:strRef>
          </c:tx>
          <c:spPr>
            <a:solidFill>
              <a:schemeClr val="accent1"/>
            </a:solidFill>
            <a:ln w="9525" cap="flat">
              <a:solidFill>
                <a:srgbClr val="F9F9F9"/>
              </a:solidFill>
              <a:prstDash val="solid"/>
              <a:round/>
            </a:ln>
            <a:effectLst/>
          </c:spPr>
          <c:dPt>
            <c:idx val="0"/>
            <c:bubble3D val="0"/>
            <c:spPr>
              <a:solidFill>
                <a:srgbClr val="C2416B"/>
              </a:solidFill>
              <a:ln w="12700" cap="flat">
                <a:solidFill>
                  <a:srgbClr val="FFFFFF"/>
                </a:solidFill>
                <a:prstDash val="solid"/>
                <a:round/>
              </a:ln>
              <a:effectLst/>
            </c:spPr>
          </c:dPt>
          <c:dPt>
            <c:idx val="1"/>
            <c:bubble3D val="0"/>
            <c:spPr>
              <a:solidFill>
                <a:srgbClr val="F3D3DD"/>
              </a:solidFill>
              <a:ln w="12700"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Con GSM</c:v>
                </c:pt>
                <c:pt idx="1">
                  <c:v>Altre</c:v>
                </c:pt>
              </c:strCache>
            </c:strRef>
          </c:cat>
          <c:val>
            <c:numRef>
              <c:f>Sheet1!$B$2:$B$3</c:f>
              <c:numCache>
                <c:ptCount val="2"/>
                <c:pt idx="0">
                  <c:v>50</c:v>
                </c:pt>
                <c:pt idx="1">
                  <c:v>50</c:v>
                </c:pt>
              </c:numCache>
            </c:numRef>
          </c:val>
        </c:ser>
        <c:firstSliceAng val="0"/>
        <c:holeSize val="62"/>
      </c:doughnutChart>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Testosterone (livello relativo)</c:v>
                </c:pt>
              </c:strCache>
            </c:strRef>
          </c:tx>
          <c:spPr>
            <a:solidFill>
              <a:srgbClr val="A7D3B0"/>
            </a:solidFill>
            <a:effectLst/>
          </c:spPr>
          <c:invertIfNegative val="0"/>
          <c:dLbls>
            <c:numFmt formatCode="0&quot;%&quot;" sourceLinked="0"/>
            <c:txPr>
              <a:bodyPr/>
              <a:lstStyle/>
              <a:p>
                <a:pPr>
                  <a:defRPr b="0" i="0" strike="noStrike" sz="1100" u="none">
                    <a:solidFill>
                      <a:srgbClr val="FFFFFF"/>
                    </a:solidFill>
                    <a:latin typeface="+mn-lt"/>
                  </a:defRPr>
                </a:pPr>
              </a:p>
            </c:txPr>
            <c:showLegendKey val="0"/>
            <c:showVal val="1"/>
            <c:showCatName val="0"/>
            <c:showSerName val="0"/>
            <c:showPercent val="0"/>
            <c:showBubbleSize val="0"/>
            <c:showLeaderLines val="0"/>
          </c:dLbls>
          <c:dPt>
            <c:idx val="0"/>
            <c:invertIfNegative val="0"/>
            <c:bubble3D val="0"/>
            <c:spPr>
              <a:solidFill>
                <a:srgbClr val="A7D3B0"/>
              </a:solidFill>
              <a:effectLst/>
            </c:spPr>
          </c:dPt>
          <c:dPt>
            <c:idx val="1"/>
            <c:invertIfNegative val="0"/>
            <c:bubble3D val="0"/>
            <c:spPr>
              <a:solidFill>
                <a:srgbClr val="8CBF3F"/>
              </a:solidFill>
              <a:effectLst/>
            </c:spPr>
          </c:dPt>
          <c:cat>
            <c:multiLvlStrRef>
              <c:f>Sheet1!$A$2:$A$3</c:f>
              <c:multiLvlStrCache>
                <c:ptCount val="2"/>
                <c:lvl>
                  <c:pt idx="0">
                    <c:v>20 anni</c:v>
                  </c:pt>
                  <c:pt idx="1">
                    <c:v>45 anni</c:v>
                  </c:pt>
                </c:lvl>
              </c:multiLvlStrCache>
            </c:multiLvlStrRef>
          </c:cat>
          <c:val>
            <c:numRef>
              <c:f>Sheet1!$B$2:$B$3</c:f>
              <c:numCache>
                <c:formatCode>General</c:formatCode>
                <c:ptCount val="2"/>
                <c:pt idx="0">
                  <c:v>100</c:v>
                </c:pt>
                <c:pt idx="1">
                  <c:v>50</c:v>
                </c:pt>
              </c:numCache>
            </c:numRef>
          </c:val>
        </c:ser>
        <c:dLbls>
          <c:numFmt formatCode="0&quot;%&quot;" sourceLinked="0"/>
          <c:txPr>
            <a:bodyPr/>
            <a:lstStyle/>
            <a:p>
              <a:pPr>
                <a:defRPr b="0" i="0" strike="noStrike" sz="1100" u="none">
                  <a:solidFill>
                    <a:srgbClr val="FFFFFF"/>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FFFFFF"/>
                </a:solidFill>
                <a:latin typeface="+mn-lt"/>
              </a:defRPr>
            </a:pPr>
            <a:endParaRPr lang="en-US"/>
          </a:p>
        </c:txPr>
        <c:crossAx val="2094734552"/>
        <c:crosses val="autoZero"/>
        <c:auto val="1"/>
        <c:lblAlgn val="ctr"/>
        <c:noMultiLvlLbl val="1"/>
      </c:catAx>
      <c:valAx>
        <c:axId val="2094734552"/>
        <c:scaling>
          <c:orientation val="minMax"/>
          <c:max val="12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Tempo indicativo: 0:00 – 2:30
Colleghi, permettetemi di iniziare con una premessa che credo condivideremo tutti: la medicina rigenerativa ha trovato in ginecologia uno dei suoi campi di applicazione più fertili — e al tempo stesso uno dei più sottovalutati dalla letteratura mainstream.
Perché? Perché i tessuti dell'apparato genitale femminile condividono con i tessuti che altri relatori oggi hanno trattato — collagene, matrice extracellulare, vascolarizzazione, innervazione — le stesse leggi biologiche di riparazione e invecchiamento. Ma hanno in più una variabile che nessun altro distretto anatomico possiede nella stessa misura: la dipendenza ormonale.
Il tessuto vulvovaginale, il pavimento pelvico, l'endometrio e l'ovaio non invecchiano semplicemente per il trascorrere del tempo. Invecchiano perché, a partire dalla transizione menopausale, viene a mancare il loro principale segnale trofico: l'estradiolo. La conseguenza è una cascata di atrofia, infiammazione cronica di basso grado e perdita di architettura tissutale che anticipa e amplifica ogni altro processo degenerativo.
Il contributo della medicina rigenerativa in ginecologia si declina quindi su due livelli paralleli e sinergici:
1. Strumenti rigenerativi locali: PRP, laser frazionato, radiofrequenza, acido ialuronico, esosomi — applicati direttamente ai tessuti bersaglio.
2. Ripristino del segnale ormonale fisiologico (BHRT): il prerequisito biologico affinché ogni stimolo rigenerativo possa esplicare il suo pieno potenziale.
È questa sinergia il cuore della mia relazione. Non due approcci alternativi, ma un'unica strategia integrata.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Tempo indicativo: 2:30 – 6:00
La Sindrome Genitourinaria della Menopausa — definizione adottata da NAMS e ISSVD nel 2014 in sostituzione del termine "atrofia vulvovaginale" — è la condizione che meglio esemplifica la convergenza tra carenza ormonale e degenerazione tissutale progressiva.
Il quadro fisiopatologico
In condizioni di ipoestrogenismo cronico, il tessuto vulvovaginale va incontro a [1,2]:
• Riduzione dello spessore epiteliale e della glicogenazione cellulare.
• Perdita di collagene di tipo I e III con sostituzione fibrotica disorganizzata.
• Riduzione della densità vascolare e della lubrificazione.
• Alterazione del microbioma vaginale (scomparsa dei Lactobacilli, aumento del pH).
• Riduzione della densità delle fibre nervose sensoriali — con il paradosso di ipoestesia associata a iperalgesia da sensibilizzazione centrale.
Il risultato clinico è ben noto: dispareunia, secchezza, urgenza urinaria, infezioni ricorrenti, vulvodinia. Una condizione che affligge fino al 50% delle donne in post-menopausa e che, a differenza dei sintomi vasomotori, tende a peggiorare nel tempo senza trattamento [2].
Strumenti rigenerativi locali
Il laser frazionato CO₂ e l'Er:YAG, attraverso il meccanismo di coagulazione termica controllata e stimolazione della neocollagenesi, inducono un rimodellamento dell'epitelio vaginale documentato istologicamente: aumento dello spessore epiteliale, ripristino delle cellule superficiali e intermedie, incremento di collagene maturo [3].
Il PRP (Plasma Ricco di Piastrine) applicato localmente — il cosiddetto O-Shot nella sua declinazione vulvovaginale — rilascia fattori di crescita (PDGF, TGF-β, VEGF, EGF) che stimolano la proliferazione fibroblastica, la rivascolarizzazione e il trofismo del tessuto connettivo. Le evidenze su dispareunia, secchezza e incontinenza da stress mostrano risultati promettenti in studi pilota, con necessità di RCT più ampi [4].
L'acido ialuronico non crosslinkato ad uso intravaginale e vulvare rappresenta un approccio di prima linea per la lubrificazione e il trofismo a bassa invasività, con profilo di sicurezza eccellente.
Il ruolo della BHRT come potenziatore rigenerativo
Tutti questi strumenti, tuttavia, agiscono su un tessuto che continua a perdere il suo sostegno trofico fisiologico. L'estradiolo — e in particolare il 17β-estradiolo per via transdermica e/o l’estriolo topico vaginale — è il principale regolatore della proliferazione epiteliale, della sintesi di collagene e della vascolarizzazione vulvovaginale [1,5].
La combinazione BHRT + laser o PRP non è una sovrapposizione di trattamenti: è una logica biologica. Lo stimolo rigenerativo trova un microambiente ormonalmente competente e risponde in modo più robusto e duraturo.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Tempo indicativo: 6:00 – 9:00
Il pavimento pelvico è un'architettura muscolo-fasciale complessa che subisce durante il parto vaginale un trauma meccanico documentabile: lacerazioni del muscolo elevatore dell'ano, denervazione parziale del pudendo, danno alla fascia endopelvica. In un significativo numero di donne questo trauma non si risolve spontaneamente, determinando incontinenza urinaria da stress, prolasso degli organi pelvici e disfunzione sessuale [6].
Medicina rigenerativa applicata
Il PRP infiltrato nei punti di maggiore danno muscolare e fasciale — in particolare nell'area dello iato elevatorio e nelle lacerazioni residue — si propone come stimolo alla rigenerazione delle fibre muscolari scheletriche attraverso l'attivazione delle cellule satelliti e la modulazione della risposta infiammatoria locale. Le evidenze preliminari su incontinenza urinaria da stress mostrano miglioramenti soggettivi e oggettivi a 3 e 6 mesi [4,6].
La radiofrequenza monopolare e bipolare applicata alla mucosa vaginale e all'introito vulvare determina una contrazione immediata delle fibre collagene e una neocollagenesi a lungo termine, con effetto di rinforzo della parete vaginale anteriore particolarmente rilevante nel cistocele di I–II grado.
Gli esosomi derivati da cellule staminali mesenchimali — la frontiera più avanzata ad oggi nel panorama clinico medico — stanno mostrando in modelli preclinici una capacità di modulazione della fibrosi post-partum e di stimolo alla rigenerazione nervosa particolarmente interessante per le neuropatie pudende [7].
Il ruolo degli ormoni
Nel periodo post-partum e durante l'allattamento, la donna si trova in uno stato di ipoestrogenismo indotto dalla prolattina. La conseguente atrofia tissutale riduce la responsività di ogni stimolo rigenerativo. Il ripristino fisiologico dell'assetto estrogenico — non necessariamente con BHRT sistemica, ma anche con estradiolo topico vaginale — crea le condizioni ottimali per la risposta ai trattamenti rigenerativi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Tempo indicativo: 9:00 – 12:00
L'endometrio è forse il tessuto con la più elevata capacità rigenerativa del corpo umano: si rigenera completamente ogni mese per oltre trent'anni. Eppure, in alcune condizioni patologiche, questa capacità è compromessa in modo che la sola terapia ormonale convenzionale non riesce a ripristinare.
Endometrio sottile refrattario
Nelle pazienti con endometrio sottile refrattario (&lt; 7 mm nonostante adeguata estrogenizzazione) — frequente nelle pregresse curettage, sinechie, endometriti croniche — la medicina rigenerativa offre approcci promettenti [8]:
• Infusione intrauterina di PRP autologo: incremento dello spessore endometriale e miglioramento del pattern vascolare (indice di pulsatilità delle arterie spirali) documentato in studi randomizzati.
• Cellule staminali endometriali autologhe o derivate dal midollo osseo: evidenze preliminari di rigenerazione dello stroma in casi di sindrome di Asherman severa.
• G-CSF intrauterino: fattore di crescita granulocitario con azione di stimolo sulla proliferazione endometriale, impiegato in protocolli di PMA con endometrio resistente.
Insufficienza ovarica prematura (POI)
La POI — definita come amenorrea con FSH &gt; 25 UI/L prima dei 40 anni — è una condizione in cui la medicina rigenerativa sta aprendo scenari inattesi. L'iniezione intraovarica di PRP o di fattori di crescita derivati da piastrine ha mostrato in alcuni studi pilota una ripresa transitoria dell'attività follicolare, con recupero di gravidanze spontanee in donne precedentemente considerate in menopausa prematura [8].
Questi dati sono ancora preliminari e richiedono conferma in RCT adeguatamente potenziali. Tuttavia rappresentano una delle frontiere più straordinarie della medicina rigenerativa applicata alla riproduzione.
BHRT come prerequisito
In tutte queste applicazioni, la BHRT — e in particolare il 17β-estradiolo — non è un'alternativa alla medicina rigenerativa: è il contesto ormonale senza il quale ogni stimolo rigenerativo perde efficacia. Un endometrio privato di estradiolo non risponde al PRP. Un'ovaio in ambiente ipoestrogenico non risponde agli stimoli angiogenetici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Tempo indicativo: 12:00 – 15:00
La vulvodinia — dolore vulvare cronico in assenza di causa infettiva o dermatologica identificabile — colpisce fino al 16% delle donne in età riproduttiva e rappresenta una delle condizioni più sottostimate e sottotrattate in ginecologia [9].
Il suo substrato biologico è oggi meglio compreso: iperproliferazione delle terminazioni nervose nocicettive intraepiteliali (allodinia meccanica), flogosi neurogenica cronica, alterazione della matrice extracellulare del vestibolo, disfunzione dei mastociti locali. È, a tutti gli effetti, una patologia della matrice e dell'innervazione — quindi un terreno d'elezione per la medicina rigenerativa.
Approcci rigenerativi
Il PRP infiltrato nel vestibolo e nel bulbo vestibolare — con la sua azione antiinfiammatoria mediata dai fattori di crescita e modulatrice della risposta immunitaria locale — ha mostrato in studi pilota una riduzione significativa del dolore alla pressione (test con cotton swab) e del dolore durante l'attività sessuale, con un profilo di sicurezza eccellente [4,9].
L'acido ialuronico non crosslinkato iniettato nel vestibolo agisce come modulatore della matrice extracellulare, riducendo la flogosi locale e migliorando l'idratazione tissutale.
La radiofrequenza applicata localmente ha un effetto di neuromodulazione e riduzione della sensibilizzazione periferica documentato in alcune serie di casi.
La componente ormonale nella vulvodinia
Un aspetto spesso trascurato: molte pazienti con vulvodinia presentano una condizione di ipoandrogenismo locale indotto dall'uso prolungato di contraccettivi orali combinati, che sopprimono la produzione di testosterone e DHEA ovarici e riducono la concentrazione di androgeni nei tessuti vulvari. Il ripristino degli androgeni — attraverso DHEA topico o testosterone transdermico a basso dosaggio — è un componente essenziale della gestione integrata di queste pazienti [1,9].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Tempo indicativo: 15:00 – 19:00
Arriviamo al cuore concettuale di questa relazione. Ho volutamente lasciato questa slide per dopo aver presentato le applicazioni locali, perché voglio che il ragionamento sia chiaro: la BHRT non è alternativa alla medicina rigenerativa. È medicina rigenerativa — la più potente, la più sistemica, e la più evidence-based tra quelle disponibili in ginecologia.
Il 17β-estradiolo come agente trofico universale
L'estradiolo agisce su ogni tessuto dell'organismo femminile attraverso recettori ERα e ERβ ubiquitari. Nel contesto rigenerativo, i suoi effetti documentati comprendono [1,5,10]:
• Stimolazione della sintesi di collagene di tipo I e III nei fibroblasti dermici e del connettivo pelvico.
• Upregulation del VEGF (Vascular Endothelial Growth Factor) con promozione dell'angiogenesi tissutale.
• Attivazione delle cellule satellite muscolari e modulazione dell'equilibrio anabolismo/catabolismo nel muscolo scheletrico.
• Riduzione dell'inflammaging: soppressione di IL-6, TNF-α, NFkB — i principali driver dell'invecchiamento tissutale cronico.
• Upregulation del BDNF (Brain-Derived Neurotrophic Factor) con effetto neuroprotettivo e di mantenimento della densità delle fibre nervose periferiche.
Il progesterone come modulatore della matrice
Il progesterone — nella sua forma micronizzata, identica all'ormone endogeno — esercita effetti propri sulla matrice extracellulare: modulazione dei recettori della relaxina nel connettivo pelvico, effetto osteoanabolico documentato da marker biochimici (osteocalcina, P1NP), azione anti-proliferativa endometriale e modulazione del ritmo circadiano con effetto sul recupero tissutale notturno [1,10].
Il testosterone e il DHEA: androgeni come agenti rigenerativi
I livelli di testosterone nella donna calano fisiologicamente del 50% tra i 20 e i 45 anni. Il DHEA — precursore androgenico — decade con la classica curva dell'adrenopausa a partire dai 30 anni. Entrambi sono recettorialmente attivi in tutti i tessuti che abbiamo oggi discusso: muscolo pelvico, mucosa vaginale, osso, cute vulvare [1,11].
Il DHEA intravaginale (Prasterone) è approvato FDA per la dispareunia post-menopausale e agisce localmente sui recettori androgenici ed estrogenici dell'epitelio vaginale con un meccanismo di conversione tissutale. Il testosterone transdermico a basso dosaggio ha mostrato benefici sulla composizione corporea, sulla funzione muscolare e sulla vitalità psicofisica, con un profilo di sicurezza accettabile in donne selezionate [11].
La BHRT sistemica, dunque, crea il microambiente ormonale in cui ogni altro strumento rigenerativo — PRP, laser, radiofrequenza, esosomi — trova il suo substrato ottimale. Non è una scelta o l'altra: è la sequenza logica.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Tempo indicativo: 19:00 – 23:00
Come tradurre questa visione integrata in un protocollo clinico pratico? Propongo uno schema orientativo che adotto nella mia pratica, modulabile in base al quadro individuale.
Fase 1 — Valutazione e stadiazione (baseline)
• Anamnesi completa: parità, modalità del parto, storia contraccettiva, sintomi GSM, dolore pelvico, funzione sessuale (FSFI), continenza urinaria.
• Profilo ormonale: FSH, LH, 17β-estradiolo, progesterone (fase luteale se in premenopausa), testosterone libero, DHEA-S, SHBG.
• Visita ginecologica con valutazione del pH vaginale, maturation index, trofismo vulvovaginale.
• Ecografia pelvica con studio del pavimento pelvico e dello spessore endometriale.
• Eventuale colposcopia e biopsia in caso di lesioni sospette.
Fase 2 — Ripristino del contesto ormonale (BHRT)
• 17β-estradiolo (gel, capsule o losanghe sublinguali): prima scelta sistemica. Dosaggio individualizzato sul monitoraggio plasmatico.
• Progesterone orale: protezione endometriale e effetto neuroprotettivo-sedativo serale.
• DHEA intravaginale o testosterone transdermico: indicati in caso di ipoandrogenismo documentato, dispareunia, sarcopenia pelvica.
• Estriolo topico vaginale: in aggiunta agli androgeni topici per nutrire e rigenerare le mucose vaginali.
Fase 3 — Strumenti rigenerativi locali (dopo 4–8 settimane di BHRT)
• PRP intralesionale o intravaginale: 3 sedute a 4 settimane di distanza, mantenimento semestrale.
• Laser frazionato CO₂ o Er:YAG: 3 sedute mensili per GSM, pavimento pelvico, vulvodinia.
• Radiofrequenza: in combinazione o in alternativa al laser per pazienti con controindicazioni termiche.
• Acido ialuronico vulvare: sedute di riempimento volumetrico e biostimolazione.
Fase 4 — Monitoraggio e mantenimento
Rivalutazione clinica e ormonale a 3, 6 e 12 mesi. L'obiettivo non è il trattamento puntuale ma la costruzione di un piano di cura longitudinale che accompagni la paziente nel tempo.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Tempo indicativo: 23:00 – 30:00
Colleghi, permettetemi di sintetizzare il messaggio di questa relazione in tre punti.
Primo: la ginecologia è un campo privilegiato per la medicina rigenerativa, non perché i suoi tessuti siano diversi da quelli degli altri distretti anatomici, ma perché condividono le stesse leggi biologiche con una variabile aggiuntiva determinante — la dipendenza ormonale. Ignorare questa variabile significa applicare strumenti rigenerativi potenti su un terreno biologicamente impoverito.
Secondo: la terapia ormonale bioidentica — 17β-estradiolo, progesterone, testosterone e DHEA nella loro forma fisiologica — è a tutti gli effetti un intervento di medicina rigenerativa sistemica. Stimola la sintesi di collagene, promuove l'angiogenesi, attiva le cellule satellite muscolari, riduce l'inflammaging. I dati sul suo impatto sulla mortalità per tutte le cause nelle donne che iniziano entro i 10 anni dalla menopausa non lasciano spazio a interpretazioni: chi fa BHRT vive più a lungo e in salute migliore [10,12].
Terzo: il futuro della ginecologia rigenerativa è integrativo. PRP, laser, radiofrequenza, esosomi da un lato; BHRT personalizzata dall'altro. Non come scelte alternative, ma come componenti di un protocollo unico, sequenziale e paziente-centrico, dove ogni elemento potenzia l'efficacia dell'altro.
La donna che arriva nel nostro studio con dispareunia, incontinenza, dolore pelvico cronico o desiderio di maternità non ha bisogno di scegliere tra il ginecologo tradizionale e il medico della rigenerazione. Ha bisogno di un medico che sappia integrare entrambe le visioni.
Questo è il contributo della medicina rigenerativa in ginecologia. E questo è il contributo che, come medici, possiamo restituire alle nostre pazienti.
Grazie.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uto">
    <p:bg>
      <p:bgPr>
        <a:solidFill>
          <a:srgbClr val="FFFFFF"/>
        </a:solidFill>
      </p:bgPr>
    </p:bg>
    <p:spTree>
      <p:nvGrpSpPr>
        <p:cNvPr id="1" name=""/>
        <p:cNvGrpSpPr/>
        <p:nvPr/>
      </p:nvGrpSpPr>
      <p:grpSpPr>
        <a:xfrm>
          <a:off x="0" y="0"/>
          <a:ext cx="0" cy="0"/>
          <a:chOff x="0" y="0"/>
          <a:chExt cx="0" cy="0"/>
        </a:xfrm>
      </p:grpSpPr>
      <p:pic>
        <p:nvPicPr>
          <p:cNvPr id="2" name="Image 0" descr="amr_big.png">    </p:cNvPr>
          <p:cNvPicPr>
            <a:picLocks noChangeAspect="1"/>
          </p:cNvPicPr>
          <p:nvPr/>
        </p:nvPicPr>
        <p:blipFill>
          <a:blip r:embed="rId1"/>
          <a:stretch>
            <a:fillRect/>
          </a:stretch>
        </p:blipFill>
        <p:spPr>
          <a:xfrm>
            <a:off x="11045952" y="256032"/>
            <a:ext cx="621792" cy="713232"/>
          </a:xfrm>
          <a:prstGeom prst="rect">
            <a:avLst/>
          </a:prstGeom>
        </p:spPr>
      </p:pic>
      <p:sp>
        <p:nvSpPr>
          <p:cNvPr id="3" name="Text 0"/>
          <p:cNvSpPr/>
          <p:nvPr/>
        </p:nvSpPr>
        <p:spPr>
          <a:xfrm>
            <a:off x="548640" y="6419088"/>
            <a:ext cx="5486400" cy="274320"/>
          </a:xfrm>
          <a:prstGeom prst="rect">
            <a:avLst/>
          </a:prstGeom>
          <a:noFill/>
          <a:ln/>
        </p:spPr>
        <p:txBody>
          <a:bodyPr wrap="square" lIns="0" tIns="0" rIns="0" bIns="0" rtlCol="0" anchor="ctr"/>
          <a:lstStyle/>
          <a:p>
            <a:pPr indent="0" marL="0">
              <a:buNone/>
            </a:pPr>
            <a:r>
              <a:rPr lang="en-US" sz="900" dirty="0">
                <a:solidFill>
                  <a:srgbClr val="5B6B60"/>
                </a:solidFill>
                <a:latin typeface="Calibri" pitchFamily="34" charset="0"/>
                <a:ea typeface="Calibri" pitchFamily="34" charset="-122"/>
                <a:cs typeface="Calibri" pitchFamily="34" charset="-120"/>
              </a:rPr>
              <a:t>AMR Symposium 2026  ·  Dott.ssa Eleonora Piccolo</a:t>
            </a:r>
            <a:endParaRPr lang="en-US" sz="900" dirty="0"/>
          </a:p>
        </p:txBody>
      </p:sp>
      <p:sp>
        <p:nvSpPr>
          <p:cNvPr id="4" name="Text 1"/>
          <p:cNvSpPr/>
          <p:nvPr>
            <p:ph idx="102" type="title" hasCustomPrompt="1"/>
          </p:nvPr>
        </p:nvSpPr>
        <p:spPr>
          <a:xfrm>
            <a:off x="548640" y="292608"/>
            <a:ext cx="10241280" cy="658368"/>
          </a:xfrm>
          <a:prstGeom prst="rect">
            <a:avLst/>
          </a:prstGeom>
          <a:noFill/>
          <a:ln/>
        </p:spPr>
        <p:txBody>
          <a:bodyPr wrap="square" rtlCol="0"/>
          <a:lstStyle>
            <a:lvl1pPr algn="l" indent="0" marL="0">
              <a:buNone/>
              <a:defRPr lang="en-US" sz="3000" b="1" dirty="0">
                <a:solidFill>
                  <a:srgbClr val="14532D"/>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5" name="Text 1"/>
          <p:cNvSpPr/>
          <p:nvPr>
            <p:ph idx="103" type="body" hasCustomPrompt="1"/>
          </p:nvPr>
        </p:nvSpPr>
        <p:spPr>
          <a:xfrm>
            <a:off x="548640" y="969264"/>
            <a:ext cx="10241280" cy="384048"/>
          </a:xfrm>
          <a:prstGeom prst="rect">
            <a:avLst/>
          </a:prstGeom>
          <a:noFill/>
          <a:ln/>
        </p:spPr>
        <p:txBody>
          <a:bodyPr wrap="square" rtlCol="0"/>
          <a:lstStyle>
            <a:lvl1pPr indent="0" marL="0">
              <a:buNone/>
              <a:defRPr lang="en-US" sz="1500" i="1" dirty="0">
                <a:solidFill>
                  <a:srgbClr val="5B6B60"/>
                </a:solidFill>
                <a:latin typeface="Calibri" pitchFamily="34" charset="0"/>
                <a:ea typeface="Calibri" pitchFamily="34" charset="-122"/>
                <a:cs typeface="Calibri" pitchFamily="34" charset="-120"/>
              </a:defRPr>
            </a:lvl1pPr>
          </a:lstStyle>
          <a:p>
            <a:pPr indent="0" marL="0">
              <a:buNone/>
            </a:pP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curo">
    <p:bg>
      <p:bgPr>
        <a:solidFill>
          <a:srgbClr val="14532D"/>
        </a:solidFill>
      </p:bgPr>
    </p:bg>
    <p:spTree>
      <p:nvGrpSpPr>
        <p:cNvPr id="1" name=""/>
        <p:cNvGrpSpPr/>
        <p:nvPr/>
      </p:nvGrpSpPr>
      <p:grpSpPr>
        <a:xfrm>
          <a:off x="0" y="0"/>
          <a:ext cx="0" cy="0"/>
          <a:chOff x="0" y="0"/>
          <a:chExt cx="0" cy="0"/>
        </a:xfrm>
      </p:grpSpPr>
      <p:sp>
        <p:nvSpPr>
          <p:cNvPr id="2" name="Text 0"/>
          <p:cNvSpPr/>
          <p:nvPr/>
        </p:nvSpPr>
        <p:spPr>
          <a:xfrm>
            <a:off x="548640" y="6419088"/>
            <a:ext cx="5486400" cy="274320"/>
          </a:xfrm>
          <a:prstGeom prst="rect">
            <a:avLst/>
          </a:prstGeom>
          <a:noFill/>
          <a:ln/>
        </p:spPr>
        <p:txBody>
          <a:bodyPr wrap="square" lIns="0" tIns="0" rIns="0" bIns="0" rtlCol="0" anchor="ctr"/>
          <a:lstStyle/>
          <a:p>
            <a:pPr indent="0" marL="0">
              <a:buNone/>
            </a:pPr>
            <a:r>
              <a:rPr lang="en-US" sz="900" dirty="0">
                <a:solidFill>
                  <a:srgbClr val="B9D6BF"/>
                </a:solidFill>
                <a:latin typeface="Calibri" pitchFamily="34" charset="0"/>
                <a:ea typeface="Calibri" pitchFamily="34" charset="-122"/>
                <a:cs typeface="Calibri" pitchFamily="34" charset="-120"/>
              </a:rPr>
              <a:t>AMR Symposium 2026  ·  Dott.ssa Eleonora Piccolo</a:t>
            </a:r>
            <a:endParaRPr lang="en-US" sz="900" dirty="0"/>
          </a:p>
        </p:txBody>
      </p:sp>
      <p:sp>
        <p:nvSpPr>
          <p:cNvPr id="3" name="Text 1"/>
          <p:cNvSpPr/>
          <p:nvPr>
            <p:ph idx="101" type="title" hasCustomPrompt="1"/>
          </p:nvPr>
        </p:nvSpPr>
        <p:spPr>
          <a:xfrm>
            <a:off x="548640" y="365760"/>
            <a:ext cx="11064240" cy="731520"/>
          </a:xfrm>
          <a:prstGeom prst="rect">
            <a:avLst/>
          </a:prstGeom>
          <a:noFill/>
          <a:ln/>
        </p:spPr>
        <p:txBody>
          <a:bodyPr wrap="square" rtlCol="0"/>
          <a:lstStyle>
            <a:lvl1pPr algn="l" indent="0" marL="0">
              <a:buNone/>
              <a:defRPr lang="en-US" sz="32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B9D6BF"/>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slideLayout" Target="../slideLayouts/slideLayout2.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5" Type="http://schemas.openxmlformats.org/officeDocument/2006/relationships/chart" Target="/ppt/charts/chart1.xml"/><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2.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4" Type="http://schemas.openxmlformats.org/officeDocument/2006/relationships/chart" Target="/ppt/charts/chart2.xml"/><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2.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Logo AMR – Associazione Medicina Rigenerativa">    </p:cNvPr>
          <p:cNvPicPr>
            <a:picLocks noChangeAspect="1"/>
          </p:cNvPicPr>
          <p:nvPr/>
        </p:nvPicPr>
        <p:blipFill>
          <a:blip r:embed="rId1"/>
          <a:srcRect l="0" r="0" t="0" b="0"/>
          <a:stretch/>
        </p:blipFill>
        <p:spPr>
          <a:xfrm>
            <a:off x="749808" y="758952"/>
            <a:ext cx="3291840" cy="3739896"/>
          </a:xfrm>
          <a:prstGeom prst="rect">
            <a:avLst/>
          </a:prstGeom>
        </p:spPr>
      </p:pic>
      <p:sp>
        <p:nvSpPr>
          <p:cNvPr id="3" name="Text 0"/>
          <p:cNvSpPr txBox="1"/>
          <p:nvPr/>
        </p:nvSpPr>
        <p:spPr>
          <a:xfrm>
            <a:off x="1691640" y="5806440"/>
            <a:ext cx="2743200" cy="685800"/>
          </a:xfrm>
          <a:prstGeom prst="rect">
            <a:avLst/>
          </a:prstGeom>
          <a:noFill/>
          <a:ln/>
        </p:spPr>
        <p:txBody>
          <a:bodyPr wrap="square" lIns="0" tIns="0" rIns="0" bIns="0" rtlCol="0" anchor="ctr"/>
          <a:lstStyle/>
          <a:p>
            <a:pPr algn="r" indent="0" marL="0">
              <a:buNone/>
            </a:pPr>
            <a:r>
              <a:rPr lang="en-US" sz="1600" spc="400" kern="0" dirty="0">
                <a:solidFill>
                  <a:srgbClr val="1F2A24"/>
                </a:solidFill>
                <a:latin typeface="Calibri" pitchFamily="34" charset="0"/>
                <a:ea typeface="Calibri" pitchFamily="34" charset="-122"/>
                <a:cs typeface="Calibri" pitchFamily="34" charset="-120"/>
              </a:rPr>
              <a:t>ROMA</a:t>
            </a:r>
            <a:endParaRPr lang="en-US" sz="1600" dirty="0"/>
          </a:p>
          <a:p>
            <a:pPr algn="r" indent="0" marL="0">
              <a:buNone/>
            </a:pPr>
            <a:r>
              <a:rPr lang="en-US" sz="1600" spc="300" kern="0" dirty="0">
                <a:solidFill>
                  <a:srgbClr val="1F2A24"/>
                </a:solidFill>
                <a:latin typeface="Calibri" pitchFamily="34" charset="0"/>
                <a:ea typeface="Calibri" pitchFamily="34" charset="-122"/>
                <a:cs typeface="Calibri" pitchFamily="34" charset="-120"/>
              </a:rPr>
              <a:t>16–17 OTTOBRE 2026</a:t>
            </a:r>
            <a:endParaRPr lang="en-US" sz="1600" dirty="0"/>
          </a:p>
        </p:txBody>
      </p:sp>
      <p:pic>
        <p:nvPicPr>
          <p:cNvPr id="4" name="Image 1" descr="Logo Università Pontificia Salesiana">    </p:cNvPr>
          <p:cNvPicPr>
            <a:picLocks noChangeAspect="1"/>
          </p:cNvPicPr>
          <p:nvPr/>
        </p:nvPicPr>
        <p:blipFill>
          <a:blip r:embed="rId2"/>
          <a:stretch>
            <a:fillRect/>
          </a:stretch>
        </p:blipFill>
        <p:spPr>
          <a:xfrm>
            <a:off x="146304" y="5632704"/>
            <a:ext cx="1453896" cy="1170432"/>
          </a:xfrm>
          <a:prstGeom prst="rect">
            <a:avLst/>
          </a:prstGeom>
        </p:spPr>
      </p:pic>
      <p:sp>
        <p:nvSpPr>
          <p:cNvPr id="5" name="Pannello verde"/>
          <p:cNvSpPr/>
          <p:nvPr/>
        </p:nvSpPr>
        <p:spPr>
          <a:xfrm>
            <a:off x="4645152" y="0"/>
            <a:ext cx="7546543" cy="6858000"/>
          </a:xfrm>
          <a:prstGeom prst="rect">
            <a:avLst/>
          </a:prstGeom>
          <a:solidFill>
            <a:srgbClr val="22833B"/>
          </a:solidFill>
          <a:ln/>
        </p:spPr>
      </p:sp>
      <p:sp>
        <p:nvSpPr>
          <p:cNvPr id="6" name="Text 2"/>
          <p:cNvSpPr txBox="1"/>
          <p:nvPr/>
        </p:nvSpPr>
        <p:spPr>
          <a:xfrm>
            <a:off x="5349240" y="822960"/>
            <a:ext cx="6217920" cy="868680"/>
          </a:xfrm>
          <a:prstGeom prst="rect">
            <a:avLst/>
          </a:prstGeom>
          <a:noFill/>
          <a:ln/>
        </p:spPr>
        <p:txBody>
          <a:bodyPr wrap="square" lIns="0" tIns="0" rIns="0" bIns="0" rtlCol="0" anchor="b"/>
          <a:lstStyle/>
          <a:p>
            <a:pPr indent="0" marL="0">
              <a:buNone/>
            </a:pPr>
            <a:r>
              <a:rPr lang="en-US" sz="4400" dirty="0">
                <a:solidFill>
                  <a:srgbClr val="FFFFFF"/>
                </a:solidFill>
                <a:latin typeface="Calibri" pitchFamily="34" charset="0"/>
                <a:ea typeface="Calibri" pitchFamily="34" charset="-122"/>
                <a:cs typeface="Calibri" pitchFamily="34" charset="-120"/>
              </a:rPr>
              <a:t>Symposium 2026</a:t>
            </a:r>
            <a:endParaRPr lang="en-US" sz="4400" dirty="0"/>
          </a:p>
        </p:txBody>
      </p:sp>
      <p:sp>
        <p:nvSpPr>
          <p:cNvPr id="7" name="Shape 3"/>
          <p:cNvSpPr/>
          <p:nvPr/>
        </p:nvSpPr>
        <p:spPr>
          <a:xfrm>
            <a:off x="5413248" y="1874520"/>
            <a:ext cx="5577840" cy="0"/>
          </a:xfrm>
          <a:prstGeom prst="line">
            <a:avLst/>
          </a:prstGeom>
          <a:noFill/>
          <a:ln w="12700">
            <a:solidFill>
              <a:srgbClr val="A7D3B0"/>
            </a:solidFill>
            <a:prstDash val="solid"/>
          </a:ln>
        </p:spPr>
      </p:sp>
      <p:sp>
        <p:nvSpPr>
          <p:cNvPr id="8" name="Text 4"/>
          <p:cNvSpPr txBox="1"/>
          <p:nvPr/>
        </p:nvSpPr>
        <p:spPr>
          <a:xfrm>
            <a:off x="5413248" y="2148840"/>
            <a:ext cx="6035040" cy="173736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Il Contributo della Medicina Rigenerativa in Ginecologia</a:t>
            </a:r>
            <a:endParaRPr lang="en-US" sz="3400" dirty="0"/>
          </a:p>
        </p:txBody>
      </p:sp>
      <p:sp>
        <p:nvSpPr>
          <p:cNvPr id="9" name="Text 5"/>
          <p:cNvSpPr txBox="1"/>
          <p:nvPr/>
        </p:nvSpPr>
        <p:spPr>
          <a:xfrm>
            <a:off x="5413248" y="4023360"/>
            <a:ext cx="6035040" cy="365760"/>
          </a:xfrm>
          <a:prstGeom prst="rect">
            <a:avLst/>
          </a:prstGeom>
          <a:noFill/>
          <a:ln/>
        </p:spPr>
        <p:txBody>
          <a:bodyPr wrap="square" lIns="0" tIns="0" rIns="0" bIns="0" rtlCol="0" anchor="t"/>
          <a:lstStyle/>
          <a:p>
            <a:pPr indent="0" marL="0">
              <a:buNone/>
            </a:pPr>
            <a:r>
              <a:rPr lang="en-US" sz="1500" i="1" dirty="0">
                <a:solidFill>
                  <a:srgbClr val="D7EBC0"/>
                </a:solidFill>
                <a:latin typeface="Calibri" pitchFamily="34" charset="0"/>
                <a:ea typeface="Calibri" pitchFamily="34" charset="-122"/>
                <a:cs typeface="Calibri" pitchFamily="34" charset="-120"/>
              </a:rPr>
              <a:t>Sessione plenaria  ·  Sabato 17 ottobre  ·  ore 12:30–13:00</a:t>
            </a:r>
            <a:endParaRPr lang="en-US" sz="1500" dirty="0"/>
          </a:p>
        </p:txBody>
      </p:sp>
      <p:sp>
        <p:nvSpPr>
          <p:cNvPr id="10" name="Text 6"/>
          <p:cNvSpPr txBox="1"/>
          <p:nvPr/>
        </p:nvSpPr>
        <p:spPr>
          <a:xfrm>
            <a:off x="5669280" y="5394960"/>
            <a:ext cx="5989320" cy="731520"/>
          </a:xfrm>
          <a:prstGeom prst="rect">
            <a:avLst/>
          </a:prstGeom>
          <a:noFill/>
          <a:ln/>
        </p:spPr>
        <p:txBody>
          <a:bodyPr wrap="square" lIns="0" tIns="0" rIns="0" bIns="0" rtlCol="0" anchor="b"/>
          <a:lstStyle/>
          <a:p>
            <a:pPr algn="r" indent="0" marL="0">
              <a:buNone/>
            </a:pPr>
            <a:r>
              <a:rPr lang="en-US" sz="1800" b="1" spc="200" kern="0" dirty="0">
                <a:solidFill>
                  <a:srgbClr val="FFFFFF"/>
                </a:solidFill>
                <a:latin typeface="Calibri" pitchFamily="34" charset="0"/>
                <a:ea typeface="Calibri" pitchFamily="34" charset="-122"/>
                <a:cs typeface="Calibri" pitchFamily="34" charset="-120"/>
              </a:rPr>
              <a:t>DOTT.SSA ELEONORA PICCOLO</a:t>
            </a:r>
            <a:endParaRPr lang="en-US" sz="1800" dirty="0"/>
          </a:p>
          <a:p>
            <a:pPr algn="r" indent="0" marL="0">
              <a:buNone/>
            </a:pPr>
            <a:r>
              <a:rPr lang="en-US" sz="1500" i="1" dirty="0">
                <a:solidFill>
                  <a:srgbClr val="FFFFFF"/>
                </a:solidFill>
                <a:latin typeface="Calibri" pitchFamily="34" charset="0"/>
                <a:ea typeface="Calibri" pitchFamily="34" charset="-122"/>
                <a:cs typeface="Calibri" pitchFamily="34" charset="-120"/>
              </a:rPr>
              <a:t>Ginecologa</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548640" y="292608"/>
            <a:ext cx="10241280" cy="658368"/>
          </a:xfrm>
          <a:prstGeom prst="rect">
            <a:avLst/>
          </a:prstGeom>
          <a:noFill/>
          <a:ln/>
        </p:spPr>
        <p:txBody>
          <a:bodyPr wrap="square" lIns="0" tIns="0" rIns="0" bIns="0" rtlCol="0" anchor="ctr"/>
          <a:lstStyle/>
          <a:p>
            <a:pPr algn="l" indent="0" marL="0">
              <a:buNone/>
            </a:pPr>
            <a:r>
              <a:rPr lang="en-US" sz="3000" b="1" dirty="0">
                <a:solidFill>
                  <a:srgbClr val="14532D"/>
                </a:solidFill>
                <a:latin typeface="Cambria" pitchFamily="34" charset="0"/>
                <a:ea typeface="Cambria" pitchFamily="34" charset="-122"/>
                <a:cs typeface="Cambria" pitchFamily="34" charset="-120"/>
              </a:rPr>
              <a:t>La ginecologia: terreno d’elezione per la rigenerazione</a:t>
            </a:r>
            <a:endParaRPr lang="en-US" sz="3000" dirty="0"/>
          </a:p>
        </p:txBody>
      </p:sp>
      <p:sp>
        <p:nvSpPr>
          <p:cNvPr id="3" name="Text 1"/>
          <p:cNvSpPr/>
          <p:nvPr>
            <p:ph idx="103" type="body" hasCustomPrompt="1"/>
          </p:nvPr>
        </p:nvSpPr>
        <p:spPr>
          <a:xfrm>
            <a:off x="548640" y="969264"/>
            <a:ext cx="10241280" cy="384048"/>
          </a:xfrm>
          <a:prstGeom prst="rect">
            <a:avLst/>
          </a:prstGeom>
          <a:noFill/>
          <a:ln/>
        </p:spPr>
        <p:txBody>
          <a:bodyPr wrap="square" lIns="0" tIns="0" rIns="0" bIns="0" rtlCol="0" anchor="t"/>
          <a:lstStyle/>
          <a:p>
            <a:pPr indent="0" marL="0">
              <a:buNone/>
            </a:pPr>
            <a:r>
              <a:rPr lang="en-US" sz="1500" i="1" dirty="0">
                <a:solidFill>
                  <a:srgbClr val="5B6B60"/>
                </a:solidFill>
                <a:latin typeface="Calibri" pitchFamily="34" charset="0"/>
                <a:ea typeface="Calibri" pitchFamily="34" charset="-122"/>
                <a:cs typeface="Calibri" pitchFamily="34" charset="-120"/>
              </a:rPr>
              <a:t>Stesse leggi biologiche di ogni tessuto, con una variabile in più: la dipendenza ormonale</a:t>
            </a:r>
            <a:endParaRPr lang="en-US" sz="1500" dirty="0"/>
          </a:p>
        </p:txBody>
      </p:sp>
      <p:sp>
        <p:nvSpPr>
          <p:cNvPr id="5" name="Il punto di partenza"/>
          <p:cNvSpPr/>
          <p:nvPr/>
        </p:nvSpPr>
        <p:spPr>
          <a:xfrm>
            <a:off x="548640" y="1645920"/>
            <a:ext cx="4297680" cy="4526280"/>
          </a:xfrm>
          <a:prstGeom prst="roundRect">
            <a:avLst>
              <a:gd name="adj" fmla="val 2553"/>
            </a:avLst>
          </a:prstGeom>
          <a:solidFill>
            <a:srgbClr val="EAF4EC"/>
          </a:solidFill>
          <a:ln/>
        </p:spPr>
      </p:sp>
      <p:sp>
        <p:nvSpPr>
          <p:cNvPr id="6" name="Text 3"/>
          <p:cNvSpPr txBox="1"/>
          <p:nvPr/>
        </p:nvSpPr>
        <p:spPr>
          <a:xfrm>
            <a:off x="822960" y="1874520"/>
            <a:ext cx="3749040" cy="274320"/>
          </a:xfrm>
          <a:prstGeom prst="rect">
            <a:avLst/>
          </a:prstGeom>
          <a:noFill/>
          <a:ln/>
        </p:spPr>
        <p:txBody>
          <a:bodyPr wrap="square" lIns="0" tIns="0" rIns="0" bIns="0" rtlCol="0" anchor="t"/>
          <a:lstStyle/>
          <a:p>
            <a:pPr indent="0" marL="0">
              <a:buNone/>
            </a:pPr>
            <a:r>
              <a:rPr lang="en-US" sz="1200" b="1" spc="200" kern="0" dirty="0">
                <a:solidFill>
                  <a:srgbClr val="22833B"/>
                </a:solidFill>
                <a:latin typeface="Calibri" pitchFamily="34" charset="0"/>
                <a:ea typeface="Calibri" pitchFamily="34" charset="-122"/>
                <a:cs typeface="Calibri" pitchFamily="34" charset="-120"/>
              </a:rPr>
              <a:t>IL PUNTO DI PARTENZA</a:t>
            </a:r>
            <a:endParaRPr lang="en-US" sz="1200" dirty="0"/>
          </a:p>
        </p:txBody>
      </p:sp>
      <p:sp>
        <p:nvSpPr>
          <p:cNvPr id="7" name="Tessuti bg"/>
          <p:cNvSpPr/>
          <p:nvPr/>
        </p:nvSpPr>
        <p:spPr>
          <a:xfrm>
            <a:off x="822960" y="2331720"/>
            <a:ext cx="566928" cy="566928"/>
          </a:xfrm>
          <a:prstGeom prst="ellipse">
            <a:avLst/>
          </a:prstGeom>
          <a:solidFill>
            <a:srgbClr val="22833B"/>
          </a:solidFill>
          <a:ln/>
        </p:spPr>
      </p:sp>
      <p:pic>
        <p:nvPicPr>
          <p:cNvPr id="8" name="Tessuti" descr="Tessuti">    </p:cNvPr>
          <p:cNvPicPr>
            <a:picLocks noChangeAspect="1"/>
          </p:cNvPicPr>
          <p:nvPr/>
        </p:nvPicPr>
        <p:blipFill>
          <a:blip r:embed="rId1"/>
          <a:stretch>
            <a:fillRect/>
          </a:stretch>
        </p:blipFill>
        <p:spPr>
          <a:xfrm>
            <a:off x="947684" y="2456444"/>
            <a:ext cx="317480" cy="317480"/>
          </a:xfrm>
          <a:prstGeom prst="rect">
            <a:avLst/>
          </a:prstGeom>
        </p:spPr>
      </p:pic>
      <p:sp>
        <p:nvSpPr>
          <p:cNvPr id="9" name="Text 5"/>
          <p:cNvSpPr txBox="1"/>
          <p:nvPr/>
        </p:nvSpPr>
        <p:spPr>
          <a:xfrm>
            <a:off x="1554480" y="2304288"/>
            <a:ext cx="3108960" cy="1463040"/>
          </a:xfrm>
          <a:prstGeom prst="rect">
            <a:avLst/>
          </a:prstGeom>
          <a:noFill/>
          <a:ln/>
        </p:spPr>
        <p:txBody>
          <a:bodyPr wrap="square" lIns="0" tIns="0" rIns="0" bIns="0" rtlCol="0" anchor="t"/>
          <a:lstStyle/>
          <a:p>
            <a:pPr indent="0" marL="0">
              <a:lnSpc>
                <a:spcPct val="95000"/>
              </a:lnSpc>
              <a:buNone/>
            </a:pPr>
            <a:r>
              <a:rPr lang="en-US" sz="1500" b="1" dirty="0">
                <a:solidFill>
                  <a:srgbClr val="14532D"/>
                </a:solidFill>
                <a:latin typeface="Calibri" pitchFamily="34" charset="0"/>
                <a:ea typeface="Calibri" pitchFamily="34" charset="-122"/>
                <a:cs typeface="Calibri" pitchFamily="34" charset="-120"/>
              </a:rPr>
              <a:t>Stesse leggi biologiche</a:t>
            </a:r>
            <a:endParaRPr lang="en-US" sz="1500" dirty="0"/>
          </a:p>
          <a:p>
            <a:pPr indent="0" marL="0">
              <a:lnSpc>
                <a:spcPct val="95000"/>
              </a:lnSpc>
              <a:buNone/>
            </a:pPr>
            <a:r>
              <a:rPr lang="en-US" sz="1400" dirty="0">
                <a:solidFill>
                  <a:srgbClr val="1F2A24"/>
                </a:solidFill>
                <a:latin typeface="Calibri" pitchFamily="34" charset="0"/>
                <a:ea typeface="Calibri" pitchFamily="34" charset="-122"/>
                <a:cs typeface="Calibri" pitchFamily="34" charset="-120"/>
              </a:rPr>
              <a:t>Collagene, matrice extracellulare, vascolarizzazione e innervazione seguono le stesse leggi di riparazione e invecchiamento</a:t>
            </a:r>
            <a:endParaRPr lang="en-US" sz="1500" dirty="0"/>
          </a:p>
        </p:txBody>
      </p:sp>
      <p:sp>
        <p:nvSpPr>
          <p:cNvPr id="10" name="Ormoni bg"/>
          <p:cNvSpPr/>
          <p:nvPr/>
        </p:nvSpPr>
        <p:spPr>
          <a:xfrm>
            <a:off x="822960" y="3977640"/>
            <a:ext cx="566928" cy="566928"/>
          </a:xfrm>
          <a:prstGeom prst="ellipse">
            <a:avLst/>
          </a:prstGeom>
          <a:solidFill>
            <a:srgbClr val="C2416B"/>
          </a:solidFill>
          <a:ln/>
        </p:spPr>
      </p:sp>
      <p:pic>
        <p:nvPicPr>
          <p:cNvPr id="11" name="Ormoni" descr="Ormoni">    </p:cNvPr>
          <p:cNvPicPr>
            <a:picLocks noChangeAspect="1"/>
          </p:cNvPicPr>
          <p:nvPr/>
        </p:nvPicPr>
        <p:blipFill>
          <a:blip r:embed="rId2"/>
          <a:stretch>
            <a:fillRect/>
          </a:stretch>
        </p:blipFill>
        <p:spPr>
          <a:xfrm>
            <a:off x="947684" y="4102364"/>
            <a:ext cx="317480" cy="317480"/>
          </a:xfrm>
          <a:prstGeom prst="rect">
            <a:avLst/>
          </a:prstGeom>
        </p:spPr>
      </p:pic>
      <p:sp>
        <p:nvSpPr>
          <p:cNvPr id="12" name="Text 7"/>
          <p:cNvSpPr txBox="1"/>
          <p:nvPr/>
        </p:nvSpPr>
        <p:spPr>
          <a:xfrm>
            <a:off x="1554480" y="3950208"/>
            <a:ext cx="3108960" cy="1828800"/>
          </a:xfrm>
          <a:prstGeom prst="rect">
            <a:avLst/>
          </a:prstGeom>
          <a:noFill/>
          <a:ln/>
        </p:spPr>
        <p:txBody>
          <a:bodyPr wrap="square" lIns="0" tIns="0" rIns="0" bIns="0" rtlCol="0" anchor="t"/>
          <a:lstStyle/>
          <a:p>
            <a:pPr indent="0" marL="0">
              <a:lnSpc>
                <a:spcPct val="95000"/>
              </a:lnSpc>
              <a:buNone/>
            </a:pPr>
            <a:r>
              <a:rPr lang="en-US" sz="1500" b="1" dirty="0">
                <a:solidFill>
                  <a:srgbClr val="C2416B"/>
                </a:solidFill>
                <a:latin typeface="Calibri" pitchFamily="34" charset="0"/>
                <a:ea typeface="Calibri" pitchFamily="34" charset="-122"/>
                <a:cs typeface="Calibri" pitchFamily="34" charset="-120"/>
              </a:rPr>
              <a:t>Variabile unica: la dipendenza ormonale</a:t>
            </a:r>
            <a:endParaRPr lang="en-US" sz="1500" dirty="0"/>
          </a:p>
          <a:p>
            <a:pPr indent="0" marL="0">
              <a:lnSpc>
                <a:spcPct val="95000"/>
              </a:lnSpc>
              <a:buNone/>
            </a:pPr>
            <a:r>
              <a:rPr lang="en-US" sz="1400" dirty="0">
                <a:solidFill>
                  <a:srgbClr val="1F2A24"/>
                </a:solidFill>
                <a:latin typeface="Calibri" pitchFamily="34" charset="0"/>
                <a:ea typeface="Calibri" pitchFamily="34" charset="-122"/>
                <a:cs typeface="Calibri" pitchFamily="34" charset="-120"/>
              </a:rPr>
              <a:t>Dalla transizione menopausale manca l’estradiolo: atrofia, infiammazione cronica di basso grado, perdita di architettura tissutale</a:t>
            </a:r>
            <a:endParaRPr lang="en-US" sz="1500" dirty="0"/>
          </a:p>
        </p:txBody>
      </p:sp>
      <p:sp>
        <p:nvSpPr>
          <p:cNvPr id="13" name="Strumenti locali"/>
          <p:cNvSpPr/>
          <p:nvPr/>
        </p:nvSpPr>
        <p:spPr>
          <a:xfrm>
            <a:off x="5212080" y="1645920"/>
            <a:ext cx="3429000" cy="3520440"/>
          </a:xfrm>
          <a:prstGeom prst="roundRect">
            <a:avLst>
              <a:gd name="adj" fmla="val 3200"/>
            </a:avLst>
          </a:prstGeom>
          <a:solidFill>
            <a:srgbClr val="FFFFFF"/>
          </a:solidFill>
          <a:ln w="12700">
            <a:solidFill>
              <a:srgbClr val="CFE3D3"/>
            </a:solidFill>
            <a:prstDash val="solid"/>
          </a:ln>
          <a:effectLst>
            <a:outerShdw sx="100000" sy="100000" kx="0" ky="0" algn="bl" rotWithShape="0" blurRad="76200" dist="25400" dir="5400000">
              <a:srgbClr val="000000">
                <a:alpha val="12000"/>
              </a:srgbClr>
            </a:outerShdw>
          </a:effectLst>
        </p:spPr>
      </p:sp>
      <p:sp>
        <p:nvSpPr>
          <p:cNvPr id="14" name="Text 9"/>
          <p:cNvSpPr txBox="1"/>
          <p:nvPr/>
        </p:nvSpPr>
        <p:spPr>
          <a:xfrm>
            <a:off x="5486400" y="1847088"/>
            <a:ext cx="2926080" cy="365760"/>
          </a:xfrm>
          <a:prstGeom prst="rect">
            <a:avLst/>
          </a:prstGeom>
          <a:noFill/>
          <a:ln/>
        </p:spPr>
        <p:txBody>
          <a:bodyPr wrap="square" lIns="0" tIns="0" rIns="0" bIns="0" rtlCol="0" anchor="t"/>
          <a:lstStyle/>
          <a:p>
            <a:pPr indent="0" marL="0">
              <a:buNone/>
            </a:pPr>
            <a:r>
              <a:rPr lang="en-US" sz="1800" b="1" dirty="0">
                <a:solidFill>
                  <a:srgbClr val="14532D"/>
                </a:solidFill>
                <a:latin typeface="Cambria" pitchFamily="34" charset="0"/>
                <a:ea typeface="Cambria" pitchFamily="34" charset="-122"/>
                <a:cs typeface="Cambria" pitchFamily="34" charset="-120"/>
              </a:rPr>
              <a:t>1 · Strumenti locali</a:t>
            </a:r>
            <a:endParaRPr lang="en-US" sz="1800" dirty="0"/>
          </a:p>
        </p:txBody>
      </p:sp>
      <p:sp>
        <p:nvSpPr>
          <p:cNvPr id="15" name="PRP bg"/>
          <p:cNvSpPr/>
          <p:nvPr/>
        </p:nvSpPr>
        <p:spPr>
          <a:xfrm>
            <a:off x="5504688" y="2377440"/>
            <a:ext cx="402336" cy="402336"/>
          </a:xfrm>
          <a:prstGeom prst="ellipse">
            <a:avLst/>
          </a:prstGeom>
          <a:solidFill>
            <a:srgbClr val="EAF4EC"/>
          </a:solidFill>
          <a:ln/>
        </p:spPr>
      </p:sp>
      <p:pic>
        <p:nvPicPr>
          <p:cNvPr id="16" name="PRP" descr="PRP">    </p:cNvPr>
          <p:cNvPicPr>
            <a:picLocks noChangeAspect="1"/>
          </p:cNvPicPr>
          <p:nvPr/>
        </p:nvPicPr>
        <p:blipFill>
          <a:blip r:embed="rId3"/>
          <a:stretch>
            <a:fillRect/>
          </a:stretch>
        </p:blipFill>
        <p:spPr>
          <a:xfrm>
            <a:off x="5593202" y="2465954"/>
            <a:ext cx="225308" cy="225308"/>
          </a:xfrm>
          <a:prstGeom prst="rect">
            <a:avLst/>
          </a:prstGeom>
        </p:spPr>
      </p:pic>
      <p:sp>
        <p:nvSpPr>
          <p:cNvPr id="17" name="Text 11"/>
          <p:cNvSpPr txBox="1"/>
          <p:nvPr/>
        </p:nvSpPr>
        <p:spPr>
          <a:xfrm>
            <a:off x="6080760" y="2377440"/>
            <a:ext cx="2377440" cy="402336"/>
          </a:xfrm>
          <a:prstGeom prst="rect">
            <a:avLst/>
          </a:prstGeom>
          <a:noFill/>
          <a:ln/>
        </p:spPr>
        <p:txBody>
          <a:bodyPr wrap="square" lIns="0" tIns="0" rIns="0" bIns="0" rtlCol="0" anchor="ctr"/>
          <a:lstStyle/>
          <a:p>
            <a:pPr indent="0" marL="0">
              <a:buNone/>
            </a:pPr>
            <a:r>
              <a:rPr lang="en-US" sz="1500" dirty="0">
                <a:solidFill>
                  <a:srgbClr val="1F2A24"/>
                </a:solidFill>
                <a:latin typeface="Calibri" pitchFamily="34" charset="0"/>
                <a:ea typeface="Calibri" pitchFamily="34" charset="-122"/>
                <a:cs typeface="Calibri" pitchFamily="34" charset="-120"/>
              </a:rPr>
              <a:t>PRP</a:t>
            </a:r>
            <a:endParaRPr lang="en-US" sz="1500" dirty="0"/>
          </a:p>
        </p:txBody>
      </p:sp>
      <p:sp>
        <p:nvSpPr>
          <p:cNvPr id="18" name="Laser frazionato bg"/>
          <p:cNvSpPr/>
          <p:nvPr/>
        </p:nvSpPr>
        <p:spPr>
          <a:xfrm>
            <a:off x="5504688" y="2926080"/>
            <a:ext cx="402336" cy="402336"/>
          </a:xfrm>
          <a:prstGeom prst="ellipse">
            <a:avLst/>
          </a:prstGeom>
          <a:solidFill>
            <a:srgbClr val="EAF4EC"/>
          </a:solidFill>
          <a:ln/>
        </p:spPr>
      </p:sp>
      <p:pic>
        <p:nvPicPr>
          <p:cNvPr id="19" name="Laser frazionato" descr="Laser frazionato">    </p:cNvPr>
          <p:cNvPicPr>
            <a:picLocks noChangeAspect="1"/>
          </p:cNvPicPr>
          <p:nvPr/>
        </p:nvPicPr>
        <p:blipFill>
          <a:blip r:embed="rId4"/>
          <a:stretch>
            <a:fillRect/>
          </a:stretch>
        </p:blipFill>
        <p:spPr>
          <a:xfrm>
            <a:off x="5593202" y="3014594"/>
            <a:ext cx="225308" cy="225308"/>
          </a:xfrm>
          <a:prstGeom prst="rect">
            <a:avLst/>
          </a:prstGeom>
        </p:spPr>
      </p:pic>
      <p:sp>
        <p:nvSpPr>
          <p:cNvPr id="20" name="Text 13"/>
          <p:cNvSpPr txBox="1"/>
          <p:nvPr/>
        </p:nvSpPr>
        <p:spPr>
          <a:xfrm>
            <a:off x="6080760" y="2926080"/>
            <a:ext cx="2377440" cy="402336"/>
          </a:xfrm>
          <a:prstGeom prst="rect">
            <a:avLst/>
          </a:prstGeom>
          <a:noFill/>
          <a:ln/>
        </p:spPr>
        <p:txBody>
          <a:bodyPr wrap="square" lIns="0" tIns="0" rIns="0" bIns="0" rtlCol="0" anchor="ctr"/>
          <a:lstStyle/>
          <a:p>
            <a:pPr indent="0" marL="0">
              <a:buNone/>
            </a:pPr>
            <a:r>
              <a:rPr lang="en-US" sz="1500" dirty="0">
                <a:solidFill>
                  <a:srgbClr val="1F2A24"/>
                </a:solidFill>
                <a:latin typeface="Calibri" pitchFamily="34" charset="0"/>
                <a:ea typeface="Calibri" pitchFamily="34" charset="-122"/>
                <a:cs typeface="Calibri" pitchFamily="34" charset="-120"/>
              </a:rPr>
              <a:t>Laser frazionato</a:t>
            </a:r>
            <a:endParaRPr lang="en-US" sz="1500" dirty="0"/>
          </a:p>
        </p:txBody>
      </p:sp>
      <p:sp>
        <p:nvSpPr>
          <p:cNvPr id="21" name="Radiofrequenza bg"/>
          <p:cNvSpPr/>
          <p:nvPr/>
        </p:nvSpPr>
        <p:spPr>
          <a:xfrm>
            <a:off x="5504688" y="3474720"/>
            <a:ext cx="402336" cy="402336"/>
          </a:xfrm>
          <a:prstGeom prst="ellipse">
            <a:avLst/>
          </a:prstGeom>
          <a:solidFill>
            <a:srgbClr val="EAF4EC"/>
          </a:solidFill>
          <a:ln/>
        </p:spPr>
      </p:sp>
      <p:pic>
        <p:nvPicPr>
          <p:cNvPr id="22" name="Radiofrequenza" descr="Radiofrequenza">    </p:cNvPr>
          <p:cNvPicPr>
            <a:picLocks noChangeAspect="1"/>
          </p:cNvPicPr>
          <p:nvPr/>
        </p:nvPicPr>
        <p:blipFill>
          <a:blip r:embed="rId5"/>
          <a:stretch>
            <a:fillRect/>
          </a:stretch>
        </p:blipFill>
        <p:spPr>
          <a:xfrm>
            <a:off x="5593202" y="3563234"/>
            <a:ext cx="225308" cy="225308"/>
          </a:xfrm>
          <a:prstGeom prst="rect">
            <a:avLst/>
          </a:prstGeom>
        </p:spPr>
      </p:pic>
      <p:sp>
        <p:nvSpPr>
          <p:cNvPr id="23" name="Text 15"/>
          <p:cNvSpPr txBox="1"/>
          <p:nvPr/>
        </p:nvSpPr>
        <p:spPr>
          <a:xfrm>
            <a:off x="6080760" y="3474720"/>
            <a:ext cx="2377440" cy="402336"/>
          </a:xfrm>
          <a:prstGeom prst="rect">
            <a:avLst/>
          </a:prstGeom>
          <a:noFill/>
          <a:ln/>
        </p:spPr>
        <p:txBody>
          <a:bodyPr wrap="square" lIns="0" tIns="0" rIns="0" bIns="0" rtlCol="0" anchor="ctr"/>
          <a:lstStyle/>
          <a:p>
            <a:pPr indent="0" marL="0">
              <a:buNone/>
            </a:pPr>
            <a:r>
              <a:rPr lang="en-US" sz="1500" dirty="0">
                <a:solidFill>
                  <a:srgbClr val="1F2A24"/>
                </a:solidFill>
                <a:latin typeface="Calibri" pitchFamily="34" charset="0"/>
                <a:ea typeface="Calibri" pitchFamily="34" charset="-122"/>
                <a:cs typeface="Calibri" pitchFamily="34" charset="-120"/>
              </a:rPr>
              <a:t>Radiofrequenza</a:t>
            </a:r>
            <a:endParaRPr lang="en-US" sz="1500" dirty="0"/>
          </a:p>
        </p:txBody>
      </p:sp>
      <p:sp>
        <p:nvSpPr>
          <p:cNvPr id="24" name="Acido ialuronico bg"/>
          <p:cNvSpPr/>
          <p:nvPr/>
        </p:nvSpPr>
        <p:spPr>
          <a:xfrm>
            <a:off x="5504688" y="4023360"/>
            <a:ext cx="402336" cy="402336"/>
          </a:xfrm>
          <a:prstGeom prst="ellipse">
            <a:avLst/>
          </a:prstGeom>
          <a:solidFill>
            <a:srgbClr val="EAF4EC"/>
          </a:solidFill>
          <a:ln/>
        </p:spPr>
      </p:sp>
      <p:pic>
        <p:nvPicPr>
          <p:cNvPr id="25" name="Acido ialuronico" descr="Acido ialuronico">    </p:cNvPr>
          <p:cNvPicPr>
            <a:picLocks noChangeAspect="1"/>
          </p:cNvPicPr>
          <p:nvPr/>
        </p:nvPicPr>
        <p:blipFill>
          <a:blip r:embed="rId6"/>
          <a:stretch>
            <a:fillRect/>
          </a:stretch>
        </p:blipFill>
        <p:spPr>
          <a:xfrm>
            <a:off x="5593202" y="4111874"/>
            <a:ext cx="225308" cy="225308"/>
          </a:xfrm>
          <a:prstGeom prst="rect">
            <a:avLst/>
          </a:prstGeom>
        </p:spPr>
      </p:pic>
      <p:sp>
        <p:nvSpPr>
          <p:cNvPr id="26" name="Text 17"/>
          <p:cNvSpPr txBox="1"/>
          <p:nvPr/>
        </p:nvSpPr>
        <p:spPr>
          <a:xfrm>
            <a:off x="6080760" y="4023360"/>
            <a:ext cx="2377440" cy="402336"/>
          </a:xfrm>
          <a:prstGeom prst="rect">
            <a:avLst/>
          </a:prstGeom>
          <a:noFill/>
          <a:ln/>
        </p:spPr>
        <p:txBody>
          <a:bodyPr wrap="square" lIns="0" tIns="0" rIns="0" bIns="0" rtlCol="0" anchor="ctr"/>
          <a:lstStyle/>
          <a:p>
            <a:pPr indent="0" marL="0">
              <a:buNone/>
            </a:pPr>
            <a:r>
              <a:rPr lang="en-US" sz="1500" dirty="0">
                <a:solidFill>
                  <a:srgbClr val="1F2A24"/>
                </a:solidFill>
                <a:latin typeface="Calibri" pitchFamily="34" charset="0"/>
                <a:ea typeface="Calibri" pitchFamily="34" charset="-122"/>
                <a:cs typeface="Calibri" pitchFamily="34" charset="-120"/>
              </a:rPr>
              <a:t>Acido ialuronico</a:t>
            </a:r>
            <a:endParaRPr lang="en-US" sz="1500" dirty="0"/>
          </a:p>
        </p:txBody>
      </p:sp>
      <p:sp>
        <p:nvSpPr>
          <p:cNvPr id="27" name="Esosomi bg"/>
          <p:cNvSpPr/>
          <p:nvPr/>
        </p:nvSpPr>
        <p:spPr>
          <a:xfrm>
            <a:off x="5504688" y="4572000"/>
            <a:ext cx="402336" cy="402336"/>
          </a:xfrm>
          <a:prstGeom prst="ellipse">
            <a:avLst/>
          </a:prstGeom>
          <a:solidFill>
            <a:srgbClr val="EAF4EC"/>
          </a:solidFill>
          <a:ln/>
        </p:spPr>
      </p:sp>
      <p:pic>
        <p:nvPicPr>
          <p:cNvPr id="28" name="Esosomi" descr="Esosomi">    </p:cNvPr>
          <p:cNvPicPr>
            <a:picLocks noChangeAspect="1"/>
          </p:cNvPicPr>
          <p:nvPr/>
        </p:nvPicPr>
        <p:blipFill>
          <a:blip r:embed="rId7"/>
          <a:stretch>
            <a:fillRect/>
          </a:stretch>
        </p:blipFill>
        <p:spPr>
          <a:xfrm>
            <a:off x="5593202" y="4660514"/>
            <a:ext cx="225308" cy="225308"/>
          </a:xfrm>
          <a:prstGeom prst="rect">
            <a:avLst/>
          </a:prstGeom>
        </p:spPr>
      </p:pic>
      <p:sp>
        <p:nvSpPr>
          <p:cNvPr id="29" name="Text 19"/>
          <p:cNvSpPr txBox="1"/>
          <p:nvPr/>
        </p:nvSpPr>
        <p:spPr>
          <a:xfrm>
            <a:off x="6080760" y="4572000"/>
            <a:ext cx="2377440" cy="402336"/>
          </a:xfrm>
          <a:prstGeom prst="rect">
            <a:avLst/>
          </a:prstGeom>
          <a:noFill/>
          <a:ln/>
        </p:spPr>
        <p:txBody>
          <a:bodyPr wrap="square" lIns="0" tIns="0" rIns="0" bIns="0" rtlCol="0" anchor="ctr"/>
          <a:lstStyle/>
          <a:p>
            <a:pPr indent="0" marL="0">
              <a:buNone/>
            </a:pPr>
            <a:r>
              <a:rPr lang="en-US" sz="1500" dirty="0">
                <a:solidFill>
                  <a:srgbClr val="1F2A24"/>
                </a:solidFill>
                <a:latin typeface="Calibri" pitchFamily="34" charset="0"/>
                <a:ea typeface="Calibri" pitchFamily="34" charset="-122"/>
                <a:cs typeface="Calibri" pitchFamily="34" charset="-120"/>
              </a:rPr>
              <a:t>Esosomi</a:t>
            </a:r>
            <a:endParaRPr lang="en-US" sz="1500" dirty="0"/>
          </a:p>
        </p:txBody>
      </p:sp>
      <p:sp>
        <p:nvSpPr>
          <p:cNvPr id="30" name="Shape 20"/>
          <p:cNvSpPr/>
          <p:nvPr/>
        </p:nvSpPr>
        <p:spPr>
          <a:xfrm>
            <a:off x="8778240" y="3063240"/>
            <a:ext cx="548640" cy="548640"/>
          </a:xfrm>
          <a:prstGeom prst="ellipse">
            <a:avLst/>
          </a:prstGeom>
          <a:solidFill>
            <a:srgbClr val="8CBF3F"/>
          </a:solidFill>
          <a:ln/>
        </p:spPr>
      </p:sp>
      <p:sp>
        <p:nvSpPr>
          <p:cNvPr id="31" name="Text 21"/>
          <p:cNvSpPr txBox="1"/>
          <p:nvPr/>
        </p:nvSpPr>
        <p:spPr>
          <a:xfrm>
            <a:off x="8778240" y="3063240"/>
            <a:ext cx="548640" cy="54864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32" name="BHRT"/>
          <p:cNvSpPr/>
          <p:nvPr/>
        </p:nvSpPr>
        <p:spPr>
          <a:xfrm>
            <a:off x="9464040" y="1645920"/>
            <a:ext cx="2176272" cy="3520440"/>
          </a:xfrm>
          <a:prstGeom prst="roundRect">
            <a:avLst>
              <a:gd name="adj" fmla="val 5042"/>
            </a:avLst>
          </a:prstGeom>
          <a:solidFill>
            <a:srgbClr val="FBE9EF"/>
          </a:solidFill>
          <a:ln/>
        </p:spPr>
      </p:sp>
      <p:sp>
        <p:nvSpPr>
          <p:cNvPr id="33" name="Text 23"/>
          <p:cNvSpPr txBox="1"/>
          <p:nvPr/>
        </p:nvSpPr>
        <p:spPr>
          <a:xfrm>
            <a:off x="9692640" y="1847088"/>
            <a:ext cx="1828800" cy="685800"/>
          </a:xfrm>
          <a:prstGeom prst="rect">
            <a:avLst/>
          </a:prstGeom>
          <a:noFill/>
          <a:ln/>
        </p:spPr>
        <p:txBody>
          <a:bodyPr wrap="square" lIns="0" tIns="0" rIns="0" bIns="0" rtlCol="0" anchor="t"/>
          <a:lstStyle/>
          <a:p>
            <a:pPr indent="0" marL="0">
              <a:buNone/>
            </a:pPr>
            <a:r>
              <a:rPr lang="en-US" sz="1800" b="1" dirty="0">
                <a:solidFill>
                  <a:srgbClr val="C2416B"/>
                </a:solidFill>
                <a:latin typeface="Cambria" pitchFamily="34" charset="0"/>
                <a:ea typeface="Cambria" pitchFamily="34" charset="-122"/>
                <a:cs typeface="Cambria" pitchFamily="34" charset="-120"/>
              </a:rPr>
              <a:t>2 · Ormoni (BHRT)</a:t>
            </a:r>
            <a:endParaRPr lang="en-US" sz="1800" dirty="0"/>
          </a:p>
        </p:txBody>
      </p:sp>
      <p:sp>
        <p:nvSpPr>
          <p:cNvPr id="34" name="BHRT bg"/>
          <p:cNvSpPr/>
          <p:nvPr/>
        </p:nvSpPr>
        <p:spPr>
          <a:xfrm>
            <a:off x="10186416" y="2651760"/>
            <a:ext cx="731520" cy="731520"/>
          </a:xfrm>
          <a:prstGeom prst="ellipse">
            <a:avLst/>
          </a:prstGeom>
          <a:solidFill>
            <a:srgbClr val="C2416B"/>
          </a:solidFill>
          <a:ln/>
        </p:spPr>
      </p:sp>
      <p:pic>
        <p:nvPicPr>
          <p:cNvPr id="35" name="BHRT" descr="BHRT">    </p:cNvPr>
          <p:cNvPicPr>
            <a:picLocks noChangeAspect="1"/>
          </p:cNvPicPr>
          <p:nvPr/>
        </p:nvPicPr>
        <p:blipFill>
          <a:blip r:embed="rId8"/>
          <a:stretch>
            <a:fillRect/>
          </a:stretch>
        </p:blipFill>
        <p:spPr>
          <a:xfrm>
            <a:off x="10347350" y="2812694"/>
            <a:ext cx="409651" cy="409651"/>
          </a:xfrm>
          <a:prstGeom prst="rect">
            <a:avLst/>
          </a:prstGeom>
        </p:spPr>
      </p:pic>
      <p:sp>
        <p:nvSpPr>
          <p:cNvPr id="36" name="Text 25"/>
          <p:cNvSpPr txBox="1"/>
          <p:nvPr/>
        </p:nvSpPr>
        <p:spPr>
          <a:xfrm>
            <a:off x="9665208" y="3566160"/>
            <a:ext cx="1783080" cy="1463040"/>
          </a:xfrm>
          <a:prstGeom prst="rect">
            <a:avLst/>
          </a:prstGeom>
          <a:noFill/>
          <a:ln/>
        </p:spPr>
        <p:txBody>
          <a:bodyPr wrap="square" lIns="0" tIns="0" rIns="0" bIns="0" rtlCol="0" anchor="t"/>
          <a:lstStyle/>
          <a:p>
            <a:pPr algn="ctr" indent="0" marL="0">
              <a:buNone/>
            </a:pPr>
            <a:r>
              <a:rPr lang="en-US" sz="1400" dirty="0">
                <a:solidFill>
                  <a:srgbClr val="1F2A24"/>
                </a:solidFill>
                <a:latin typeface="Calibri" pitchFamily="34" charset="0"/>
                <a:ea typeface="Calibri" pitchFamily="34" charset="-122"/>
                <a:cs typeface="Calibri" pitchFamily="34" charset="-120"/>
              </a:rPr>
              <a:t>Prerequisito biologico perché ogni stimolo rigenerativo esprima il suo potenziale</a:t>
            </a:r>
            <a:endParaRPr lang="en-US" sz="1400" dirty="0"/>
          </a:p>
        </p:txBody>
      </p:sp>
      <p:sp>
        <p:nvSpPr>
          <p:cNvPr id="37" name="Shape 26"/>
          <p:cNvSpPr/>
          <p:nvPr/>
        </p:nvSpPr>
        <p:spPr>
          <a:xfrm>
            <a:off x="6720840" y="5257800"/>
            <a:ext cx="411480" cy="320040"/>
          </a:xfrm>
          <a:prstGeom prst="downArrow">
            <a:avLst/>
          </a:prstGeom>
          <a:solidFill>
            <a:srgbClr val="8CBF3F"/>
          </a:solidFill>
          <a:ln/>
        </p:spPr>
      </p:sp>
      <p:sp>
        <p:nvSpPr>
          <p:cNvPr id="38" name="Shape 27"/>
          <p:cNvSpPr/>
          <p:nvPr/>
        </p:nvSpPr>
        <p:spPr>
          <a:xfrm>
            <a:off x="10332720" y="5257800"/>
            <a:ext cx="411480" cy="320040"/>
          </a:xfrm>
          <a:prstGeom prst="downArrow">
            <a:avLst/>
          </a:prstGeom>
          <a:solidFill>
            <a:srgbClr val="8CBF3F"/>
          </a:solidFill>
          <a:ln/>
        </p:spPr>
      </p:sp>
      <p:sp>
        <p:nvSpPr>
          <p:cNvPr id="39" name="Strategia integrata"/>
          <p:cNvSpPr/>
          <p:nvPr/>
        </p:nvSpPr>
        <p:spPr>
          <a:xfrm>
            <a:off x="5212080" y="5641848"/>
            <a:ext cx="6428232" cy="530352"/>
          </a:xfrm>
          <a:prstGeom prst="roundRect">
            <a:avLst>
              <a:gd name="adj" fmla="val 20690"/>
            </a:avLst>
          </a:prstGeom>
          <a:solidFill>
            <a:srgbClr val="22833B"/>
          </a:solidFill>
          <a:ln/>
        </p:spPr>
      </p:sp>
      <p:sp>
        <p:nvSpPr>
          <p:cNvPr id="40" name="Text 29"/>
          <p:cNvSpPr txBox="1"/>
          <p:nvPr/>
        </p:nvSpPr>
        <p:spPr>
          <a:xfrm>
            <a:off x="5212080" y="5641848"/>
            <a:ext cx="6428232" cy="530352"/>
          </a:xfrm>
          <a:prstGeom prst="rect">
            <a:avLst/>
          </a:prstGeom>
          <a:noFill/>
          <a:ln/>
        </p:spPr>
        <p:txBody>
          <a:bodyPr wrap="square" lIns="0" tIns="0" rIns="0" bIns="0" rtlCol="0" anchor="ctr"/>
          <a:lstStyle/>
          <a:p>
            <a:pPr algn="ctr" indent="0" marL="0">
              <a:buNone/>
            </a:pPr>
            <a:r>
              <a:rPr lang="en-US" sz="1700" dirty="0">
                <a:solidFill>
                  <a:srgbClr val="D7EBC0"/>
                </a:solidFill>
                <a:latin typeface="Calibri" pitchFamily="34" charset="0"/>
                <a:ea typeface="Calibri" pitchFamily="34" charset="-122"/>
                <a:cs typeface="Calibri" pitchFamily="34" charset="-120"/>
              </a:rPr>
              <a:t>Non due approcci alternativi: </a:t>
            </a:r>
            <a:pPr algn="ctr" indent="0" marL="0">
              <a:buNone/>
            </a:pPr>
            <a:r>
              <a:rPr lang="en-US" sz="1700" b="1" dirty="0">
                <a:solidFill>
                  <a:srgbClr val="FFFFFF"/>
                </a:solidFill>
                <a:latin typeface="Calibri" pitchFamily="34" charset="0"/>
                <a:ea typeface="Calibri" pitchFamily="34" charset="-122"/>
                <a:cs typeface="Calibri" pitchFamily="34" charset="-120"/>
              </a:rPr>
              <a:t>un’unica strategia integrata</a:t>
            </a:r>
            <a:endParaRPr lang="en-US" sz="17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548640" y="292608"/>
            <a:ext cx="10241280" cy="658368"/>
          </a:xfrm>
          <a:prstGeom prst="rect">
            <a:avLst/>
          </a:prstGeom>
          <a:noFill/>
          <a:ln/>
        </p:spPr>
        <p:txBody>
          <a:bodyPr wrap="square" lIns="0" tIns="0" rIns="0" bIns="0" rtlCol="0" anchor="ctr"/>
          <a:lstStyle/>
          <a:p>
            <a:pPr algn="l" indent="0" marL="0">
              <a:buNone/>
            </a:pPr>
            <a:r>
              <a:rPr lang="en-US" sz="3000" b="1" dirty="0">
                <a:solidFill>
                  <a:srgbClr val="14532D"/>
                </a:solidFill>
                <a:latin typeface="Cambria" pitchFamily="34" charset="0"/>
                <a:ea typeface="Cambria" pitchFamily="34" charset="-122"/>
                <a:cs typeface="Cambria" pitchFamily="34" charset="-120"/>
              </a:rPr>
              <a:t>La Sindrome Genitourinaria della Menopausa (GSM)</a:t>
            </a:r>
            <a:endParaRPr lang="en-US" sz="3000" dirty="0"/>
          </a:p>
        </p:txBody>
      </p:sp>
      <p:sp>
        <p:nvSpPr>
          <p:cNvPr id="3" name="Text 1"/>
          <p:cNvSpPr/>
          <p:nvPr>
            <p:ph idx="103" type="body" hasCustomPrompt="1"/>
          </p:nvPr>
        </p:nvSpPr>
        <p:spPr>
          <a:xfrm>
            <a:off x="548640" y="969264"/>
            <a:ext cx="10241280" cy="384048"/>
          </a:xfrm>
          <a:prstGeom prst="rect">
            <a:avLst/>
          </a:prstGeom>
          <a:noFill/>
          <a:ln/>
        </p:spPr>
        <p:txBody>
          <a:bodyPr wrap="square" lIns="0" tIns="0" rIns="0" bIns="0" rtlCol="0" anchor="t"/>
          <a:lstStyle/>
          <a:p>
            <a:pPr indent="0" marL="0">
              <a:buNone/>
            </a:pPr>
            <a:r>
              <a:rPr lang="en-US" sz="1500" i="1" dirty="0">
                <a:solidFill>
                  <a:srgbClr val="5B6B60"/>
                </a:solidFill>
                <a:latin typeface="Calibri" pitchFamily="34" charset="0"/>
                <a:ea typeface="Calibri" pitchFamily="34" charset="-122"/>
                <a:cs typeface="Calibri" pitchFamily="34" charset="-120"/>
              </a:rPr>
              <a:t>Termine NAMS/ISSVD 2014, al posto di «atrofia vulvovaginale»: peggiora nel tempo senza trattamento</a:t>
            </a:r>
            <a:endParaRPr lang="en-US" sz="1500" dirty="0"/>
          </a:p>
        </p:txBody>
      </p:sp>
      <p:sp>
        <p:nvSpPr>
          <p:cNvPr id="5" name="Fisiopatologia"/>
          <p:cNvSpPr/>
          <p:nvPr/>
        </p:nvSpPr>
        <p:spPr>
          <a:xfrm>
            <a:off x="548640" y="1645920"/>
            <a:ext cx="4069080" cy="4526280"/>
          </a:xfrm>
          <a:prstGeom prst="roundRect">
            <a:avLst>
              <a:gd name="adj" fmla="val 2697"/>
            </a:avLst>
          </a:prstGeom>
          <a:solidFill>
            <a:srgbClr val="EAF4EC"/>
          </a:solidFill>
          <a:ln/>
        </p:spPr>
      </p:sp>
      <p:sp>
        <p:nvSpPr>
          <p:cNvPr id="6" name="Text 3"/>
          <p:cNvSpPr txBox="1"/>
          <p:nvPr/>
        </p:nvSpPr>
        <p:spPr>
          <a:xfrm>
            <a:off x="822960" y="1828800"/>
            <a:ext cx="3474720" cy="274320"/>
          </a:xfrm>
          <a:prstGeom prst="rect">
            <a:avLst/>
          </a:prstGeom>
          <a:noFill/>
          <a:ln/>
        </p:spPr>
        <p:txBody>
          <a:bodyPr wrap="square" lIns="0" tIns="0" rIns="0" bIns="0" rtlCol="0" anchor="t"/>
          <a:lstStyle/>
          <a:p>
            <a:pPr indent="0" marL="0">
              <a:buNone/>
            </a:pPr>
            <a:r>
              <a:rPr lang="en-US" sz="1200" b="1" spc="200" kern="0" dirty="0">
                <a:solidFill>
                  <a:srgbClr val="22833B"/>
                </a:solidFill>
                <a:latin typeface="Calibri" pitchFamily="34" charset="0"/>
                <a:ea typeface="Calibri" pitchFamily="34" charset="-122"/>
                <a:cs typeface="Calibri" pitchFamily="34" charset="-120"/>
              </a:rPr>
              <a:t>FISIOPATOLOGIA</a:t>
            </a:r>
            <a:endParaRPr lang="en-US" sz="1200" dirty="0"/>
          </a:p>
        </p:txBody>
      </p:sp>
      <p:pic>
        <p:nvPicPr>
          <p:cNvPr id="7" name="Image 0" descr="Schema: epitelio vaginale trofico e atrofico">    </p:cNvPr>
          <p:cNvPicPr>
            <a:picLocks noChangeAspect="1"/>
          </p:cNvPicPr>
          <p:nvPr/>
        </p:nvPicPr>
        <p:blipFill>
          <a:blip r:embed="rId1"/>
          <a:stretch>
            <a:fillRect/>
          </a:stretch>
        </p:blipFill>
        <p:spPr>
          <a:xfrm>
            <a:off x="777240" y="2148840"/>
            <a:ext cx="3611880" cy="1463040"/>
          </a:xfrm>
          <a:prstGeom prst="rect">
            <a:avLst/>
          </a:prstGeom>
        </p:spPr>
      </p:pic>
      <p:sp>
        <p:nvSpPr>
          <p:cNvPr id="8" name="Text 4"/>
          <p:cNvSpPr txBox="1"/>
          <p:nvPr/>
        </p:nvSpPr>
        <p:spPr>
          <a:xfrm>
            <a:off x="777240" y="3749040"/>
            <a:ext cx="3657600" cy="228600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1F2A24"/>
                </a:solidFill>
                <a:latin typeface="Calibri" pitchFamily="34" charset="0"/>
                <a:ea typeface="Calibri" pitchFamily="34" charset="-122"/>
                <a:cs typeface="Calibri" pitchFamily="34" charset="-120"/>
              </a:rPr>
              <a:t>Epitelio più sottile, meno glicogeno</a:t>
            </a:r>
            <a:endParaRPr lang="en-US" sz="1400" dirty="0"/>
          </a:p>
          <a:p>
            <a:pPr marL="177800" indent="-177800">
              <a:spcAft>
                <a:spcPts val="500"/>
              </a:spcAft>
              <a:buSzPct val="100000"/>
              <a:buChar char="•"/>
            </a:pPr>
            <a:r>
              <a:rPr lang="en-US" sz="1400" dirty="0">
                <a:solidFill>
                  <a:srgbClr val="1F2A24"/>
                </a:solidFill>
                <a:latin typeface="Calibri" pitchFamily="34" charset="0"/>
                <a:ea typeface="Calibri" pitchFamily="34" charset="-122"/>
                <a:cs typeface="Calibri" pitchFamily="34" charset="-120"/>
              </a:rPr>
              <a:t>Perdita di collagene I e III</a:t>
            </a:r>
            <a:endParaRPr lang="en-US" sz="1400" dirty="0"/>
          </a:p>
          <a:p>
            <a:pPr marL="177800" indent="-177800">
              <a:spcAft>
                <a:spcPts val="500"/>
              </a:spcAft>
              <a:buSzPct val="100000"/>
              <a:buChar char="•"/>
            </a:pPr>
            <a:r>
              <a:rPr lang="en-US" sz="1400" dirty="0">
                <a:solidFill>
                  <a:srgbClr val="1F2A24"/>
                </a:solidFill>
                <a:latin typeface="Calibri" pitchFamily="34" charset="0"/>
                <a:ea typeface="Calibri" pitchFamily="34" charset="-122"/>
                <a:cs typeface="Calibri" pitchFamily="34" charset="-120"/>
              </a:rPr>
              <a:t>Minore vascolarizzazione e lubrificazione</a:t>
            </a:r>
            <a:endParaRPr lang="en-US" sz="1400" dirty="0"/>
          </a:p>
          <a:p>
            <a:pPr marL="177800" indent="-177800">
              <a:spcAft>
                <a:spcPts val="500"/>
              </a:spcAft>
              <a:buSzPct val="100000"/>
              <a:buChar char="•"/>
            </a:pPr>
            <a:r>
              <a:rPr lang="en-US" sz="1400" dirty="0">
                <a:solidFill>
                  <a:srgbClr val="1F2A24"/>
                </a:solidFill>
                <a:latin typeface="Calibri" pitchFamily="34" charset="0"/>
                <a:ea typeface="Calibri" pitchFamily="34" charset="-122"/>
                <a:cs typeface="Calibri" pitchFamily="34" charset="-120"/>
              </a:rPr>
              <a:t>Meno Lactobacilli, pH in aumento</a:t>
            </a:r>
            <a:endParaRPr lang="en-US" sz="1400" dirty="0"/>
          </a:p>
          <a:p>
            <a:pPr marL="177800" indent="-177800">
              <a:spcAft>
                <a:spcPts val="500"/>
              </a:spcAft>
              <a:buSzPct val="100000"/>
              <a:buChar char="•"/>
            </a:pPr>
            <a:r>
              <a:rPr lang="en-US" sz="1400" dirty="0">
                <a:solidFill>
                  <a:srgbClr val="1F2A24"/>
                </a:solidFill>
                <a:latin typeface="Calibri" pitchFamily="34" charset="0"/>
                <a:ea typeface="Calibri" pitchFamily="34" charset="-122"/>
                <a:cs typeface="Calibri" pitchFamily="34" charset="-120"/>
              </a:rPr>
              <a:t>Meno fibre nervose: ipoestesia con iperalgesia</a:t>
            </a:r>
            <a:endParaRPr lang="en-US" sz="1400" dirty="0"/>
          </a:p>
        </p:txBody>
      </p:sp>
      <p:sp>
        <p:nvSpPr>
          <p:cNvPr id="9" name="Text 5"/>
          <p:cNvSpPr txBox="1"/>
          <p:nvPr/>
        </p:nvSpPr>
        <p:spPr>
          <a:xfrm>
            <a:off x="4892040" y="1691640"/>
            <a:ext cx="3566160" cy="365760"/>
          </a:xfrm>
          <a:prstGeom prst="rect">
            <a:avLst/>
          </a:prstGeom>
          <a:noFill/>
          <a:ln/>
        </p:spPr>
        <p:txBody>
          <a:bodyPr wrap="square" lIns="0" tIns="0" rIns="0" bIns="0" rtlCol="0" anchor="t"/>
          <a:lstStyle/>
          <a:p>
            <a:pPr indent="0" marL="0">
              <a:buNone/>
            </a:pPr>
            <a:r>
              <a:rPr lang="en-US" sz="1800" b="1" dirty="0">
                <a:solidFill>
                  <a:srgbClr val="14532D"/>
                </a:solidFill>
                <a:latin typeface="Cambria" pitchFamily="34" charset="0"/>
                <a:ea typeface="Cambria" pitchFamily="34" charset="-122"/>
                <a:cs typeface="Cambria" pitchFamily="34" charset="-120"/>
              </a:rPr>
              <a:t>Strumenti locali</a:t>
            </a:r>
            <a:endParaRPr lang="en-US" sz="1800" dirty="0"/>
          </a:p>
        </p:txBody>
      </p:sp>
      <p:sp>
        <p:nvSpPr>
          <p:cNvPr id="10" name="Laser CO₂ / Er:YAG"/>
          <p:cNvSpPr/>
          <p:nvPr/>
        </p:nvSpPr>
        <p:spPr>
          <a:xfrm>
            <a:off x="4892040" y="2212848"/>
            <a:ext cx="3611880" cy="1143000"/>
          </a:xfrm>
          <a:prstGeom prst="roundRect">
            <a:avLst>
              <a:gd name="adj" fmla="val 9600"/>
            </a:avLst>
          </a:prstGeom>
          <a:solidFill>
            <a:srgbClr val="FFFFFF"/>
          </a:solidFill>
          <a:ln w="12700">
            <a:solidFill>
              <a:srgbClr val="CFE3D3"/>
            </a:solidFill>
            <a:prstDash val="solid"/>
          </a:ln>
          <a:effectLst>
            <a:outerShdw sx="100000" sy="100000" kx="0" ky="0" algn="bl" rotWithShape="0" blurRad="76200" dist="25400" dir="5400000">
              <a:srgbClr val="000000">
                <a:alpha val="12000"/>
              </a:srgbClr>
            </a:outerShdw>
          </a:effectLst>
        </p:spPr>
      </p:sp>
      <p:sp>
        <p:nvSpPr>
          <p:cNvPr id="11" name="Laser CO₂ / Er:YAG bg"/>
          <p:cNvSpPr/>
          <p:nvPr/>
        </p:nvSpPr>
        <p:spPr>
          <a:xfrm>
            <a:off x="5074920" y="2487168"/>
            <a:ext cx="566928" cy="566928"/>
          </a:xfrm>
          <a:prstGeom prst="ellipse">
            <a:avLst/>
          </a:prstGeom>
          <a:solidFill>
            <a:srgbClr val="22833B"/>
          </a:solidFill>
          <a:ln/>
        </p:spPr>
      </p:sp>
      <p:pic>
        <p:nvPicPr>
          <p:cNvPr id="12" name="Laser CO₂ / Er:YAG" descr="Laser CO₂ / Er:YAG">    </p:cNvPr>
          <p:cNvPicPr>
            <a:picLocks noChangeAspect="1"/>
          </p:cNvPicPr>
          <p:nvPr/>
        </p:nvPicPr>
        <p:blipFill>
          <a:blip r:embed="rId2"/>
          <a:stretch>
            <a:fillRect/>
          </a:stretch>
        </p:blipFill>
        <p:spPr>
          <a:xfrm>
            <a:off x="5199644" y="2611892"/>
            <a:ext cx="317480" cy="317480"/>
          </a:xfrm>
          <a:prstGeom prst="rect">
            <a:avLst/>
          </a:prstGeom>
        </p:spPr>
      </p:pic>
      <p:sp>
        <p:nvSpPr>
          <p:cNvPr id="13" name="Text 8"/>
          <p:cNvSpPr txBox="1"/>
          <p:nvPr/>
        </p:nvSpPr>
        <p:spPr>
          <a:xfrm>
            <a:off x="5806440" y="2368296"/>
            <a:ext cx="2560320" cy="868680"/>
          </a:xfrm>
          <a:prstGeom prst="rect">
            <a:avLst/>
          </a:prstGeom>
          <a:noFill/>
          <a:ln/>
        </p:spPr>
        <p:txBody>
          <a:bodyPr wrap="square" lIns="0" tIns="0" rIns="0" bIns="0" rtlCol="0" anchor="t"/>
          <a:lstStyle/>
          <a:p>
            <a:pPr indent="0" marL="0">
              <a:lnSpc>
                <a:spcPct val="95000"/>
              </a:lnSpc>
              <a:buNone/>
            </a:pPr>
            <a:r>
              <a:rPr lang="en-US" sz="1400" b="1" dirty="0">
                <a:solidFill>
                  <a:srgbClr val="14532D"/>
                </a:solidFill>
                <a:latin typeface="Calibri" pitchFamily="34" charset="0"/>
                <a:ea typeface="Calibri" pitchFamily="34" charset="-122"/>
                <a:cs typeface="Calibri" pitchFamily="34" charset="-120"/>
              </a:rPr>
              <a:t>Laser CO₂ / Er:YAG</a:t>
            </a:r>
            <a:endParaRPr lang="en-US" sz="1400" dirty="0"/>
          </a:p>
          <a:p>
            <a:pPr indent="0" marL="0">
              <a:lnSpc>
                <a:spcPct val="95000"/>
              </a:lnSpc>
              <a:buNone/>
            </a:pPr>
            <a:r>
              <a:rPr lang="en-US" sz="1300" dirty="0">
                <a:solidFill>
                  <a:srgbClr val="1F2A24"/>
                </a:solidFill>
                <a:latin typeface="Calibri" pitchFamily="34" charset="0"/>
                <a:ea typeface="Calibri" pitchFamily="34" charset="-122"/>
                <a:cs typeface="Calibri" pitchFamily="34" charset="-120"/>
              </a:rPr>
              <a:t>Neocollagenesi, ispessimento epiteliale</a:t>
            </a:r>
            <a:endParaRPr lang="en-US" sz="1400" dirty="0"/>
          </a:p>
        </p:txBody>
      </p:sp>
      <p:sp>
        <p:nvSpPr>
          <p:cNvPr id="14" name="PRP vulvovaginale (O-Shot)"/>
          <p:cNvSpPr/>
          <p:nvPr/>
        </p:nvSpPr>
        <p:spPr>
          <a:xfrm>
            <a:off x="4892040" y="3538728"/>
            <a:ext cx="3611880" cy="1143000"/>
          </a:xfrm>
          <a:prstGeom prst="roundRect">
            <a:avLst>
              <a:gd name="adj" fmla="val 9600"/>
            </a:avLst>
          </a:prstGeom>
          <a:solidFill>
            <a:srgbClr val="FFFFFF"/>
          </a:solidFill>
          <a:ln w="12700">
            <a:solidFill>
              <a:srgbClr val="CFE3D3"/>
            </a:solidFill>
            <a:prstDash val="solid"/>
          </a:ln>
          <a:effectLst>
            <a:outerShdw sx="100000" sy="100000" kx="0" ky="0" algn="bl" rotWithShape="0" blurRad="76200" dist="25400" dir="5400000">
              <a:srgbClr val="000000">
                <a:alpha val="12000"/>
              </a:srgbClr>
            </a:outerShdw>
          </a:effectLst>
        </p:spPr>
      </p:sp>
      <p:sp>
        <p:nvSpPr>
          <p:cNvPr id="15" name="PRP vulvovaginale (O-Shot) bg"/>
          <p:cNvSpPr/>
          <p:nvPr/>
        </p:nvSpPr>
        <p:spPr>
          <a:xfrm>
            <a:off x="5074920" y="3813048"/>
            <a:ext cx="566928" cy="566928"/>
          </a:xfrm>
          <a:prstGeom prst="ellipse">
            <a:avLst/>
          </a:prstGeom>
          <a:solidFill>
            <a:srgbClr val="22833B"/>
          </a:solidFill>
          <a:ln/>
        </p:spPr>
      </p:sp>
      <p:pic>
        <p:nvPicPr>
          <p:cNvPr id="16" name="PRP vulvovaginale (O-Shot)" descr="PRP vulvovaginale (O-Shot)">    </p:cNvPr>
          <p:cNvPicPr>
            <a:picLocks noChangeAspect="1"/>
          </p:cNvPicPr>
          <p:nvPr/>
        </p:nvPicPr>
        <p:blipFill>
          <a:blip r:embed="rId3"/>
          <a:stretch>
            <a:fillRect/>
          </a:stretch>
        </p:blipFill>
        <p:spPr>
          <a:xfrm>
            <a:off x="5199644" y="3937772"/>
            <a:ext cx="317480" cy="317480"/>
          </a:xfrm>
          <a:prstGeom prst="rect">
            <a:avLst/>
          </a:prstGeom>
        </p:spPr>
      </p:pic>
      <p:sp>
        <p:nvSpPr>
          <p:cNvPr id="17" name="Text 11"/>
          <p:cNvSpPr txBox="1"/>
          <p:nvPr/>
        </p:nvSpPr>
        <p:spPr>
          <a:xfrm>
            <a:off x="5806440" y="3694176"/>
            <a:ext cx="2560320" cy="868680"/>
          </a:xfrm>
          <a:prstGeom prst="rect">
            <a:avLst/>
          </a:prstGeom>
          <a:noFill/>
          <a:ln/>
        </p:spPr>
        <p:txBody>
          <a:bodyPr wrap="square" lIns="0" tIns="0" rIns="0" bIns="0" rtlCol="0" anchor="t"/>
          <a:lstStyle/>
          <a:p>
            <a:pPr indent="0" marL="0">
              <a:lnSpc>
                <a:spcPct val="95000"/>
              </a:lnSpc>
              <a:buNone/>
            </a:pPr>
            <a:r>
              <a:rPr lang="en-US" sz="1400" b="1" dirty="0">
                <a:solidFill>
                  <a:srgbClr val="14532D"/>
                </a:solidFill>
                <a:latin typeface="Calibri" pitchFamily="34" charset="0"/>
                <a:ea typeface="Calibri" pitchFamily="34" charset="-122"/>
                <a:cs typeface="Calibri" pitchFamily="34" charset="-120"/>
              </a:rPr>
              <a:t>PRP vulvovaginale (O-Shot)</a:t>
            </a:r>
            <a:endParaRPr lang="en-US" sz="1400" dirty="0"/>
          </a:p>
          <a:p>
            <a:pPr indent="0" marL="0">
              <a:lnSpc>
                <a:spcPct val="95000"/>
              </a:lnSpc>
              <a:buNone/>
            </a:pPr>
            <a:r>
              <a:rPr lang="en-US" sz="1300" dirty="0">
                <a:solidFill>
                  <a:srgbClr val="1F2A24"/>
                </a:solidFill>
                <a:latin typeface="Calibri" pitchFamily="34" charset="0"/>
                <a:ea typeface="Calibri" pitchFamily="34" charset="-122"/>
                <a:cs typeface="Calibri" pitchFamily="34" charset="-120"/>
              </a:rPr>
              <a:t>Fattori di crescita; evidenze da studi pilota</a:t>
            </a:r>
            <a:endParaRPr lang="en-US" sz="1400" dirty="0"/>
          </a:p>
        </p:txBody>
      </p:sp>
      <p:sp>
        <p:nvSpPr>
          <p:cNvPr id="18" name="Acido ialuronico non crosslinkato"/>
          <p:cNvSpPr/>
          <p:nvPr/>
        </p:nvSpPr>
        <p:spPr>
          <a:xfrm>
            <a:off x="4892040" y="4864608"/>
            <a:ext cx="3611880" cy="1143000"/>
          </a:xfrm>
          <a:prstGeom prst="roundRect">
            <a:avLst>
              <a:gd name="adj" fmla="val 9600"/>
            </a:avLst>
          </a:prstGeom>
          <a:solidFill>
            <a:srgbClr val="FFFFFF"/>
          </a:solidFill>
          <a:ln w="12700">
            <a:solidFill>
              <a:srgbClr val="CFE3D3"/>
            </a:solidFill>
            <a:prstDash val="solid"/>
          </a:ln>
          <a:effectLst>
            <a:outerShdw sx="100000" sy="100000" kx="0" ky="0" algn="bl" rotWithShape="0" blurRad="76200" dist="25400" dir="5400000">
              <a:srgbClr val="000000">
                <a:alpha val="12000"/>
              </a:srgbClr>
            </a:outerShdw>
          </a:effectLst>
        </p:spPr>
      </p:sp>
      <p:sp>
        <p:nvSpPr>
          <p:cNvPr id="19" name="Acido ialuronico non crosslinkato bg"/>
          <p:cNvSpPr/>
          <p:nvPr/>
        </p:nvSpPr>
        <p:spPr>
          <a:xfrm>
            <a:off x="5074920" y="5138928"/>
            <a:ext cx="566928" cy="566928"/>
          </a:xfrm>
          <a:prstGeom prst="ellipse">
            <a:avLst/>
          </a:prstGeom>
          <a:solidFill>
            <a:srgbClr val="22833B"/>
          </a:solidFill>
          <a:ln/>
        </p:spPr>
      </p:sp>
      <p:pic>
        <p:nvPicPr>
          <p:cNvPr id="20" name="Acido ialuronico non crosslinkato" descr="Acido ialuronico non crosslinkato">    </p:cNvPr>
          <p:cNvPicPr>
            <a:picLocks noChangeAspect="1"/>
          </p:cNvPicPr>
          <p:nvPr/>
        </p:nvPicPr>
        <p:blipFill>
          <a:blip r:embed="rId4"/>
          <a:stretch>
            <a:fillRect/>
          </a:stretch>
        </p:blipFill>
        <p:spPr>
          <a:xfrm>
            <a:off x="5199644" y="5263652"/>
            <a:ext cx="317480" cy="317480"/>
          </a:xfrm>
          <a:prstGeom prst="rect">
            <a:avLst/>
          </a:prstGeom>
        </p:spPr>
      </p:pic>
      <p:sp>
        <p:nvSpPr>
          <p:cNvPr id="21" name="Text 14"/>
          <p:cNvSpPr txBox="1"/>
          <p:nvPr/>
        </p:nvSpPr>
        <p:spPr>
          <a:xfrm>
            <a:off x="5806440" y="5020056"/>
            <a:ext cx="2560320" cy="868680"/>
          </a:xfrm>
          <a:prstGeom prst="rect">
            <a:avLst/>
          </a:prstGeom>
          <a:noFill/>
          <a:ln/>
        </p:spPr>
        <p:txBody>
          <a:bodyPr wrap="square" lIns="0" tIns="0" rIns="0" bIns="0" rtlCol="0" anchor="t"/>
          <a:lstStyle/>
          <a:p>
            <a:pPr indent="0" marL="0">
              <a:lnSpc>
                <a:spcPct val="95000"/>
              </a:lnSpc>
              <a:buNone/>
            </a:pPr>
            <a:r>
              <a:rPr lang="en-US" sz="1400" b="1" dirty="0">
                <a:solidFill>
                  <a:srgbClr val="14532D"/>
                </a:solidFill>
                <a:latin typeface="Calibri" pitchFamily="34" charset="0"/>
                <a:ea typeface="Calibri" pitchFamily="34" charset="-122"/>
                <a:cs typeface="Calibri" pitchFamily="34" charset="-120"/>
              </a:rPr>
              <a:t>Acido ialuronico non crosslinkato</a:t>
            </a:r>
            <a:endParaRPr lang="en-US" sz="1400" dirty="0"/>
          </a:p>
          <a:p>
            <a:pPr indent="0" marL="0">
              <a:lnSpc>
                <a:spcPct val="95000"/>
              </a:lnSpc>
              <a:buNone/>
            </a:pPr>
            <a:r>
              <a:rPr lang="en-US" sz="1300" dirty="0">
                <a:solidFill>
                  <a:srgbClr val="1F2A24"/>
                </a:solidFill>
                <a:latin typeface="Calibri" pitchFamily="34" charset="0"/>
                <a:ea typeface="Calibri" pitchFamily="34" charset="-122"/>
                <a:cs typeface="Calibri" pitchFamily="34" charset="-120"/>
              </a:rPr>
              <a:t>Prima linea, ottimo profilo di sicurezza</a:t>
            </a:r>
            <a:endParaRPr lang="en-US" sz="1400" dirty="0"/>
          </a:p>
        </p:txBody>
      </p:sp>
      <p:sp>
        <p:nvSpPr>
          <p:cNvPr id="22" name="BHRT come potenziatore"/>
          <p:cNvSpPr/>
          <p:nvPr/>
        </p:nvSpPr>
        <p:spPr>
          <a:xfrm>
            <a:off x="8778240" y="1645920"/>
            <a:ext cx="2862072" cy="2606040"/>
          </a:xfrm>
          <a:prstGeom prst="roundRect">
            <a:avLst>
              <a:gd name="adj" fmla="val 4211"/>
            </a:avLst>
          </a:prstGeom>
          <a:solidFill>
            <a:srgbClr val="14532D"/>
          </a:solidFill>
          <a:ln/>
        </p:spPr>
      </p:sp>
      <p:sp>
        <p:nvSpPr>
          <p:cNvPr id="23" name="Text 16"/>
          <p:cNvSpPr txBox="1"/>
          <p:nvPr/>
        </p:nvSpPr>
        <p:spPr>
          <a:xfrm>
            <a:off x="9006840" y="1828800"/>
            <a:ext cx="2404872" cy="36576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BHRT come potenziatore</a:t>
            </a:r>
            <a:endParaRPr lang="en-US" sz="1700" dirty="0"/>
          </a:p>
        </p:txBody>
      </p:sp>
      <p:sp>
        <p:nvSpPr>
          <p:cNvPr id="24" name="Text 17"/>
          <p:cNvSpPr txBox="1"/>
          <p:nvPr/>
        </p:nvSpPr>
        <p:spPr>
          <a:xfrm>
            <a:off x="9006840" y="2286000"/>
            <a:ext cx="2450592" cy="68580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FFFFFF"/>
                </a:solidFill>
                <a:latin typeface="Calibri" pitchFamily="34" charset="0"/>
                <a:ea typeface="Calibri" pitchFamily="34" charset="-122"/>
                <a:cs typeface="Calibri" pitchFamily="34" charset="-120"/>
              </a:rPr>
              <a:t>17β-estradiolo transdermico</a:t>
            </a:r>
            <a:endParaRPr lang="en-US" sz="1400" dirty="0"/>
          </a:p>
          <a:p>
            <a:pPr marL="177800" indent="-177800">
              <a:spcAft>
                <a:spcPts val="500"/>
              </a:spcAft>
              <a:buSzPct val="100000"/>
              <a:buChar char="•"/>
            </a:pPr>
            <a:r>
              <a:rPr lang="en-US" sz="1400" dirty="0">
                <a:solidFill>
                  <a:srgbClr val="FFFFFF"/>
                </a:solidFill>
                <a:latin typeface="Calibri" pitchFamily="34" charset="0"/>
                <a:ea typeface="Calibri" pitchFamily="34" charset="-122"/>
                <a:cs typeface="Calibri" pitchFamily="34" charset="-120"/>
              </a:rPr>
              <a:t>Estriolo topico vaginale</a:t>
            </a:r>
            <a:endParaRPr lang="en-US" sz="1400" dirty="0"/>
          </a:p>
        </p:txBody>
      </p:sp>
      <p:sp>
        <p:nvSpPr>
          <p:cNvPr id="25" name="Text 18"/>
          <p:cNvSpPr txBox="1"/>
          <p:nvPr/>
        </p:nvSpPr>
        <p:spPr>
          <a:xfrm>
            <a:off x="9006840" y="3017520"/>
            <a:ext cx="2450592" cy="1097280"/>
          </a:xfrm>
          <a:prstGeom prst="rect">
            <a:avLst/>
          </a:prstGeom>
          <a:noFill/>
          <a:ln/>
        </p:spPr>
        <p:txBody>
          <a:bodyPr wrap="square" lIns="0" tIns="0" rIns="0" bIns="0" rtlCol="0" anchor="t"/>
          <a:lstStyle/>
          <a:p>
            <a:pPr indent="0" marL="0">
              <a:buNone/>
            </a:pPr>
            <a:r>
              <a:rPr lang="en-US" sz="1300" i="1" dirty="0">
                <a:solidFill>
                  <a:srgbClr val="D7EBC0"/>
                </a:solidFill>
                <a:latin typeface="Calibri" pitchFamily="34" charset="0"/>
                <a:ea typeface="Calibri" pitchFamily="34" charset="-122"/>
                <a:cs typeface="Calibri" pitchFamily="34" charset="-120"/>
              </a:rPr>
              <a:t>BHRT + laser o PRP: stimolo rigenerativo su un microambiente ormonalmente competente</a:t>
            </a:r>
            <a:endParaRPr lang="en-US" sz="1300" dirty="0"/>
          </a:p>
        </p:txBody>
      </p:sp>
      <p:graphicFrame>
        <p:nvGraphicFramePr>
          <p:cNvPr id="26" name="Chart 0" descr=""/>
          <p:cNvGraphicFramePr/>
          <p:nvPr/>
        </p:nvGraphicFramePr>
        <p:xfrm>
          <a:off x="8778240" y="4389120"/>
          <a:ext cx="1463040" cy="1463040"/>
        </p:xfrm>
        <a:graphic xmlns:a="http://schemas.openxmlformats.org/drawingml/2006/main">
          <a:graphicData uri="http://schemas.openxmlformats.org/drawingml/2006/chart">
            <c:chart xmlns:c="http://schemas.openxmlformats.org/drawingml/2006/chart" r:id="rId5"/>
          </a:graphicData>
        </a:graphic>
      </p:graphicFrame>
      <p:sp>
        <p:nvSpPr>
          <p:cNvPr id="27" name="Text 19"/>
          <p:cNvSpPr txBox="1"/>
          <p:nvPr/>
        </p:nvSpPr>
        <p:spPr>
          <a:xfrm>
            <a:off x="8778240" y="4389120"/>
            <a:ext cx="1463040" cy="1463040"/>
          </a:xfrm>
          <a:prstGeom prst="rect">
            <a:avLst/>
          </a:prstGeom>
          <a:noFill/>
          <a:ln/>
        </p:spPr>
        <p:txBody>
          <a:bodyPr wrap="square" lIns="0" tIns="0" rIns="0" bIns="0" rtlCol="0" anchor="ctr"/>
          <a:lstStyle/>
          <a:p>
            <a:pPr algn="ctr" indent="0" marL="0">
              <a:buNone/>
            </a:pPr>
            <a:r>
              <a:rPr lang="en-US" sz="2200" b="1" dirty="0">
                <a:solidFill>
                  <a:srgbClr val="C2416B"/>
                </a:solidFill>
                <a:latin typeface="Cambria" pitchFamily="34" charset="0"/>
                <a:ea typeface="Cambria" pitchFamily="34" charset="-122"/>
                <a:cs typeface="Cambria" pitchFamily="34" charset="-120"/>
              </a:rPr>
              <a:t>50%</a:t>
            </a:r>
            <a:endParaRPr lang="en-US" sz="2200" dirty="0"/>
          </a:p>
        </p:txBody>
      </p:sp>
      <p:sp>
        <p:nvSpPr>
          <p:cNvPr id="28" name="Text 20"/>
          <p:cNvSpPr txBox="1"/>
          <p:nvPr/>
        </p:nvSpPr>
        <p:spPr>
          <a:xfrm>
            <a:off x="10332720" y="4663440"/>
            <a:ext cx="1325880" cy="1005840"/>
          </a:xfrm>
          <a:prstGeom prst="rect">
            <a:avLst/>
          </a:prstGeom>
          <a:noFill/>
          <a:ln/>
        </p:spPr>
        <p:txBody>
          <a:bodyPr wrap="square" lIns="0" tIns="0" rIns="0" bIns="0" rtlCol="0" anchor="ctr"/>
          <a:lstStyle/>
          <a:p>
            <a:pPr indent="0" marL="0">
              <a:buNone/>
            </a:pPr>
            <a:r>
              <a:rPr lang="en-US" sz="1300" b="1" dirty="0">
                <a:solidFill>
                  <a:srgbClr val="C2416B"/>
                </a:solidFill>
                <a:latin typeface="Calibri" pitchFamily="34" charset="0"/>
                <a:ea typeface="Calibri" pitchFamily="34" charset="-122"/>
                <a:cs typeface="Calibri" pitchFamily="34" charset="-120"/>
              </a:rPr>
              <a:t>fino al 50%</a:t>
            </a:r>
            <a:endParaRPr lang="en-US" sz="1300" dirty="0"/>
          </a:p>
          <a:p>
            <a:pPr indent="0" marL="0">
              <a:buNone/>
            </a:pPr>
            <a:r>
              <a:rPr lang="en-US" sz="1300" dirty="0">
                <a:solidFill>
                  <a:srgbClr val="1F2A24"/>
                </a:solidFill>
                <a:latin typeface="Calibri" pitchFamily="34" charset="0"/>
                <a:ea typeface="Calibri" pitchFamily="34" charset="-122"/>
                <a:cs typeface="Calibri" pitchFamily="34" charset="-120"/>
              </a:rPr>
              <a:t>delle donne in post-menopausa</a:t>
            </a:r>
            <a:endParaRPr lang="en-US" sz="13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548640" y="292608"/>
            <a:ext cx="10241280" cy="658368"/>
          </a:xfrm>
          <a:prstGeom prst="rect">
            <a:avLst/>
          </a:prstGeom>
          <a:noFill/>
          <a:ln/>
        </p:spPr>
        <p:txBody>
          <a:bodyPr wrap="square" lIns="0" tIns="0" rIns="0" bIns="0" rtlCol="0" anchor="ctr"/>
          <a:lstStyle/>
          <a:p>
            <a:pPr algn="l" indent="0" marL="0">
              <a:buNone/>
            </a:pPr>
            <a:r>
              <a:rPr lang="en-US" sz="3000" b="1" dirty="0">
                <a:solidFill>
                  <a:srgbClr val="14532D"/>
                </a:solidFill>
                <a:latin typeface="Cambria" pitchFamily="34" charset="0"/>
                <a:ea typeface="Cambria" pitchFamily="34" charset="-122"/>
                <a:cs typeface="Cambria" pitchFamily="34" charset="-120"/>
              </a:rPr>
              <a:t>Pavimento pelvico e riabilitazione post-partum</a:t>
            </a:r>
            <a:endParaRPr lang="en-US" sz="3000" dirty="0"/>
          </a:p>
        </p:txBody>
      </p:sp>
      <p:sp>
        <p:nvSpPr>
          <p:cNvPr id="3" name="Text 1"/>
          <p:cNvSpPr/>
          <p:nvPr>
            <p:ph idx="103" type="body" hasCustomPrompt="1"/>
          </p:nvPr>
        </p:nvSpPr>
        <p:spPr>
          <a:xfrm>
            <a:off x="548640" y="969264"/>
            <a:ext cx="10241280" cy="384048"/>
          </a:xfrm>
          <a:prstGeom prst="rect">
            <a:avLst/>
          </a:prstGeom>
          <a:noFill/>
          <a:ln/>
        </p:spPr>
        <p:txBody>
          <a:bodyPr wrap="square" lIns="0" tIns="0" rIns="0" bIns="0" rtlCol="0" anchor="t"/>
          <a:lstStyle/>
          <a:p>
            <a:pPr indent="0" marL="0">
              <a:buNone/>
            </a:pPr>
            <a:r>
              <a:rPr lang="en-US" sz="1500" i="1" dirty="0">
                <a:solidFill>
                  <a:srgbClr val="5B6B60"/>
                </a:solidFill>
                <a:latin typeface="Calibri" pitchFamily="34" charset="0"/>
                <a:ea typeface="Calibri" pitchFamily="34" charset="-122"/>
                <a:cs typeface="Calibri" pitchFamily="34" charset="-120"/>
              </a:rPr>
              <a:t>Il trauma del parto vaginale non sempre si risolve spontaneamente</a:t>
            </a:r>
            <a:endParaRPr lang="en-US" sz="1500" dirty="0"/>
          </a:p>
        </p:txBody>
      </p:sp>
      <p:sp>
        <p:nvSpPr>
          <p:cNvPr id="5" name="1 · Il danno"/>
          <p:cNvSpPr/>
          <p:nvPr/>
        </p:nvSpPr>
        <p:spPr>
          <a:xfrm>
            <a:off x="548640" y="1645920"/>
            <a:ext cx="3666744" cy="566928"/>
          </a:xfrm>
          <a:prstGeom prst="homePlate">
            <a:avLst/>
          </a:prstGeom>
          <a:solidFill>
            <a:srgbClr val="C2416B"/>
          </a:solidFill>
          <a:ln/>
        </p:spPr>
      </p:sp>
      <p:sp>
        <p:nvSpPr>
          <p:cNvPr id="6" name="Text 3"/>
          <p:cNvSpPr txBox="1"/>
          <p:nvPr/>
        </p:nvSpPr>
        <p:spPr>
          <a:xfrm>
            <a:off x="777240" y="1645920"/>
            <a:ext cx="3008376" cy="56692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1 · Il danno</a:t>
            </a:r>
            <a:endParaRPr lang="en-US" sz="1700" dirty="0"/>
          </a:p>
        </p:txBody>
      </p:sp>
      <p:sp>
        <p:nvSpPr>
          <p:cNvPr id="7" name="1 · Il danno card"/>
          <p:cNvSpPr/>
          <p:nvPr/>
        </p:nvSpPr>
        <p:spPr>
          <a:xfrm>
            <a:off x="548640" y="2395728"/>
            <a:ext cx="3557016" cy="3776472"/>
          </a:xfrm>
          <a:prstGeom prst="roundRect">
            <a:avLst>
              <a:gd name="adj" fmla="val 3085"/>
            </a:avLst>
          </a:prstGeom>
          <a:solidFill>
            <a:srgbClr val="FBE9EF"/>
          </a:solidFill>
          <a:ln/>
        </p:spPr>
      </p:sp>
      <p:sp>
        <p:nvSpPr>
          <p:cNvPr id="8" name="2 · Rigenerazione"/>
          <p:cNvSpPr/>
          <p:nvPr/>
        </p:nvSpPr>
        <p:spPr>
          <a:xfrm>
            <a:off x="4315968" y="1645920"/>
            <a:ext cx="3666744" cy="566928"/>
          </a:xfrm>
          <a:prstGeom prst="chevron">
            <a:avLst/>
          </a:prstGeom>
          <a:solidFill>
            <a:srgbClr val="22833B"/>
          </a:solidFill>
          <a:ln/>
        </p:spPr>
      </p:sp>
      <p:sp>
        <p:nvSpPr>
          <p:cNvPr id="9" name="Text 6"/>
          <p:cNvSpPr txBox="1"/>
          <p:nvPr/>
        </p:nvSpPr>
        <p:spPr>
          <a:xfrm>
            <a:off x="4727448" y="1645920"/>
            <a:ext cx="3008376" cy="56692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2 · Rigenerazione</a:t>
            </a:r>
            <a:endParaRPr lang="en-US" sz="1700" dirty="0"/>
          </a:p>
        </p:txBody>
      </p:sp>
      <p:sp>
        <p:nvSpPr>
          <p:cNvPr id="10" name="2 · Rigenerazione card"/>
          <p:cNvSpPr/>
          <p:nvPr/>
        </p:nvSpPr>
        <p:spPr>
          <a:xfrm>
            <a:off x="4315968" y="2395728"/>
            <a:ext cx="3557016" cy="3776472"/>
          </a:xfrm>
          <a:prstGeom prst="roundRect">
            <a:avLst>
              <a:gd name="adj" fmla="val 3085"/>
            </a:avLst>
          </a:prstGeom>
          <a:solidFill>
            <a:srgbClr val="EAF4EC"/>
          </a:solidFill>
          <a:ln/>
        </p:spPr>
      </p:sp>
      <p:sp>
        <p:nvSpPr>
          <p:cNvPr id="11" name="3 · Il ruolo degli ormoni"/>
          <p:cNvSpPr/>
          <p:nvPr/>
        </p:nvSpPr>
        <p:spPr>
          <a:xfrm>
            <a:off x="8083296" y="1645920"/>
            <a:ext cx="3557016" cy="566928"/>
          </a:xfrm>
          <a:prstGeom prst="chevron">
            <a:avLst/>
          </a:prstGeom>
          <a:solidFill>
            <a:srgbClr val="14532D"/>
          </a:solidFill>
          <a:ln/>
        </p:spPr>
      </p:sp>
      <p:sp>
        <p:nvSpPr>
          <p:cNvPr id="12" name="Text 9"/>
          <p:cNvSpPr txBox="1"/>
          <p:nvPr/>
        </p:nvSpPr>
        <p:spPr>
          <a:xfrm>
            <a:off x="8494776" y="1645920"/>
            <a:ext cx="3008376" cy="56692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3 · Il ruolo degli ormoni</a:t>
            </a:r>
            <a:endParaRPr lang="en-US" sz="1700" dirty="0"/>
          </a:p>
        </p:txBody>
      </p:sp>
      <p:sp>
        <p:nvSpPr>
          <p:cNvPr id="13" name="3 · Il ruolo degli ormoni card"/>
          <p:cNvSpPr/>
          <p:nvPr/>
        </p:nvSpPr>
        <p:spPr>
          <a:xfrm>
            <a:off x="8083296" y="2395728"/>
            <a:ext cx="3557016" cy="3776472"/>
          </a:xfrm>
          <a:prstGeom prst="roundRect">
            <a:avLst>
              <a:gd name="adj" fmla="val 3085"/>
            </a:avLst>
          </a:prstGeom>
          <a:solidFill>
            <a:srgbClr val="EAF4EC"/>
          </a:solidFill>
          <a:ln/>
        </p:spPr>
      </p:sp>
      <p:sp>
        <p:nvSpPr>
          <p:cNvPr id="14" name="Text 11"/>
          <p:cNvSpPr txBox="1"/>
          <p:nvPr/>
        </p:nvSpPr>
        <p:spPr>
          <a:xfrm>
            <a:off x="777240" y="2606040"/>
            <a:ext cx="3154680" cy="160020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1F2A24"/>
                </a:solidFill>
                <a:latin typeface="Calibri" pitchFamily="34" charset="0"/>
                <a:ea typeface="Calibri" pitchFamily="34" charset="-122"/>
                <a:cs typeface="Calibri" pitchFamily="34" charset="-120"/>
              </a:rPr>
              <a:t>Lacerazioni del muscolo elevatore dell’ano</a:t>
            </a:r>
            <a:endParaRPr lang="en-US" sz="1400" dirty="0"/>
          </a:p>
          <a:p>
            <a:pPr marL="177800" indent="-177800">
              <a:spcAft>
                <a:spcPts val="500"/>
              </a:spcAft>
              <a:buSzPct val="100000"/>
              <a:buChar char="•"/>
            </a:pPr>
            <a:r>
              <a:rPr lang="en-US" sz="1400" dirty="0">
                <a:solidFill>
                  <a:srgbClr val="1F2A24"/>
                </a:solidFill>
                <a:latin typeface="Calibri" pitchFamily="34" charset="0"/>
                <a:ea typeface="Calibri" pitchFamily="34" charset="-122"/>
                <a:cs typeface="Calibri" pitchFamily="34" charset="-120"/>
              </a:rPr>
              <a:t>Denervazione parziale del pudendo</a:t>
            </a:r>
            <a:endParaRPr lang="en-US" sz="1400" dirty="0"/>
          </a:p>
          <a:p>
            <a:pPr marL="177800" indent="-177800">
              <a:spcAft>
                <a:spcPts val="500"/>
              </a:spcAft>
              <a:buSzPct val="100000"/>
              <a:buChar char="•"/>
            </a:pPr>
            <a:r>
              <a:rPr lang="en-US" sz="1400" dirty="0">
                <a:solidFill>
                  <a:srgbClr val="1F2A24"/>
                </a:solidFill>
                <a:latin typeface="Calibri" pitchFamily="34" charset="0"/>
                <a:ea typeface="Calibri" pitchFamily="34" charset="-122"/>
                <a:cs typeface="Calibri" pitchFamily="34" charset="-120"/>
              </a:rPr>
              <a:t>Danno alla fascia endopelvica</a:t>
            </a:r>
            <a:endParaRPr lang="en-US" sz="1400" dirty="0"/>
          </a:p>
        </p:txBody>
      </p:sp>
      <p:sp>
        <p:nvSpPr>
          <p:cNvPr id="15" name="Esiti"/>
          <p:cNvSpPr/>
          <p:nvPr/>
        </p:nvSpPr>
        <p:spPr>
          <a:xfrm>
            <a:off x="777240" y="4343400"/>
            <a:ext cx="3108960" cy="1645920"/>
          </a:xfrm>
          <a:prstGeom prst="roundRect">
            <a:avLst>
              <a:gd name="adj" fmla="val 6667"/>
            </a:avLst>
          </a:prstGeom>
          <a:solidFill>
            <a:srgbClr val="FFFFFF"/>
          </a:solidFill>
          <a:ln w="12700">
            <a:solidFill>
              <a:srgbClr val="F0B8C9"/>
            </a:solidFill>
            <a:prstDash val="solid"/>
          </a:ln>
        </p:spPr>
      </p:sp>
      <p:sp>
        <p:nvSpPr>
          <p:cNvPr id="16" name="Esiti bg"/>
          <p:cNvSpPr/>
          <p:nvPr/>
        </p:nvSpPr>
        <p:spPr>
          <a:xfrm>
            <a:off x="960120" y="4498848"/>
            <a:ext cx="457200" cy="457200"/>
          </a:xfrm>
          <a:prstGeom prst="ellipse">
            <a:avLst/>
          </a:prstGeom>
          <a:solidFill>
            <a:srgbClr val="C2416B"/>
          </a:solidFill>
          <a:ln/>
        </p:spPr>
      </p:sp>
      <p:pic>
        <p:nvPicPr>
          <p:cNvPr id="17" name="Esiti" descr="Esiti">    </p:cNvPr>
          <p:cNvPicPr>
            <a:picLocks noChangeAspect="1"/>
          </p:cNvPicPr>
          <p:nvPr/>
        </p:nvPicPr>
        <p:blipFill>
          <a:blip r:embed="rId1"/>
          <a:stretch>
            <a:fillRect/>
          </a:stretch>
        </p:blipFill>
        <p:spPr>
          <a:xfrm>
            <a:off x="1060704" y="4599432"/>
            <a:ext cx="256032" cy="256032"/>
          </a:xfrm>
          <a:prstGeom prst="rect">
            <a:avLst/>
          </a:prstGeom>
        </p:spPr>
      </p:pic>
      <p:sp>
        <p:nvSpPr>
          <p:cNvPr id="18" name="Text 14"/>
          <p:cNvSpPr txBox="1"/>
          <p:nvPr/>
        </p:nvSpPr>
        <p:spPr>
          <a:xfrm>
            <a:off x="1554480" y="4498848"/>
            <a:ext cx="2194560" cy="457200"/>
          </a:xfrm>
          <a:prstGeom prst="rect">
            <a:avLst/>
          </a:prstGeom>
          <a:noFill/>
          <a:ln/>
        </p:spPr>
        <p:txBody>
          <a:bodyPr wrap="square" lIns="0" tIns="0" rIns="0" bIns="0" rtlCol="0" anchor="ctr"/>
          <a:lstStyle/>
          <a:p>
            <a:pPr indent="0" marL="0">
              <a:buNone/>
            </a:pPr>
            <a:r>
              <a:rPr lang="en-US" sz="1500" b="1" dirty="0">
                <a:solidFill>
                  <a:srgbClr val="C2416B"/>
                </a:solidFill>
                <a:latin typeface="Calibri" pitchFamily="34" charset="0"/>
                <a:ea typeface="Calibri" pitchFamily="34" charset="-122"/>
                <a:cs typeface="Calibri" pitchFamily="34" charset="-120"/>
              </a:rPr>
              <a:t>Esiti</a:t>
            </a:r>
            <a:endParaRPr lang="en-US" sz="1500" dirty="0"/>
          </a:p>
        </p:txBody>
      </p:sp>
      <p:sp>
        <p:nvSpPr>
          <p:cNvPr id="19" name="Text 15"/>
          <p:cNvSpPr txBox="1"/>
          <p:nvPr/>
        </p:nvSpPr>
        <p:spPr>
          <a:xfrm>
            <a:off x="960120" y="5074920"/>
            <a:ext cx="2788920" cy="822960"/>
          </a:xfrm>
          <a:prstGeom prst="rect">
            <a:avLst/>
          </a:prstGeom>
          <a:noFill/>
          <a:ln/>
        </p:spPr>
        <p:txBody>
          <a:bodyPr wrap="square" lIns="0" tIns="0" rIns="0" bIns="0" rtlCol="0" anchor="t"/>
          <a:lstStyle/>
          <a:p>
            <a:pPr indent="0" marL="0">
              <a:buNone/>
            </a:pPr>
            <a:r>
              <a:rPr lang="en-US" sz="1400" dirty="0">
                <a:solidFill>
                  <a:srgbClr val="1F2A24"/>
                </a:solidFill>
                <a:latin typeface="Calibri" pitchFamily="34" charset="0"/>
                <a:ea typeface="Calibri" pitchFamily="34" charset="-122"/>
                <a:cs typeface="Calibri" pitchFamily="34" charset="-120"/>
              </a:rPr>
              <a:t>Incontinenza da stress, prolasso, disfunzione sessuale</a:t>
            </a:r>
            <a:endParaRPr lang="en-US" sz="1400" dirty="0"/>
          </a:p>
        </p:txBody>
      </p:sp>
      <p:sp>
        <p:nvSpPr>
          <p:cNvPr id="20" name="PRP bg"/>
          <p:cNvSpPr/>
          <p:nvPr/>
        </p:nvSpPr>
        <p:spPr>
          <a:xfrm>
            <a:off x="4526280" y="2651760"/>
            <a:ext cx="512064" cy="512064"/>
          </a:xfrm>
          <a:prstGeom prst="ellipse">
            <a:avLst/>
          </a:prstGeom>
          <a:solidFill>
            <a:srgbClr val="22833B"/>
          </a:solidFill>
          <a:ln/>
        </p:spPr>
      </p:sp>
      <p:pic>
        <p:nvPicPr>
          <p:cNvPr id="21" name="PRP" descr="PRP">    </p:cNvPr>
          <p:cNvPicPr>
            <a:picLocks noChangeAspect="1"/>
          </p:cNvPicPr>
          <p:nvPr/>
        </p:nvPicPr>
        <p:blipFill>
          <a:blip r:embed="rId2"/>
          <a:stretch>
            <a:fillRect/>
          </a:stretch>
        </p:blipFill>
        <p:spPr>
          <a:xfrm>
            <a:off x="4638934" y="2764414"/>
            <a:ext cx="286756" cy="286756"/>
          </a:xfrm>
          <a:prstGeom prst="rect">
            <a:avLst/>
          </a:prstGeom>
        </p:spPr>
      </p:pic>
      <p:sp>
        <p:nvSpPr>
          <p:cNvPr id="22" name="Text 17"/>
          <p:cNvSpPr txBox="1"/>
          <p:nvPr/>
        </p:nvSpPr>
        <p:spPr>
          <a:xfrm>
            <a:off x="5212080" y="2606040"/>
            <a:ext cx="2514600" cy="1051560"/>
          </a:xfrm>
          <a:prstGeom prst="rect">
            <a:avLst/>
          </a:prstGeom>
          <a:noFill/>
          <a:ln/>
        </p:spPr>
        <p:txBody>
          <a:bodyPr wrap="square" lIns="0" tIns="0" rIns="0" bIns="0" rtlCol="0" anchor="t"/>
          <a:lstStyle/>
          <a:p>
            <a:pPr indent="0" marL="0">
              <a:lnSpc>
                <a:spcPct val="95000"/>
              </a:lnSpc>
              <a:buNone/>
            </a:pPr>
            <a:r>
              <a:rPr lang="en-US" sz="1500" b="1" dirty="0">
                <a:solidFill>
                  <a:srgbClr val="14532D"/>
                </a:solidFill>
                <a:latin typeface="Calibri" pitchFamily="34" charset="0"/>
                <a:ea typeface="Calibri" pitchFamily="34" charset="-122"/>
                <a:cs typeface="Calibri" pitchFamily="34" charset="-120"/>
              </a:rPr>
              <a:t>PRP</a:t>
            </a:r>
            <a:endParaRPr lang="en-US" sz="1500" dirty="0"/>
          </a:p>
          <a:p>
            <a:pPr indent="0" marL="0">
              <a:lnSpc>
                <a:spcPct val="95000"/>
              </a:lnSpc>
              <a:buNone/>
            </a:pPr>
            <a:r>
              <a:rPr lang="en-US" sz="1300" dirty="0">
                <a:solidFill>
                  <a:srgbClr val="1F2A24"/>
                </a:solidFill>
                <a:latin typeface="Calibri" pitchFamily="34" charset="0"/>
                <a:ea typeface="Calibri" pitchFamily="34" charset="-122"/>
                <a:cs typeface="Calibri" pitchFamily="34" charset="-120"/>
              </a:rPr>
              <a:t>Nello iato elevatorio e nelle lacerazioni residue</a:t>
            </a:r>
            <a:endParaRPr lang="en-US" sz="1500" dirty="0"/>
          </a:p>
        </p:txBody>
      </p:sp>
      <p:sp>
        <p:nvSpPr>
          <p:cNvPr id="23" name="Radiofrequenza bg"/>
          <p:cNvSpPr/>
          <p:nvPr/>
        </p:nvSpPr>
        <p:spPr>
          <a:xfrm>
            <a:off x="4526280" y="3822192"/>
            <a:ext cx="512064" cy="512064"/>
          </a:xfrm>
          <a:prstGeom prst="ellipse">
            <a:avLst/>
          </a:prstGeom>
          <a:solidFill>
            <a:srgbClr val="22833B"/>
          </a:solidFill>
          <a:ln/>
        </p:spPr>
      </p:sp>
      <p:pic>
        <p:nvPicPr>
          <p:cNvPr id="24" name="Radiofrequenza" descr="Radiofrequenza">    </p:cNvPr>
          <p:cNvPicPr>
            <a:picLocks noChangeAspect="1"/>
          </p:cNvPicPr>
          <p:nvPr/>
        </p:nvPicPr>
        <p:blipFill>
          <a:blip r:embed="rId3"/>
          <a:stretch>
            <a:fillRect/>
          </a:stretch>
        </p:blipFill>
        <p:spPr>
          <a:xfrm>
            <a:off x="4638934" y="3934846"/>
            <a:ext cx="286756" cy="286756"/>
          </a:xfrm>
          <a:prstGeom prst="rect">
            <a:avLst/>
          </a:prstGeom>
        </p:spPr>
      </p:pic>
      <p:sp>
        <p:nvSpPr>
          <p:cNvPr id="25" name="Text 19"/>
          <p:cNvSpPr txBox="1"/>
          <p:nvPr/>
        </p:nvSpPr>
        <p:spPr>
          <a:xfrm>
            <a:off x="5212080" y="3776472"/>
            <a:ext cx="2514600" cy="1051560"/>
          </a:xfrm>
          <a:prstGeom prst="rect">
            <a:avLst/>
          </a:prstGeom>
          <a:noFill/>
          <a:ln/>
        </p:spPr>
        <p:txBody>
          <a:bodyPr wrap="square" lIns="0" tIns="0" rIns="0" bIns="0" rtlCol="0" anchor="t"/>
          <a:lstStyle/>
          <a:p>
            <a:pPr indent="0" marL="0">
              <a:lnSpc>
                <a:spcPct val="95000"/>
              </a:lnSpc>
              <a:buNone/>
            </a:pPr>
            <a:r>
              <a:rPr lang="en-US" sz="1500" b="1" dirty="0">
                <a:solidFill>
                  <a:srgbClr val="14532D"/>
                </a:solidFill>
                <a:latin typeface="Calibri" pitchFamily="34" charset="0"/>
                <a:ea typeface="Calibri" pitchFamily="34" charset="-122"/>
                <a:cs typeface="Calibri" pitchFamily="34" charset="-120"/>
              </a:rPr>
              <a:t>Radiofrequenza</a:t>
            </a:r>
            <a:endParaRPr lang="en-US" sz="1500" dirty="0"/>
          </a:p>
          <a:p>
            <a:pPr indent="0" marL="0">
              <a:lnSpc>
                <a:spcPct val="95000"/>
              </a:lnSpc>
              <a:buNone/>
            </a:pPr>
            <a:r>
              <a:rPr lang="en-US" sz="1300" dirty="0">
                <a:solidFill>
                  <a:srgbClr val="1F2A24"/>
                </a:solidFill>
                <a:latin typeface="Calibri" pitchFamily="34" charset="0"/>
                <a:ea typeface="Calibri" pitchFamily="34" charset="-122"/>
                <a:cs typeface="Calibri" pitchFamily="34" charset="-120"/>
              </a:rPr>
              <a:t>Neocollagenesi, utile nel cistocele I–II grado</a:t>
            </a:r>
            <a:endParaRPr lang="en-US" sz="1500" dirty="0"/>
          </a:p>
        </p:txBody>
      </p:sp>
      <p:sp>
        <p:nvSpPr>
          <p:cNvPr id="26" name="Esosomi da MSC bg"/>
          <p:cNvSpPr/>
          <p:nvPr/>
        </p:nvSpPr>
        <p:spPr>
          <a:xfrm>
            <a:off x="4526280" y="4992624"/>
            <a:ext cx="512064" cy="512064"/>
          </a:xfrm>
          <a:prstGeom prst="ellipse">
            <a:avLst/>
          </a:prstGeom>
          <a:solidFill>
            <a:srgbClr val="22833B"/>
          </a:solidFill>
          <a:ln/>
        </p:spPr>
      </p:sp>
      <p:pic>
        <p:nvPicPr>
          <p:cNvPr id="27" name="Esosomi da MSC" descr="Esosomi da MSC">    </p:cNvPr>
          <p:cNvPicPr>
            <a:picLocks noChangeAspect="1"/>
          </p:cNvPicPr>
          <p:nvPr/>
        </p:nvPicPr>
        <p:blipFill>
          <a:blip r:embed="rId4"/>
          <a:stretch>
            <a:fillRect/>
          </a:stretch>
        </p:blipFill>
        <p:spPr>
          <a:xfrm>
            <a:off x="4638934" y="5105278"/>
            <a:ext cx="286756" cy="286756"/>
          </a:xfrm>
          <a:prstGeom prst="rect">
            <a:avLst/>
          </a:prstGeom>
        </p:spPr>
      </p:pic>
      <p:sp>
        <p:nvSpPr>
          <p:cNvPr id="28" name="Text 21"/>
          <p:cNvSpPr txBox="1"/>
          <p:nvPr/>
        </p:nvSpPr>
        <p:spPr>
          <a:xfrm>
            <a:off x="5212080" y="4946904"/>
            <a:ext cx="2514600" cy="1051560"/>
          </a:xfrm>
          <a:prstGeom prst="rect">
            <a:avLst/>
          </a:prstGeom>
          <a:noFill/>
          <a:ln/>
        </p:spPr>
        <p:txBody>
          <a:bodyPr wrap="square" lIns="0" tIns="0" rIns="0" bIns="0" rtlCol="0" anchor="t"/>
          <a:lstStyle/>
          <a:p>
            <a:pPr indent="0" marL="0">
              <a:lnSpc>
                <a:spcPct val="95000"/>
              </a:lnSpc>
              <a:buNone/>
            </a:pPr>
            <a:r>
              <a:rPr lang="en-US" sz="1500" b="1" dirty="0">
                <a:solidFill>
                  <a:srgbClr val="14532D"/>
                </a:solidFill>
                <a:latin typeface="Calibri" pitchFamily="34" charset="0"/>
                <a:ea typeface="Calibri" pitchFamily="34" charset="-122"/>
                <a:cs typeface="Calibri" pitchFamily="34" charset="-120"/>
              </a:rPr>
              <a:t>Esosomi da MSC</a:t>
            </a:r>
            <a:endParaRPr lang="en-US" sz="1500" dirty="0"/>
          </a:p>
          <a:p>
            <a:pPr indent="0" marL="0">
              <a:lnSpc>
                <a:spcPct val="95000"/>
              </a:lnSpc>
              <a:buNone/>
            </a:pPr>
            <a:r>
              <a:rPr lang="en-US" sz="1300" dirty="0">
                <a:solidFill>
                  <a:srgbClr val="1F2A24"/>
                </a:solidFill>
                <a:latin typeface="Calibri" pitchFamily="34" charset="0"/>
                <a:ea typeface="Calibri" pitchFamily="34" charset="-122"/>
                <a:cs typeface="Calibri" pitchFamily="34" charset="-120"/>
              </a:rPr>
              <a:t>Dati preclinici su fibrosi e nervo pudendo</a:t>
            </a:r>
            <a:endParaRPr lang="en-US" sz="1500" dirty="0"/>
          </a:p>
        </p:txBody>
      </p:sp>
      <p:sp>
        <p:nvSpPr>
          <p:cNvPr id="29" name="Shape 22"/>
          <p:cNvSpPr/>
          <p:nvPr/>
        </p:nvSpPr>
        <p:spPr>
          <a:xfrm>
            <a:off x="8321040" y="2578608"/>
            <a:ext cx="3081528" cy="438912"/>
          </a:xfrm>
          <a:prstGeom prst="roundRect">
            <a:avLst>
              <a:gd name="adj" fmla="val 16667"/>
            </a:avLst>
          </a:prstGeom>
          <a:solidFill>
            <a:srgbClr val="FFFFFF"/>
          </a:solidFill>
          <a:ln w="12700">
            <a:solidFill>
              <a:srgbClr val="CFE3D3"/>
            </a:solidFill>
            <a:prstDash val="solid"/>
          </a:ln>
        </p:spPr>
      </p:sp>
      <p:sp>
        <p:nvSpPr>
          <p:cNvPr id="30" name="Text 23"/>
          <p:cNvSpPr txBox="1"/>
          <p:nvPr/>
        </p:nvSpPr>
        <p:spPr>
          <a:xfrm>
            <a:off x="8412480" y="2578608"/>
            <a:ext cx="2898648" cy="438912"/>
          </a:xfrm>
          <a:prstGeom prst="rect">
            <a:avLst/>
          </a:prstGeom>
          <a:noFill/>
          <a:ln/>
        </p:spPr>
        <p:txBody>
          <a:bodyPr wrap="square" lIns="0" tIns="0" rIns="0" bIns="0" rtlCol="0" anchor="ctr"/>
          <a:lstStyle/>
          <a:p>
            <a:pPr algn="ctr" indent="0" marL="0">
              <a:buNone/>
            </a:pPr>
            <a:r>
              <a:rPr lang="en-US" sz="1300" dirty="0">
                <a:solidFill>
                  <a:srgbClr val="1F2A24"/>
                </a:solidFill>
                <a:latin typeface="Calibri" pitchFamily="34" charset="0"/>
                <a:ea typeface="Calibri" pitchFamily="34" charset="-122"/>
                <a:cs typeface="Calibri" pitchFamily="34" charset="-120"/>
              </a:rPr>
              <a:t>Post-partum e allattamento</a:t>
            </a:r>
            <a:endParaRPr lang="en-US" sz="1300" dirty="0"/>
          </a:p>
        </p:txBody>
      </p:sp>
      <p:sp>
        <p:nvSpPr>
          <p:cNvPr id="31" name="Shape 24"/>
          <p:cNvSpPr/>
          <p:nvPr/>
        </p:nvSpPr>
        <p:spPr>
          <a:xfrm>
            <a:off x="9756648" y="3035808"/>
            <a:ext cx="201168" cy="137160"/>
          </a:xfrm>
          <a:prstGeom prst="downArrow">
            <a:avLst/>
          </a:prstGeom>
          <a:solidFill>
            <a:srgbClr val="8CBF3F"/>
          </a:solidFill>
          <a:ln/>
        </p:spPr>
      </p:sp>
      <p:sp>
        <p:nvSpPr>
          <p:cNvPr id="32" name="Shape 25"/>
          <p:cNvSpPr/>
          <p:nvPr/>
        </p:nvSpPr>
        <p:spPr>
          <a:xfrm>
            <a:off x="8321040" y="3182112"/>
            <a:ext cx="3081528" cy="438912"/>
          </a:xfrm>
          <a:prstGeom prst="roundRect">
            <a:avLst>
              <a:gd name="adj" fmla="val 16667"/>
            </a:avLst>
          </a:prstGeom>
          <a:solidFill>
            <a:srgbClr val="FFFFFF"/>
          </a:solidFill>
          <a:ln w="12700">
            <a:solidFill>
              <a:srgbClr val="CFE3D3"/>
            </a:solidFill>
            <a:prstDash val="solid"/>
          </a:ln>
        </p:spPr>
      </p:sp>
      <p:sp>
        <p:nvSpPr>
          <p:cNvPr id="33" name="Text 26"/>
          <p:cNvSpPr txBox="1"/>
          <p:nvPr/>
        </p:nvSpPr>
        <p:spPr>
          <a:xfrm>
            <a:off x="8412480" y="3182112"/>
            <a:ext cx="2898648" cy="438912"/>
          </a:xfrm>
          <a:prstGeom prst="rect">
            <a:avLst/>
          </a:prstGeom>
          <a:noFill/>
          <a:ln/>
        </p:spPr>
        <p:txBody>
          <a:bodyPr wrap="square" lIns="0" tIns="0" rIns="0" bIns="0" rtlCol="0" anchor="ctr"/>
          <a:lstStyle/>
          <a:p>
            <a:pPr algn="ctr" indent="0" marL="0">
              <a:buNone/>
            </a:pPr>
            <a:r>
              <a:rPr lang="en-US" sz="1300" dirty="0">
                <a:solidFill>
                  <a:srgbClr val="1F2A24"/>
                </a:solidFill>
                <a:latin typeface="Calibri" pitchFamily="34" charset="0"/>
                <a:ea typeface="Calibri" pitchFamily="34" charset="-122"/>
                <a:cs typeface="Calibri" pitchFamily="34" charset="-120"/>
              </a:rPr>
              <a:t>Prolattina ↑ → ipoestrogenismo</a:t>
            </a:r>
            <a:endParaRPr lang="en-US" sz="1300" dirty="0"/>
          </a:p>
        </p:txBody>
      </p:sp>
      <p:sp>
        <p:nvSpPr>
          <p:cNvPr id="34" name="Shape 27"/>
          <p:cNvSpPr/>
          <p:nvPr/>
        </p:nvSpPr>
        <p:spPr>
          <a:xfrm>
            <a:off x="9756648" y="3639312"/>
            <a:ext cx="201168" cy="137160"/>
          </a:xfrm>
          <a:prstGeom prst="downArrow">
            <a:avLst/>
          </a:prstGeom>
          <a:solidFill>
            <a:srgbClr val="8CBF3F"/>
          </a:solidFill>
          <a:ln/>
        </p:spPr>
      </p:sp>
      <p:sp>
        <p:nvSpPr>
          <p:cNvPr id="35" name="Shape 28"/>
          <p:cNvSpPr/>
          <p:nvPr/>
        </p:nvSpPr>
        <p:spPr>
          <a:xfrm>
            <a:off x="8321040" y="3785616"/>
            <a:ext cx="3081528" cy="438912"/>
          </a:xfrm>
          <a:prstGeom prst="roundRect">
            <a:avLst>
              <a:gd name="adj" fmla="val 16667"/>
            </a:avLst>
          </a:prstGeom>
          <a:solidFill>
            <a:srgbClr val="FFFFFF"/>
          </a:solidFill>
          <a:ln w="12700">
            <a:solidFill>
              <a:srgbClr val="CFE3D3"/>
            </a:solidFill>
            <a:prstDash val="solid"/>
          </a:ln>
        </p:spPr>
      </p:sp>
      <p:sp>
        <p:nvSpPr>
          <p:cNvPr id="36" name="Text 29"/>
          <p:cNvSpPr txBox="1"/>
          <p:nvPr/>
        </p:nvSpPr>
        <p:spPr>
          <a:xfrm>
            <a:off x="8412480" y="3785616"/>
            <a:ext cx="2898648" cy="438912"/>
          </a:xfrm>
          <a:prstGeom prst="rect">
            <a:avLst/>
          </a:prstGeom>
          <a:noFill/>
          <a:ln/>
        </p:spPr>
        <p:txBody>
          <a:bodyPr wrap="square" lIns="0" tIns="0" rIns="0" bIns="0" rtlCol="0" anchor="ctr"/>
          <a:lstStyle/>
          <a:p>
            <a:pPr algn="ctr" indent="0" marL="0">
              <a:buNone/>
            </a:pPr>
            <a:r>
              <a:rPr lang="en-US" sz="1300" dirty="0">
                <a:solidFill>
                  <a:srgbClr val="1F2A24"/>
                </a:solidFill>
                <a:latin typeface="Calibri" pitchFamily="34" charset="0"/>
                <a:ea typeface="Calibri" pitchFamily="34" charset="-122"/>
                <a:cs typeface="Calibri" pitchFamily="34" charset="-120"/>
              </a:rPr>
              <a:t>Atrofia tissutale</a:t>
            </a:r>
            <a:endParaRPr lang="en-US" sz="1300" dirty="0"/>
          </a:p>
        </p:txBody>
      </p:sp>
      <p:sp>
        <p:nvSpPr>
          <p:cNvPr id="37" name="Shape 30"/>
          <p:cNvSpPr/>
          <p:nvPr/>
        </p:nvSpPr>
        <p:spPr>
          <a:xfrm>
            <a:off x="9756648" y="4242816"/>
            <a:ext cx="201168" cy="137160"/>
          </a:xfrm>
          <a:prstGeom prst="downArrow">
            <a:avLst/>
          </a:prstGeom>
          <a:solidFill>
            <a:srgbClr val="8CBF3F"/>
          </a:solidFill>
          <a:ln/>
        </p:spPr>
      </p:sp>
      <p:sp>
        <p:nvSpPr>
          <p:cNvPr id="38" name="Shape 31"/>
          <p:cNvSpPr/>
          <p:nvPr/>
        </p:nvSpPr>
        <p:spPr>
          <a:xfrm>
            <a:off x="8321040" y="4389120"/>
            <a:ext cx="3081528" cy="438912"/>
          </a:xfrm>
          <a:prstGeom prst="roundRect">
            <a:avLst>
              <a:gd name="adj" fmla="val 16667"/>
            </a:avLst>
          </a:prstGeom>
          <a:solidFill>
            <a:srgbClr val="FFFFFF"/>
          </a:solidFill>
          <a:ln w="12700">
            <a:solidFill>
              <a:srgbClr val="CFE3D3"/>
            </a:solidFill>
            <a:prstDash val="solid"/>
          </a:ln>
        </p:spPr>
      </p:sp>
      <p:sp>
        <p:nvSpPr>
          <p:cNvPr id="39" name="Text 32"/>
          <p:cNvSpPr txBox="1"/>
          <p:nvPr/>
        </p:nvSpPr>
        <p:spPr>
          <a:xfrm>
            <a:off x="8412480" y="4389120"/>
            <a:ext cx="2898648" cy="438912"/>
          </a:xfrm>
          <a:prstGeom prst="rect">
            <a:avLst/>
          </a:prstGeom>
          <a:noFill/>
          <a:ln/>
        </p:spPr>
        <p:txBody>
          <a:bodyPr wrap="square" lIns="0" tIns="0" rIns="0" bIns="0" rtlCol="0" anchor="ctr"/>
          <a:lstStyle/>
          <a:p>
            <a:pPr algn="ctr" indent="0" marL="0">
              <a:buNone/>
            </a:pPr>
            <a:r>
              <a:rPr lang="en-US" sz="1300" dirty="0">
                <a:solidFill>
                  <a:srgbClr val="1F2A24"/>
                </a:solidFill>
                <a:latin typeface="Calibri" pitchFamily="34" charset="0"/>
                <a:ea typeface="Calibri" pitchFamily="34" charset="-122"/>
                <a:cs typeface="Calibri" pitchFamily="34" charset="-120"/>
              </a:rPr>
              <a:t>Minore risposta agli stimoli rigenerativi</a:t>
            </a:r>
            <a:endParaRPr lang="en-US" sz="1300" dirty="0"/>
          </a:p>
        </p:txBody>
      </p:sp>
      <p:sp>
        <p:nvSpPr>
          <p:cNvPr id="40" name="Soluzione"/>
          <p:cNvSpPr/>
          <p:nvPr/>
        </p:nvSpPr>
        <p:spPr>
          <a:xfrm>
            <a:off x="8321040" y="5074920"/>
            <a:ext cx="3081528" cy="914400"/>
          </a:xfrm>
          <a:prstGeom prst="roundRect">
            <a:avLst>
              <a:gd name="adj" fmla="val 12000"/>
            </a:avLst>
          </a:prstGeom>
          <a:solidFill>
            <a:srgbClr val="14532D"/>
          </a:solidFill>
          <a:ln/>
        </p:spPr>
      </p:sp>
      <p:sp>
        <p:nvSpPr>
          <p:cNvPr id="41" name="Estradiolo bg"/>
          <p:cNvSpPr/>
          <p:nvPr/>
        </p:nvSpPr>
        <p:spPr>
          <a:xfrm>
            <a:off x="8458200" y="5276088"/>
            <a:ext cx="512064" cy="512064"/>
          </a:xfrm>
          <a:prstGeom prst="ellipse">
            <a:avLst/>
          </a:prstGeom>
          <a:solidFill>
            <a:srgbClr val="8CBF3F"/>
          </a:solidFill>
          <a:ln/>
        </p:spPr>
      </p:sp>
      <p:pic>
        <p:nvPicPr>
          <p:cNvPr id="42" name="Estradiolo" descr="Estradiolo">    </p:cNvPr>
          <p:cNvPicPr>
            <a:picLocks noChangeAspect="1"/>
          </p:cNvPicPr>
          <p:nvPr/>
        </p:nvPicPr>
        <p:blipFill>
          <a:blip r:embed="rId5"/>
          <a:stretch>
            <a:fillRect/>
          </a:stretch>
        </p:blipFill>
        <p:spPr>
          <a:xfrm>
            <a:off x="8570854" y="5388742"/>
            <a:ext cx="286756" cy="286756"/>
          </a:xfrm>
          <a:prstGeom prst="rect">
            <a:avLst/>
          </a:prstGeom>
        </p:spPr>
      </p:pic>
      <p:sp>
        <p:nvSpPr>
          <p:cNvPr id="43" name="Text 35"/>
          <p:cNvSpPr txBox="1"/>
          <p:nvPr/>
        </p:nvSpPr>
        <p:spPr>
          <a:xfrm>
            <a:off x="9098280" y="5120640"/>
            <a:ext cx="2240280" cy="8229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Estradiolo topico vaginale per ripristinare l’assetto estrogenico</a:t>
            </a:r>
            <a:endParaRPr lang="en-US" sz="13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548640" y="292608"/>
            <a:ext cx="10241280" cy="658368"/>
          </a:xfrm>
          <a:prstGeom prst="rect">
            <a:avLst/>
          </a:prstGeom>
          <a:noFill/>
          <a:ln/>
        </p:spPr>
        <p:txBody>
          <a:bodyPr wrap="square" lIns="0" tIns="0" rIns="0" bIns="0" rtlCol="0" anchor="ctr"/>
          <a:lstStyle/>
          <a:p>
            <a:pPr algn="l" indent="0" marL="0">
              <a:buNone/>
            </a:pPr>
            <a:r>
              <a:rPr lang="en-US" sz="3000" b="1" dirty="0">
                <a:solidFill>
                  <a:srgbClr val="14532D"/>
                </a:solidFill>
                <a:latin typeface="Cambria" pitchFamily="34" charset="0"/>
                <a:ea typeface="Cambria" pitchFamily="34" charset="-122"/>
                <a:cs typeface="Cambria" pitchFamily="34" charset="-120"/>
              </a:rPr>
              <a:t>Supporto endometriale e fertilità</a:t>
            </a:r>
            <a:endParaRPr lang="en-US" sz="3000" dirty="0"/>
          </a:p>
        </p:txBody>
      </p:sp>
      <p:sp>
        <p:nvSpPr>
          <p:cNvPr id="3" name="Text 1"/>
          <p:cNvSpPr/>
          <p:nvPr>
            <p:ph idx="103" type="body" hasCustomPrompt="1"/>
          </p:nvPr>
        </p:nvSpPr>
        <p:spPr>
          <a:xfrm>
            <a:off x="548640" y="969264"/>
            <a:ext cx="10241280" cy="384048"/>
          </a:xfrm>
          <a:prstGeom prst="rect">
            <a:avLst/>
          </a:prstGeom>
          <a:noFill/>
          <a:ln/>
        </p:spPr>
        <p:txBody>
          <a:bodyPr wrap="square" lIns="0" tIns="0" rIns="0" bIns="0" rtlCol="0" anchor="t"/>
          <a:lstStyle/>
          <a:p>
            <a:pPr indent="0" marL="0">
              <a:buNone/>
            </a:pPr>
            <a:r>
              <a:rPr lang="en-US" sz="1500" i="1" dirty="0">
                <a:solidFill>
                  <a:srgbClr val="5B6B60"/>
                </a:solidFill>
                <a:latin typeface="Calibri" pitchFamily="34" charset="0"/>
                <a:ea typeface="Calibri" pitchFamily="34" charset="-122"/>
                <a:cs typeface="Calibri" pitchFamily="34" charset="-120"/>
              </a:rPr>
              <a:t>L’endometrio si rigenera ogni mese per oltre trent’anni, ma non sempre ce la fa</a:t>
            </a:r>
            <a:endParaRPr lang="en-US" sz="1500" dirty="0"/>
          </a:p>
        </p:txBody>
      </p:sp>
      <p:sp>
        <p:nvSpPr>
          <p:cNvPr id="5" name="Endometrio sottile"/>
          <p:cNvSpPr/>
          <p:nvPr/>
        </p:nvSpPr>
        <p:spPr>
          <a:xfrm>
            <a:off x="548640" y="1645920"/>
            <a:ext cx="5394960" cy="3429000"/>
          </a:xfrm>
          <a:prstGeom prst="roundRect">
            <a:avLst>
              <a:gd name="adj" fmla="val 3200"/>
            </a:avLst>
          </a:prstGeom>
          <a:solidFill>
            <a:srgbClr val="EAF4EC"/>
          </a:solidFill>
          <a:ln/>
        </p:spPr>
      </p:sp>
      <p:sp>
        <p:nvSpPr>
          <p:cNvPr id="6" name="Text 3"/>
          <p:cNvSpPr txBox="1"/>
          <p:nvPr/>
        </p:nvSpPr>
        <p:spPr>
          <a:xfrm>
            <a:off x="822960" y="1828800"/>
            <a:ext cx="2743200" cy="365760"/>
          </a:xfrm>
          <a:prstGeom prst="rect">
            <a:avLst/>
          </a:prstGeom>
          <a:noFill/>
          <a:ln/>
        </p:spPr>
        <p:txBody>
          <a:bodyPr wrap="square" lIns="0" tIns="0" rIns="0" bIns="0" rtlCol="0" anchor="t"/>
          <a:lstStyle/>
          <a:p>
            <a:pPr indent="0" marL="0">
              <a:buNone/>
            </a:pPr>
            <a:r>
              <a:rPr lang="en-US" sz="1800" b="1" dirty="0">
                <a:solidFill>
                  <a:srgbClr val="14532D"/>
                </a:solidFill>
                <a:latin typeface="Cambria" pitchFamily="34" charset="0"/>
                <a:ea typeface="Cambria" pitchFamily="34" charset="-122"/>
                <a:cs typeface="Cambria" pitchFamily="34" charset="-120"/>
              </a:rPr>
              <a:t>Endometrio sottile</a:t>
            </a:r>
            <a:endParaRPr lang="en-US" sz="1800" dirty="0"/>
          </a:p>
        </p:txBody>
      </p:sp>
      <p:sp>
        <p:nvSpPr>
          <p:cNvPr id="7" name="Text 4"/>
          <p:cNvSpPr txBox="1"/>
          <p:nvPr/>
        </p:nvSpPr>
        <p:spPr>
          <a:xfrm>
            <a:off x="822960" y="2240280"/>
            <a:ext cx="2011680" cy="685800"/>
          </a:xfrm>
          <a:prstGeom prst="rect">
            <a:avLst/>
          </a:prstGeom>
          <a:noFill/>
          <a:ln/>
        </p:spPr>
        <p:txBody>
          <a:bodyPr wrap="square" lIns="0" tIns="0" rIns="0" bIns="0" rtlCol="0" anchor="t"/>
          <a:lstStyle/>
          <a:p>
            <a:pPr indent="0" marL="0">
              <a:buNone/>
            </a:pPr>
            <a:r>
              <a:rPr lang="en-US" sz="4000" b="1" dirty="0">
                <a:solidFill>
                  <a:srgbClr val="22833B"/>
                </a:solidFill>
                <a:latin typeface="Cambria" pitchFamily="34" charset="0"/>
                <a:ea typeface="Cambria" pitchFamily="34" charset="-122"/>
                <a:cs typeface="Cambria" pitchFamily="34" charset="-120"/>
              </a:rPr>
              <a:t>&lt; 7 mm</a:t>
            </a:r>
            <a:endParaRPr lang="en-US" sz="4000" dirty="0"/>
          </a:p>
        </p:txBody>
      </p:sp>
      <p:sp>
        <p:nvSpPr>
          <p:cNvPr id="8" name="Text 5"/>
          <p:cNvSpPr txBox="1"/>
          <p:nvPr/>
        </p:nvSpPr>
        <p:spPr>
          <a:xfrm>
            <a:off x="822960" y="2926080"/>
            <a:ext cx="2103120" cy="457200"/>
          </a:xfrm>
          <a:prstGeom prst="rect">
            <a:avLst/>
          </a:prstGeom>
          <a:noFill/>
          <a:ln/>
        </p:spPr>
        <p:txBody>
          <a:bodyPr wrap="square" lIns="0" tIns="0" rIns="0" bIns="0" rtlCol="0" anchor="t"/>
          <a:lstStyle/>
          <a:p>
            <a:pPr indent="0" marL="0">
              <a:buNone/>
            </a:pPr>
            <a:r>
              <a:rPr lang="en-US" sz="1200" i="1" dirty="0">
                <a:solidFill>
                  <a:srgbClr val="5B6B60"/>
                </a:solidFill>
                <a:latin typeface="Calibri" pitchFamily="34" charset="0"/>
                <a:ea typeface="Calibri" pitchFamily="34" charset="-122"/>
                <a:cs typeface="Calibri" pitchFamily="34" charset="-120"/>
              </a:rPr>
              <a:t>nonostante estrogenizzazione adeguata</a:t>
            </a:r>
            <a:endParaRPr lang="en-US" sz="1200" dirty="0"/>
          </a:p>
        </p:txBody>
      </p:sp>
      <p:sp>
        <p:nvSpPr>
          <p:cNvPr id="9" name="Shape 6"/>
          <p:cNvSpPr/>
          <p:nvPr/>
        </p:nvSpPr>
        <p:spPr>
          <a:xfrm>
            <a:off x="3017520" y="2423160"/>
            <a:ext cx="1546860" cy="274320"/>
          </a:xfrm>
          <a:prstGeom prst="rect">
            <a:avLst/>
          </a:prstGeom>
          <a:solidFill>
            <a:srgbClr val="F3D3DD"/>
          </a:solidFill>
          <a:ln/>
        </p:spPr>
      </p:sp>
      <p:sp>
        <p:nvSpPr>
          <p:cNvPr id="10" name="Shape 7"/>
          <p:cNvSpPr/>
          <p:nvPr/>
        </p:nvSpPr>
        <p:spPr>
          <a:xfrm>
            <a:off x="4564380" y="2423160"/>
            <a:ext cx="1104900" cy="274320"/>
          </a:xfrm>
          <a:prstGeom prst="rect">
            <a:avLst/>
          </a:prstGeom>
          <a:solidFill>
            <a:srgbClr val="A7D3B0"/>
          </a:solidFill>
          <a:ln/>
        </p:spPr>
      </p:sp>
      <p:sp>
        <p:nvSpPr>
          <p:cNvPr id="11" name="Shape 8"/>
          <p:cNvSpPr/>
          <p:nvPr/>
        </p:nvSpPr>
        <p:spPr>
          <a:xfrm>
            <a:off x="4564380" y="2350008"/>
            <a:ext cx="0" cy="384048"/>
          </a:xfrm>
          <a:prstGeom prst="line">
            <a:avLst/>
          </a:prstGeom>
          <a:noFill/>
          <a:ln w="25400">
            <a:solidFill>
              <a:srgbClr val="C2416B"/>
            </a:solidFill>
            <a:prstDash val="solid"/>
          </a:ln>
        </p:spPr>
      </p:sp>
      <p:sp>
        <p:nvSpPr>
          <p:cNvPr id="12" name="Text 9"/>
          <p:cNvSpPr txBox="1"/>
          <p:nvPr/>
        </p:nvSpPr>
        <p:spPr>
          <a:xfrm>
            <a:off x="2926080" y="2743200"/>
            <a:ext cx="274320" cy="228600"/>
          </a:xfrm>
          <a:prstGeom prst="rect">
            <a:avLst/>
          </a:prstGeom>
          <a:noFill/>
          <a:ln/>
        </p:spPr>
        <p:txBody>
          <a:bodyPr wrap="square" lIns="0" tIns="0" rIns="0" bIns="0" rtlCol="0" anchor="t"/>
          <a:lstStyle/>
          <a:p>
            <a:pPr indent="0" marL="0">
              <a:buNone/>
            </a:pPr>
            <a:r>
              <a:rPr lang="en-US" sz="1000" dirty="0">
                <a:solidFill>
                  <a:srgbClr val="5B6B60"/>
                </a:solidFill>
                <a:latin typeface="Calibri" pitchFamily="34" charset="0"/>
                <a:ea typeface="Calibri" pitchFamily="34" charset="-122"/>
                <a:cs typeface="Calibri" pitchFamily="34" charset="-120"/>
              </a:rPr>
              <a:t>0</a:t>
            </a:r>
            <a:endParaRPr lang="en-US" sz="1000" dirty="0"/>
          </a:p>
        </p:txBody>
      </p:sp>
      <p:sp>
        <p:nvSpPr>
          <p:cNvPr id="13" name="Text 10"/>
          <p:cNvSpPr txBox="1"/>
          <p:nvPr/>
        </p:nvSpPr>
        <p:spPr>
          <a:xfrm>
            <a:off x="4290060" y="2788920"/>
            <a:ext cx="548640" cy="228600"/>
          </a:xfrm>
          <a:prstGeom prst="rect">
            <a:avLst/>
          </a:prstGeom>
          <a:noFill/>
          <a:ln/>
        </p:spPr>
        <p:txBody>
          <a:bodyPr wrap="square" lIns="0" tIns="0" rIns="0" bIns="0" rtlCol="0" anchor="t"/>
          <a:lstStyle/>
          <a:p>
            <a:pPr algn="ctr" indent="0" marL="0">
              <a:buNone/>
            </a:pPr>
            <a:r>
              <a:rPr lang="en-US" sz="1000" b="1" dirty="0">
                <a:solidFill>
                  <a:srgbClr val="C2416B"/>
                </a:solidFill>
                <a:latin typeface="Calibri" pitchFamily="34" charset="0"/>
                <a:ea typeface="Calibri" pitchFamily="34" charset="-122"/>
                <a:cs typeface="Calibri" pitchFamily="34" charset="-120"/>
              </a:rPr>
              <a:t>7 mm</a:t>
            </a:r>
            <a:endParaRPr lang="en-US" sz="1000" dirty="0"/>
          </a:p>
        </p:txBody>
      </p:sp>
      <p:sp>
        <p:nvSpPr>
          <p:cNvPr id="14" name="Text 11"/>
          <p:cNvSpPr txBox="1"/>
          <p:nvPr/>
        </p:nvSpPr>
        <p:spPr>
          <a:xfrm>
            <a:off x="5440680" y="2743200"/>
            <a:ext cx="274320" cy="228600"/>
          </a:xfrm>
          <a:prstGeom prst="rect">
            <a:avLst/>
          </a:prstGeom>
          <a:noFill/>
          <a:ln/>
        </p:spPr>
        <p:txBody>
          <a:bodyPr wrap="square" lIns="0" tIns="0" rIns="0" bIns="0" rtlCol="0" anchor="t"/>
          <a:lstStyle/>
          <a:p>
            <a:pPr algn="r" indent="0" marL="0">
              <a:buNone/>
            </a:pPr>
            <a:r>
              <a:rPr lang="en-US" sz="1000" dirty="0">
                <a:solidFill>
                  <a:srgbClr val="5B6B60"/>
                </a:solidFill>
                <a:latin typeface="Calibri" pitchFamily="34" charset="0"/>
                <a:ea typeface="Calibri" pitchFamily="34" charset="-122"/>
                <a:cs typeface="Calibri" pitchFamily="34" charset="-120"/>
              </a:rPr>
              <a:t>12</a:t>
            </a:r>
            <a:endParaRPr lang="en-US" sz="1000" dirty="0"/>
          </a:p>
        </p:txBody>
      </p:sp>
      <p:sp>
        <p:nvSpPr>
          <p:cNvPr id="15" name="Text 12"/>
          <p:cNvSpPr txBox="1"/>
          <p:nvPr/>
        </p:nvSpPr>
        <p:spPr>
          <a:xfrm>
            <a:off x="3017520" y="2130552"/>
            <a:ext cx="1546860" cy="228600"/>
          </a:xfrm>
          <a:prstGeom prst="rect">
            <a:avLst/>
          </a:prstGeom>
          <a:noFill/>
          <a:ln/>
        </p:spPr>
        <p:txBody>
          <a:bodyPr wrap="square" lIns="0" tIns="0" rIns="0" bIns="0" rtlCol="0" anchor="t"/>
          <a:lstStyle/>
          <a:p>
            <a:pPr algn="ctr" indent="0" marL="0">
              <a:buNone/>
            </a:pPr>
            <a:r>
              <a:rPr lang="en-US" sz="1000" dirty="0">
                <a:solidFill>
                  <a:srgbClr val="C2416B"/>
                </a:solidFill>
                <a:latin typeface="Calibri" pitchFamily="34" charset="0"/>
                <a:ea typeface="Calibri" pitchFamily="34" charset="-122"/>
                <a:cs typeface="Calibri" pitchFamily="34" charset="-120"/>
              </a:rPr>
              <a:t>refrattario</a:t>
            </a:r>
            <a:endParaRPr lang="en-US" sz="1000" dirty="0"/>
          </a:p>
        </p:txBody>
      </p:sp>
      <p:sp>
        <p:nvSpPr>
          <p:cNvPr id="16" name="Text 13"/>
          <p:cNvSpPr txBox="1"/>
          <p:nvPr/>
        </p:nvSpPr>
        <p:spPr>
          <a:xfrm>
            <a:off x="4564380" y="2130552"/>
            <a:ext cx="1104900" cy="228600"/>
          </a:xfrm>
          <a:prstGeom prst="rect">
            <a:avLst/>
          </a:prstGeom>
          <a:noFill/>
          <a:ln/>
        </p:spPr>
        <p:txBody>
          <a:bodyPr wrap="square" lIns="0" tIns="0" rIns="0" bIns="0" rtlCol="0" anchor="t"/>
          <a:lstStyle/>
          <a:p>
            <a:pPr algn="ctr" indent="0" marL="0">
              <a:buNone/>
            </a:pPr>
            <a:r>
              <a:rPr lang="en-US" sz="1000" dirty="0">
                <a:solidFill>
                  <a:srgbClr val="22833B"/>
                </a:solidFill>
                <a:latin typeface="Calibri" pitchFamily="34" charset="0"/>
                <a:ea typeface="Calibri" pitchFamily="34" charset="-122"/>
                <a:cs typeface="Calibri" pitchFamily="34" charset="-120"/>
              </a:rPr>
              <a:t>recettivo</a:t>
            </a:r>
            <a:endParaRPr lang="en-US" sz="1000" dirty="0"/>
          </a:p>
        </p:txBody>
      </p:sp>
      <p:sp>
        <p:nvSpPr>
          <p:cNvPr id="17" name="Text 14"/>
          <p:cNvSpPr txBox="1"/>
          <p:nvPr/>
        </p:nvSpPr>
        <p:spPr>
          <a:xfrm>
            <a:off x="822960" y="3520440"/>
            <a:ext cx="4937760" cy="146304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1F2A24"/>
                </a:solidFill>
                <a:latin typeface="Calibri" pitchFamily="34" charset="0"/>
                <a:ea typeface="Calibri" pitchFamily="34" charset="-122"/>
                <a:cs typeface="Calibri" pitchFamily="34" charset="-120"/>
              </a:rPr>
              <a:t>PRP autologo intrauterino: più spessore e miglior pattern vascolare</a:t>
            </a:r>
            <a:endParaRPr lang="en-US" sz="1400" dirty="0"/>
          </a:p>
          <a:p>
            <a:pPr marL="177800" indent="-177800">
              <a:spcAft>
                <a:spcPts val="500"/>
              </a:spcAft>
              <a:buSzPct val="100000"/>
              <a:buChar char="•"/>
            </a:pPr>
            <a:r>
              <a:rPr lang="en-US" sz="1400" dirty="0">
                <a:solidFill>
                  <a:srgbClr val="1F2A24"/>
                </a:solidFill>
                <a:latin typeface="Calibri" pitchFamily="34" charset="0"/>
                <a:ea typeface="Calibri" pitchFamily="34" charset="-122"/>
                <a:cs typeface="Calibri" pitchFamily="34" charset="-120"/>
              </a:rPr>
              <a:t>Cellule staminali autologhe: evidenze preliminari nella sindrome di Asherman severa</a:t>
            </a:r>
            <a:endParaRPr lang="en-US" sz="1400" dirty="0"/>
          </a:p>
          <a:p>
            <a:pPr marL="177800" indent="-177800">
              <a:spcAft>
                <a:spcPts val="500"/>
              </a:spcAft>
              <a:buSzPct val="100000"/>
              <a:buChar char="•"/>
            </a:pPr>
            <a:r>
              <a:rPr lang="en-US" sz="1400" dirty="0">
                <a:solidFill>
                  <a:srgbClr val="1F2A24"/>
                </a:solidFill>
                <a:latin typeface="Calibri" pitchFamily="34" charset="0"/>
                <a:ea typeface="Calibri" pitchFamily="34" charset="-122"/>
                <a:cs typeface="Calibri" pitchFamily="34" charset="-120"/>
              </a:rPr>
              <a:t>G-CSF intrauterino nei protocolli di PMA</a:t>
            </a:r>
            <a:endParaRPr lang="en-US" sz="1400" dirty="0"/>
          </a:p>
        </p:txBody>
      </p:sp>
      <p:sp>
        <p:nvSpPr>
          <p:cNvPr id="18" name="Ovaio POI"/>
          <p:cNvSpPr/>
          <p:nvPr/>
        </p:nvSpPr>
        <p:spPr>
          <a:xfrm>
            <a:off x="6245352" y="1645920"/>
            <a:ext cx="5394960" cy="3429000"/>
          </a:xfrm>
          <a:prstGeom prst="roundRect">
            <a:avLst>
              <a:gd name="adj" fmla="val 3200"/>
            </a:avLst>
          </a:prstGeom>
          <a:solidFill>
            <a:srgbClr val="FBE9EF"/>
          </a:solidFill>
          <a:ln/>
        </p:spPr>
      </p:sp>
      <p:sp>
        <p:nvSpPr>
          <p:cNvPr id="19" name="Text 16"/>
          <p:cNvSpPr txBox="1"/>
          <p:nvPr/>
        </p:nvSpPr>
        <p:spPr>
          <a:xfrm>
            <a:off x="6519672" y="1828800"/>
            <a:ext cx="4937760" cy="365760"/>
          </a:xfrm>
          <a:prstGeom prst="rect">
            <a:avLst/>
          </a:prstGeom>
          <a:noFill/>
          <a:ln/>
        </p:spPr>
        <p:txBody>
          <a:bodyPr wrap="square" lIns="0" tIns="0" rIns="0" bIns="0" rtlCol="0" anchor="t"/>
          <a:lstStyle/>
          <a:p>
            <a:pPr indent="0" marL="0">
              <a:buNone/>
            </a:pPr>
            <a:r>
              <a:rPr lang="en-US" sz="1800" b="1" dirty="0">
                <a:solidFill>
                  <a:srgbClr val="C2416B"/>
                </a:solidFill>
                <a:latin typeface="Cambria" pitchFamily="34" charset="0"/>
                <a:ea typeface="Cambria" pitchFamily="34" charset="-122"/>
                <a:cs typeface="Cambria" pitchFamily="34" charset="-120"/>
              </a:rPr>
              <a:t>Ovaio: insufficienza ovarica prematura (POI)</a:t>
            </a:r>
            <a:endParaRPr lang="en-US" sz="1800" dirty="0"/>
          </a:p>
        </p:txBody>
      </p:sp>
      <p:sp>
        <p:nvSpPr>
          <p:cNvPr id="20" name="stat Amenorrea"/>
          <p:cNvSpPr/>
          <p:nvPr/>
        </p:nvSpPr>
        <p:spPr>
          <a:xfrm>
            <a:off x="6519672" y="2331720"/>
            <a:ext cx="1600200" cy="1051560"/>
          </a:xfrm>
          <a:prstGeom prst="roundRect">
            <a:avLst>
              <a:gd name="adj" fmla="val 10435"/>
            </a:avLst>
          </a:prstGeom>
          <a:solidFill>
            <a:srgbClr val="FFFFFF"/>
          </a:solidFill>
          <a:ln w="12700">
            <a:solidFill>
              <a:srgbClr val="F0B8C9"/>
            </a:solidFill>
            <a:prstDash val="solid"/>
          </a:ln>
        </p:spPr>
      </p:sp>
      <p:sp>
        <p:nvSpPr>
          <p:cNvPr id="21" name="Text 18"/>
          <p:cNvSpPr txBox="1"/>
          <p:nvPr/>
        </p:nvSpPr>
        <p:spPr>
          <a:xfrm>
            <a:off x="6519672" y="2377440"/>
            <a:ext cx="1600200" cy="548640"/>
          </a:xfrm>
          <a:prstGeom prst="rect">
            <a:avLst/>
          </a:prstGeom>
          <a:noFill/>
          <a:ln/>
        </p:spPr>
        <p:txBody>
          <a:bodyPr wrap="square" lIns="0" tIns="0" rIns="0" bIns="0" rtlCol="0" anchor="ctr"/>
          <a:lstStyle/>
          <a:p>
            <a:pPr algn="ctr" indent="0" marL="0">
              <a:buNone/>
            </a:pPr>
            <a:r>
              <a:rPr lang="en-US" sz="2100" b="1" dirty="0">
                <a:solidFill>
                  <a:srgbClr val="C2416B"/>
                </a:solidFill>
                <a:latin typeface="Cambria" pitchFamily="34" charset="0"/>
                <a:ea typeface="Cambria" pitchFamily="34" charset="-122"/>
                <a:cs typeface="Cambria" pitchFamily="34" charset="-120"/>
              </a:rPr>
              <a:t>Amenorrea</a:t>
            </a:r>
            <a:endParaRPr lang="en-US" sz="2100" dirty="0"/>
          </a:p>
        </p:txBody>
      </p:sp>
      <p:sp>
        <p:nvSpPr>
          <p:cNvPr id="22" name="Text 19"/>
          <p:cNvSpPr txBox="1"/>
          <p:nvPr/>
        </p:nvSpPr>
        <p:spPr>
          <a:xfrm>
            <a:off x="6519672" y="2944368"/>
            <a:ext cx="1600200" cy="365760"/>
          </a:xfrm>
          <a:prstGeom prst="rect">
            <a:avLst/>
          </a:prstGeom>
          <a:noFill/>
          <a:ln/>
        </p:spPr>
        <p:txBody>
          <a:bodyPr wrap="square" lIns="0" tIns="0" rIns="0" bIns="0" rtlCol="0" anchor="t"/>
          <a:lstStyle/>
          <a:p>
            <a:pPr algn="ctr" indent="0" marL="0">
              <a:buNone/>
            </a:pPr>
            <a:r>
              <a:rPr lang="en-US" sz="1100" dirty="0">
                <a:solidFill>
                  <a:srgbClr val="5B6B60"/>
                </a:solidFill>
                <a:latin typeface="Calibri" pitchFamily="34" charset="0"/>
                <a:ea typeface="Calibri" pitchFamily="34" charset="-122"/>
                <a:cs typeface="Calibri" pitchFamily="34" charset="-120"/>
              </a:rPr>
              <a:t>criterio clinico</a:t>
            </a:r>
            <a:endParaRPr lang="en-US" sz="1100" dirty="0"/>
          </a:p>
        </p:txBody>
      </p:sp>
      <p:sp>
        <p:nvSpPr>
          <p:cNvPr id="23" name="stat FSH &gt; 25"/>
          <p:cNvSpPr/>
          <p:nvPr/>
        </p:nvSpPr>
        <p:spPr>
          <a:xfrm>
            <a:off x="8211312" y="2331720"/>
            <a:ext cx="1600200" cy="1051560"/>
          </a:xfrm>
          <a:prstGeom prst="roundRect">
            <a:avLst>
              <a:gd name="adj" fmla="val 10435"/>
            </a:avLst>
          </a:prstGeom>
          <a:solidFill>
            <a:srgbClr val="FFFFFF"/>
          </a:solidFill>
          <a:ln w="12700">
            <a:solidFill>
              <a:srgbClr val="F0B8C9"/>
            </a:solidFill>
            <a:prstDash val="solid"/>
          </a:ln>
        </p:spPr>
      </p:sp>
      <p:sp>
        <p:nvSpPr>
          <p:cNvPr id="24" name="Text 21"/>
          <p:cNvSpPr txBox="1"/>
          <p:nvPr/>
        </p:nvSpPr>
        <p:spPr>
          <a:xfrm>
            <a:off x="8211312" y="2377440"/>
            <a:ext cx="1600200" cy="548640"/>
          </a:xfrm>
          <a:prstGeom prst="rect">
            <a:avLst/>
          </a:prstGeom>
          <a:noFill/>
          <a:ln/>
        </p:spPr>
        <p:txBody>
          <a:bodyPr wrap="square" lIns="0" tIns="0" rIns="0" bIns="0" rtlCol="0" anchor="ctr"/>
          <a:lstStyle/>
          <a:p>
            <a:pPr algn="ctr" indent="0" marL="0">
              <a:buNone/>
            </a:pPr>
            <a:r>
              <a:rPr lang="en-US" sz="2100" b="1" dirty="0">
                <a:solidFill>
                  <a:srgbClr val="C2416B"/>
                </a:solidFill>
                <a:latin typeface="Cambria" pitchFamily="34" charset="0"/>
                <a:ea typeface="Cambria" pitchFamily="34" charset="-122"/>
                <a:cs typeface="Cambria" pitchFamily="34" charset="-120"/>
              </a:rPr>
              <a:t>FSH &gt; 25</a:t>
            </a:r>
            <a:endParaRPr lang="en-US" sz="2100" dirty="0"/>
          </a:p>
        </p:txBody>
      </p:sp>
      <p:sp>
        <p:nvSpPr>
          <p:cNvPr id="25" name="Text 22"/>
          <p:cNvSpPr txBox="1"/>
          <p:nvPr/>
        </p:nvSpPr>
        <p:spPr>
          <a:xfrm>
            <a:off x="8211312" y="2944368"/>
            <a:ext cx="1600200" cy="365760"/>
          </a:xfrm>
          <a:prstGeom prst="rect">
            <a:avLst/>
          </a:prstGeom>
          <a:noFill/>
          <a:ln/>
        </p:spPr>
        <p:txBody>
          <a:bodyPr wrap="square" lIns="0" tIns="0" rIns="0" bIns="0" rtlCol="0" anchor="t"/>
          <a:lstStyle/>
          <a:p>
            <a:pPr algn="ctr" indent="0" marL="0">
              <a:buNone/>
            </a:pPr>
            <a:r>
              <a:rPr lang="en-US" sz="1100" dirty="0">
                <a:solidFill>
                  <a:srgbClr val="5B6B60"/>
                </a:solidFill>
                <a:latin typeface="Calibri" pitchFamily="34" charset="0"/>
                <a:ea typeface="Calibri" pitchFamily="34" charset="-122"/>
                <a:cs typeface="Calibri" pitchFamily="34" charset="-120"/>
              </a:rPr>
              <a:t>UI/L</a:t>
            </a:r>
            <a:endParaRPr lang="en-US" sz="1100" dirty="0"/>
          </a:p>
        </p:txBody>
      </p:sp>
      <p:sp>
        <p:nvSpPr>
          <p:cNvPr id="26" name="stat &lt; 40 anni"/>
          <p:cNvSpPr/>
          <p:nvPr/>
        </p:nvSpPr>
        <p:spPr>
          <a:xfrm>
            <a:off x="9902952" y="2331720"/>
            <a:ext cx="1600200" cy="1051560"/>
          </a:xfrm>
          <a:prstGeom prst="roundRect">
            <a:avLst>
              <a:gd name="adj" fmla="val 10435"/>
            </a:avLst>
          </a:prstGeom>
          <a:solidFill>
            <a:srgbClr val="FFFFFF"/>
          </a:solidFill>
          <a:ln w="12700">
            <a:solidFill>
              <a:srgbClr val="F0B8C9"/>
            </a:solidFill>
            <a:prstDash val="solid"/>
          </a:ln>
        </p:spPr>
      </p:sp>
      <p:sp>
        <p:nvSpPr>
          <p:cNvPr id="27" name="Text 24"/>
          <p:cNvSpPr txBox="1"/>
          <p:nvPr/>
        </p:nvSpPr>
        <p:spPr>
          <a:xfrm>
            <a:off x="9902952" y="2377440"/>
            <a:ext cx="1600200" cy="548640"/>
          </a:xfrm>
          <a:prstGeom prst="rect">
            <a:avLst/>
          </a:prstGeom>
          <a:noFill/>
          <a:ln/>
        </p:spPr>
        <p:txBody>
          <a:bodyPr wrap="square" lIns="0" tIns="0" rIns="0" bIns="0" rtlCol="0" anchor="ctr"/>
          <a:lstStyle/>
          <a:p>
            <a:pPr algn="ctr" indent="0" marL="0">
              <a:buNone/>
            </a:pPr>
            <a:r>
              <a:rPr lang="en-US" sz="2100" b="1" dirty="0">
                <a:solidFill>
                  <a:srgbClr val="C2416B"/>
                </a:solidFill>
                <a:latin typeface="Cambria" pitchFamily="34" charset="0"/>
                <a:ea typeface="Cambria" pitchFamily="34" charset="-122"/>
                <a:cs typeface="Cambria" pitchFamily="34" charset="-120"/>
              </a:rPr>
              <a:t>&lt; 40 anni</a:t>
            </a:r>
            <a:endParaRPr lang="en-US" sz="2100" dirty="0"/>
          </a:p>
        </p:txBody>
      </p:sp>
      <p:sp>
        <p:nvSpPr>
          <p:cNvPr id="28" name="Text 25"/>
          <p:cNvSpPr txBox="1"/>
          <p:nvPr/>
        </p:nvSpPr>
        <p:spPr>
          <a:xfrm>
            <a:off x="9902952" y="2944368"/>
            <a:ext cx="1600200" cy="365760"/>
          </a:xfrm>
          <a:prstGeom prst="rect">
            <a:avLst/>
          </a:prstGeom>
          <a:noFill/>
          <a:ln/>
        </p:spPr>
        <p:txBody>
          <a:bodyPr wrap="square" lIns="0" tIns="0" rIns="0" bIns="0" rtlCol="0" anchor="t"/>
          <a:lstStyle/>
          <a:p>
            <a:pPr algn="ctr" indent="0" marL="0">
              <a:buNone/>
            </a:pPr>
            <a:r>
              <a:rPr lang="en-US" sz="1100" dirty="0">
                <a:solidFill>
                  <a:srgbClr val="5B6B60"/>
                </a:solidFill>
                <a:latin typeface="Calibri" pitchFamily="34" charset="0"/>
                <a:ea typeface="Calibri" pitchFamily="34" charset="-122"/>
                <a:cs typeface="Calibri" pitchFamily="34" charset="-120"/>
              </a:rPr>
              <a:t>età di esordio</a:t>
            </a:r>
            <a:endParaRPr lang="en-US" sz="1100" dirty="0"/>
          </a:p>
        </p:txBody>
      </p:sp>
      <p:sp>
        <p:nvSpPr>
          <p:cNvPr id="29" name="Text 26"/>
          <p:cNvSpPr txBox="1"/>
          <p:nvPr/>
        </p:nvSpPr>
        <p:spPr>
          <a:xfrm>
            <a:off x="6519672" y="3611880"/>
            <a:ext cx="4937760" cy="137160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1F2A24"/>
                </a:solidFill>
                <a:latin typeface="Calibri" pitchFamily="34" charset="0"/>
                <a:ea typeface="Calibri" pitchFamily="34" charset="-122"/>
                <a:cs typeface="Calibri" pitchFamily="34" charset="-120"/>
              </a:rPr>
              <a:t>PRP o fattori di crescita intraovarici: ripresa transitoria dell’attività follicolare</a:t>
            </a:r>
            <a:endParaRPr lang="en-US" sz="1400" dirty="0"/>
          </a:p>
          <a:p>
            <a:pPr marL="177800" indent="-177800">
              <a:spcAft>
                <a:spcPts val="500"/>
              </a:spcAft>
              <a:buSzPct val="100000"/>
              <a:buChar char="•"/>
            </a:pPr>
            <a:r>
              <a:rPr lang="en-US" sz="1400" dirty="0">
                <a:solidFill>
                  <a:srgbClr val="1F2A24"/>
                </a:solidFill>
                <a:latin typeface="Calibri" pitchFamily="34" charset="0"/>
                <a:ea typeface="Calibri" pitchFamily="34" charset="-122"/>
                <a:cs typeface="Calibri" pitchFamily="34" charset="-120"/>
              </a:rPr>
              <a:t>Dati ancora preliminari: servono RCT adeguati</a:t>
            </a:r>
            <a:endParaRPr lang="en-US" sz="1400" dirty="0"/>
          </a:p>
        </p:txBody>
      </p:sp>
      <p:sp>
        <p:nvSpPr>
          <p:cNvPr id="30" name="BHRT come prerequisito"/>
          <p:cNvSpPr/>
          <p:nvPr/>
        </p:nvSpPr>
        <p:spPr>
          <a:xfrm>
            <a:off x="548640" y="5257800"/>
            <a:ext cx="11091672" cy="914400"/>
          </a:xfrm>
          <a:prstGeom prst="roundRect">
            <a:avLst>
              <a:gd name="adj" fmla="val 12000"/>
            </a:avLst>
          </a:prstGeom>
          <a:solidFill>
            <a:srgbClr val="14532D"/>
          </a:solidFill>
          <a:ln/>
        </p:spPr>
      </p:sp>
      <p:sp>
        <p:nvSpPr>
          <p:cNvPr id="31" name="BHRT bg"/>
          <p:cNvSpPr/>
          <p:nvPr/>
        </p:nvSpPr>
        <p:spPr>
          <a:xfrm>
            <a:off x="777240" y="5440680"/>
            <a:ext cx="548640" cy="548640"/>
          </a:xfrm>
          <a:prstGeom prst="ellipse">
            <a:avLst/>
          </a:prstGeom>
          <a:solidFill>
            <a:srgbClr val="8CBF3F"/>
          </a:solidFill>
          <a:ln/>
        </p:spPr>
      </p:sp>
      <p:pic>
        <p:nvPicPr>
          <p:cNvPr id="32" name="BHRT" descr="BHRT">    </p:cNvPr>
          <p:cNvPicPr>
            <a:picLocks noChangeAspect="1"/>
          </p:cNvPicPr>
          <p:nvPr/>
        </p:nvPicPr>
        <p:blipFill>
          <a:blip r:embed="rId1"/>
          <a:stretch>
            <a:fillRect/>
          </a:stretch>
        </p:blipFill>
        <p:spPr>
          <a:xfrm>
            <a:off x="897941" y="5561381"/>
            <a:ext cx="307238" cy="307238"/>
          </a:xfrm>
          <a:prstGeom prst="rect">
            <a:avLst/>
          </a:prstGeom>
        </p:spPr>
      </p:pic>
      <p:sp>
        <p:nvSpPr>
          <p:cNvPr id="33" name="Text 29"/>
          <p:cNvSpPr txBox="1"/>
          <p:nvPr/>
        </p:nvSpPr>
        <p:spPr>
          <a:xfrm>
            <a:off x="1508760" y="5257800"/>
            <a:ext cx="9921240" cy="91440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BHRT come prerequisito  </a:t>
            </a:r>
            <a:pPr indent="0" marL="0">
              <a:buNone/>
            </a:pPr>
            <a:r>
              <a:rPr lang="en-US" sz="1500" dirty="0">
                <a:solidFill>
                  <a:srgbClr val="D7EBC0"/>
                </a:solidFill>
                <a:latin typeface="Calibri" pitchFamily="34" charset="0"/>
                <a:ea typeface="Calibri" pitchFamily="34" charset="-122"/>
                <a:cs typeface="Calibri" pitchFamily="34" charset="-120"/>
              </a:rPr>
              <a:t>Il 17β-estradiolo è il contesto senza cui lo stimolo perde efficacia: </a:t>
            </a:r>
            <a:pPr indent="0" marL="0">
              <a:buNone/>
            </a:pPr>
            <a:r>
              <a:rPr lang="en-US" sz="1500" i="1" dirty="0">
                <a:solidFill>
                  <a:srgbClr val="FFFFFF"/>
                </a:solidFill>
                <a:latin typeface="Calibri" pitchFamily="34" charset="0"/>
                <a:ea typeface="Calibri" pitchFamily="34" charset="-122"/>
                <a:cs typeface="Calibri" pitchFamily="34" charset="-120"/>
              </a:rPr>
              <a:t>un endometrio privo di estradiolo non risponde al PRP</a:t>
            </a:r>
            <a:endParaRPr lang="en-US" sz="17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548640" y="292608"/>
            <a:ext cx="10241280" cy="658368"/>
          </a:xfrm>
          <a:prstGeom prst="rect">
            <a:avLst/>
          </a:prstGeom>
          <a:noFill/>
          <a:ln/>
        </p:spPr>
        <p:txBody>
          <a:bodyPr wrap="square" lIns="0" tIns="0" rIns="0" bIns="0" rtlCol="0" anchor="ctr"/>
          <a:lstStyle/>
          <a:p>
            <a:pPr algn="l" indent="0" marL="0">
              <a:buNone/>
            </a:pPr>
            <a:r>
              <a:rPr lang="en-US" sz="3000" b="1" dirty="0">
                <a:solidFill>
                  <a:srgbClr val="14532D"/>
                </a:solidFill>
                <a:latin typeface="Cambria" pitchFamily="34" charset="0"/>
                <a:ea typeface="Cambria" pitchFamily="34" charset="-122"/>
                <a:cs typeface="Cambria" pitchFamily="34" charset="-120"/>
              </a:rPr>
              <a:t>Vulvodinia e dolore pelvico cronico</a:t>
            </a:r>
            <a:endParaRPr lang="en-US" sz="3000" dirty="0"/>
          </a:p>
        </p:txBody>
      </p:sp>
      <p:sp>
        <p:nvSpPr>
          <p:cNvPr id="3" name="Text 1"/>
          <p:cNvSpPr/>
          <p:nvPr>
            <p:ph idx="103" type="body" hasCustomPrompt="1"/>
          </p:nvPr>
        </p:nvSpPr>
        <p:spPr>
          <a:xfrm>
            <a:off x="548640" y="969264"/>
            <a:ext cx="10241280" cy="384048"/>
          </a:xfrm>
          <a:prstGeom prst="rect">
            <a:avLst/>
          </a:prstGeom>
          <a:noFill/>
          <a:ln/>
        </p:spPr>
        <p:txBody>
          <a:bodyPr wrap="square" lIns="0" tIns="0" rIns="0" bIns="0" rtlCol="0" anchor="t"/>
          <a:lstStyle/>
          <a:p>
            <a:pPr indent="0" marL="0">
              <a:buNone/>
            </a:pPr>
            <a:r>
              <a:rPr lang="en-US" sz="1500" i="1" dirty="0">
                <a:solidFill>
                  <a:srgbClr val="5B6B60"/>
                </a:solidFill>
                <a:latin typeface="Calibri" pitchFamily="34" charset="0"/>
                <a:ea typeface="Calibri" pitchFamily="34" charset="-122"/>
                <a:cs typeface="Calibri" pitchFamily="34" charset="-120"/>
              </a:rPr>
              <a:t>Fino al 16% delle donne in età riproduttiva: una patologia di matrice e innervazione</a:t>
            </a:r>
            <a:endParaRPr lang="en-US" sz="1500" dirty="0"/>
          </a:p>
        </p:txBody>
      </p:sp>
      <p:sp>
        <p:nvSpPr>
          <p:cNvPr id="5" name="Prevalenza"/>
          <p:cNvSpPr/>
          <p:nvPr/>
        </p:nvSpPr>
        <p:spPr>
          <a:xfrm>
            <a:off x="548640" y="1645920"/>
            <a:ext cx="3566160" cy="4526280"/>
          </a:xfrm>
          <a:prstGeom prst="roundRect">
            <a:avLst>
              <a:gd name="adj" fmla="val 3077"/>
            </a:avLst>
          </a:prstGeom>
          <a:solidFill>
            <a:srgbClr val="FBE9EF"/>
          </a:solidFill>
          <a:ln/>
        </p:spPr>
      </p:sp>
      <p:pic>
        <p:nvPicPr>
          <p:cNvPr id="6" name="Image 0" descr="Pittogramma: 16 donne su 100">    </p:cNvPr>
          <p:cNvPicPr>
            <a:picLocks noChangeAspect="1"/>
          </p:cNvPicPr>
          <p:nvPr/>
        </p:nvPicPr>
        <p:blipFill>
          <a:blip r:embed="rId1"/>
          <a:stretch>
            <a:fillRect/>
          </a:stretch>
        </p:blipFill>
        <p:spPr>
          <a:xfrm>
            <a:off x="822960" y="1920240"/>
            <a:ext cx="3017520" cy="3017520"/>
          </a:xfrm>
          <a:prstGeom prst="rect">
            <a:avLst/>
          </a:prstGeom>
        </p:spPr>
      </p:pic>
      <p:sp>
        <p:nvSpPr>
          <p:cNvPr id="7" name="Text 3"/>
          <p:cNvSpPr txBox="1"/>
          <p:nvPr/>
        </p:nvSpPr>
        <p:spPr>
          <a:xfrm>
            <a:off x="822960" y="5120640"/>
            <a:ext cx="3017520" cy="868680"/>
          </a:xfrm>
          <a:prstGeom prst="rect">
            <a:avLst/>
          </a:prstGeom>
          <a:noFill/>
          <a:ln/>
        </p:spPr>
        <p:txBody>
          <a:bodyPr wrap="square" lIns="0" tIns="0" rIns="0" bIns="0" rtlCol="0" anchor="t"/>
          <a:lstStyle/>
          <a:p>
            <a:pPr algn="ctr" indent="0" marL="0">
              <a:buNone/>
            </a:pPr>
            <a:r>
              <a:rPr lang="en-US" sz="2600" b="1" dirty="0">
                <a:solidFill>
                  <a:srgbClr val="C2416B"/>
                </a:solidFill>
                <a:latin typeface="Cambria" pitchFamily="34" charset="0"/>
                <a:ea typeface="Cambria" pitchFamily="34" charset="-122"/>
                <a:cs typeface="Cambria" pitchFamily="34" charset="-120"/>
              </a:rPr>
              <a:t>16 su 100</a:t>
            </a:r>
            <a:endParaRPr lang="en-US" sz="2600" dirty="0"/>
          </a:p>
          <a:p>
            <a:pPr algn="ctr" indent="0" marL="0">
              <a:buNone/>
            </a:pPr>
            <a:r>
              <a:rPr lang="en-US" sz="1400" dirty="0">
                <a:solidFill>
                  <a:srgbClr val="1F2A24"/>
                </a:solidFill>
                <a:latin typeface="Calibri" pitchFamily="34" charset="0"/>
                <a:ea typeface="Calibri" pitchFamily="34" charset="-122"/>
                <a:cs typeface="Calibri" pitchFamily="34" charset="-120"/>
              </a:rPr>
              <a:t>donne in età riproduttiva</a:t>
            </a:r>
            <a:endParaRPr lang="en-US" sz="2600" dirty="0"/>
          </a:p>
        </p:txBody>
      </p:sp>
      <p:sp>
        <p:nvSpPr>
          <p:cNvPr id="8" name="Substrato biologico"/>
          <p:cNvSpPr/>
          <p:nvPr/>
        </p:nvSpPr>
        <p:spPr>
          <a:xfrm>
            <a:off x="4389120" y="1645920"/>
            <a:ext cx="7251192" cy="1417320"/>
          </a:xfrm>
          <a:prstGeom prst="roundRect">
            <a:avLst>
              <a:gd name="adj" fmla="val 7742"/>
            </a:avLst>
          </a:prstGeom>
          <a:solidFill>
            <a:srgbClr val="FFFFFF"/>
          </a:solidFill>
          <a:ln w="12700">
            <a:solidFill>
              <a:srgbClr val="CFE3D3"/>
            </a:solidFill>
            <a:prstDash val="solid"/>
          </a:ln>
          <a:effectLst>
            <a:outerShdw sx="100000" sy="100000" kx="0" ky="0" algn="bl" rotWithShape="0" blurRad="76200" dist="25400" dir="5400000">
              <a:srgbClr val="000000">
                <a:alpha val="12000"/>
              </a:srgbClr>
            </a:outerShdw>
          </a:effectLst>
        </p:spPr>
      </p:sp>
      <p:sp>
        <p:nvSpPr>
          <p:cNvPr id="9" name="Substrato biologico bg"/>
          <p:cNvSpPr/>
          <p:nvPr/>
        </p:nvSpPr>
        <p:spPr>
          <a:xfrm>
            <a:off x="4617720" y="1874520"/>
            <a:ext cx="548640" cy="548640"/>
          </a:xfrm>
          <a:prstGeom prst="ellipse">
            <a:avLst/>
          </a:prstGeom>
          <a:solidFill>
            <a:srgbClr val="C2416B"/>
          </a:solidFill>
          <a:ln/>
        </p:spPr>
      </p:sp>
      <p:pic>
        <p:nvPicPr>
          <p:cNvPr id="10" name="Substrato biologico" descr="Substrato biologico">    </p:cNvPr>
          <p:cNvPicPr>
            <a:picLocks noChangeAspect="1"/>
          </p:cNvPicPr>
          <p:nvPr/>
        </p:nvPicPr>
        <p:blipFill>
          <a:blip r:embed="rId2"/>
          <a:stretch>
            <a:fillRect/>
          </a:stretch>
        </p:blipFill>
        <p:spPr>
          <a:xfrm>
            <a:off x="4738421" y="1995221"/>
            <a:ext cx="307238" cy="307238"/>
          </a:xfrm>
          <a:prstGeom prst="rect">
            <a:avLst/>
          </a:prstGeom>
        </p:spPr>
      </p:pic>
      <p:sp>
        <p:nvSpPr>
          <p:cNvPr id="11" name="Text 6"/>
          <p:cNvSpPr txBox="1"/>
          <p:nvPr/>
        </p:nvSpPr>
        <p:spPr>
          <a:xfrm>
            <a:off x="4617720" y="2468880"/>
            <a:ext cx="1371600" cy="502920"/>
          </a:xfrm>
          <a:prstGeom prst="rect">
            <a:avLst/>
          </a:prstGeom>
          <a:noFill/>
          <a:ln/>
        </p:spPr>
        <p:txBody>
          <a:bodyPr wrap="square" lIns="0" tIns="0" rIns="0" bIns="0" rtlCol="0" anchor="t"/>
          <a:lstStyle/>
          <a:p>
            <a:pPr indent="0" marL="0">
              <a:buNone/>
            </a:pPr>
            <a:r>
              <a:rPr lang="en-US" sz="1300" b="1" dirty="0">
                <a:solidFill>
                  <a:srgbClr val="C2416B"/>
                </a:solidFill>
                <a:latin typeface="Calibri" pitchFamily="34" charset="0"/>
                <a:ea typeface="Calibri" pitchFamily="34" charset="-122"/>
                <a:cs typeface="Calibri" pitchFamily="34" charset="-120"/>
              </a:rPr>
              <a:t>Substrato biologico</a:t>
            </a:r>
            <a:endParaRPr lang="en-US" sz="1300" dirty="0"/>
          </a:p>
        </p:txBody>
      </p:sp>
      <p:sp>
        <p:nvSpPr>
          <p:cNvPr id="12" name="Text 7"/>
          <p:cNvSpPr txBox="1"/>
          <p:nvPr/>
        </p:nvSpPr>
        <p:spPr>
          <a:xfrm>
            <a:off x="6126480" y="1810512"/>
            <a:ext cx="2651760" cy="1143000"/>
          </a:xfrm>
          <a:prstGeom prst="rect">
            <a:avLst/>
          </a:prstGeom>
          <a:noFill/>
          <a:ln/>
        </p:spPr>
        <p:txBody>
          <a:bodyPr wrap="square" lIns="0" tIns="0" rIns="0" bIns="0" rtlCol="0" anchor="ctr"/>
          <a:lstStyle/>
          <a:p>
            <a:pPr marL="177800" indent="-177800">
              <a:spcAft>
                <a:spcPts val="500"/>
              </a:spcAft>
              <a:buSzPct val="100000"/>
              <a:buChar char="•"/>
            </a:pPr>
            <a:r>
              <a:rPr lang="en-US" sz="1300" dirty="0">
                <a:solidFill>
                  <a:srgbClr val="1F2A24"/>
                </a:solidFill>
                <a:latin typeface="Calibri" pitchFamily="34" charset="0"/>
                <a:ea typeface="Calibri" pitchFamily="34" charset="-122"/>
                <a:cs typeface="Calibri" pitchFamily="34" charset="-120"/>
              </a:rPr>
              <a:t>Iperproliferazione dei nocicettori intraepiteliali</a:t>
            </a:r>
            <a:endParaRPr lang="en-US" sz="1300" dirty="0"/>
          </a:p>
          <a:p>
            <a:pPr marL="177800" indent="-177800">
              <a:spcAft>
                <a:spcPts val="500"/>
              </a:spcAft>
              <a:buSzPct val="100000"/>
              <a:buChar char="•"/>
            </a:pPr>
            <a:r>
              <a:rPr lang="en-US" sz="1300" dirty="0">
                <a:solidFill>
                  <a:srgbClr val="1F2A24"/>
                </a:solidFill>
                <a:latin typeface="Calibri" pitchFamily="34" charset="0"/>
                <a:ea typeface="Calibri" pitchFamily="34" charset="-122"/>
                <a:cs typeface="Calibri" pitchFamily="34" charset="-120"/>
              </a:rPr>
              <a:t>Flogosi neurogenica cronica</a:t>
            </a:r>
            <a:endParaRPr lang="en-US" sz="1300" dirty="0"/>
          </a:p>
        </p:txBody>
      </p:sp>
      <p:sp>
        <p:nvSpPr>
          <p:cNvPr id="13" name="Text 8"/>
          <p:cNvSpPr txBox="1"/>
          <p:nvPr/>
        </p:nvSpPr>
        <p:spPr>
          <a:xfrm>
            <a:off x="8869680" y="1810512"/>
            <a:ext cx="2651760" cy="1143000"/>
          </a:xfrm>
          <a:prstGeom prst="rect">
            <a:avLst/>
          </a:prstGeom>
          <a:noFill/>
          <a:ln/>
        </p:spPr>
        <p:txBody>
          <a:bodyPr wrap="square" lIns="0" tIns="0" rIns="0" bIns="0" rtlCol="0" anchor="ctr"/>
          <a:lstStyle/>
          <a:p>
            <a:pPr marL="177800" indent="-177800">
              <a:spcAft>
                <a:spcPts val="500"/>
              </a:spcAft>
              <a:buSzPct val="100000"/>
              <a:buChar char="•"/>
            </a:pPr>
            <a:r>
              <a:rPr lang="en-US" sz="1300" dirty="0">
                <a:solidFill>
                  <a:srgbClr val="1F2A24"/>
                </a:solidFill>
                <a:latin typeface="Calibri" pitchFamily="34" charset="0"/>
                <a:ea typeface="Calibri" pitchFamily="34" charset="-122"/>
                <a:cs typeface="Calibri" pitchFamily="34" charset="-120"/>
              </a:rPr>
              <a:t>Matrice extracellulare del vestibolo alterata</a:t>
            </a:r>
            <a:endParaRPr lang="en-US" sz="1300" dirty="0"/>
          </a:p>
          <a:p>
            <a:pPr marL="177800" indent="-177800">
              <a:spcAft>
                <a:spcPts val="500"/>
              </a:spcAft>
              <a:buSzPct val="100000"/>
              <a:buChar char="•"/>
            </a:pPr>
            <a:r>
              <a:rPr lang="en-US" sz="1300" dirty="0">
                <a:solidFill>
                  <a:srgbClr val="1F2A24"/>
                </a:solidFill>
                <a:latin typeface="Calibri" pitchFamily="34" charset="0"/>
                <a:ea typeface="Calibri" pitchFamily="34" charset="-122"/>
                <a:cs typeface="Calibri" pitchFamily="34" charset="-120"/>
              </a:rPr>
              <a:t>Disfunzione dei mastociti locali</a:t>
            </a:r>
            <a:endParaRPr lang="en-US" sz="1300" dirty="0"/>
          </a:p>
        </p:txBody>
      </p:sp>
      <p:sp>
        <p:nvSpPr>
          <p:cNvPr id="14" name="Approcci rigenerativi"/>
          <p:cNvSpPr/>
          <p:nvPr/>
        </p:nvSpPr>
        <p:spPr>
          <a:xfrm>
            <a:off x="4389120" y="3200400"/>
            <a:ext cx="7251192" cy="1417320"/>
          </a:xfrm>
          <a:prstGeom prst="roundRect">
            <a:avLst>
              <a:gd name="adj" fmla="val 7742"/>
            </a:avLst>
          </a:prstGeom>
          <a:solidFill>
            <a:srgbClr val="FFFFFF"/>
          </a:solidFill>
          <a:ln w="12700">
            <a:solidFill>
              <a:srgbClr val="CFE3D3"/>
            </a:solidFill>
            <a:prstDash val="solid"/>
          </a:ln>
          <a:effectLst>
            <a:outerShdw sx="100000" sy="100000" kx="0" ky="0" algn="bl" rotWithShape="0" blurRad="76200" dist="25400" dir="5400000">
              <a:srgbClr val="000000">
                <a:alpha val="12000"/>
              </a:srgbClr>
            </a:outerShdw>
          </a:effectLst>
        </p:spPr>
      </p:sp>
      <p:sp>
        <p:nvSpPr>
          <p:cNvPr id="15" name="Approcci rigenerativi bg"/>
          <p:cNvSpPr/>
          <p:nvPr/>
        </p:nvSpPr>
        <p:spPr>
          <a:xfrm>
            <a:off x="4617720" y="3429000"/>
            <a:ext cx="548640" cy="548640"/>
          </a:xfrm>
          <a:prstGeom prst="ellipse">
            <a:avLst/>
          </a:prstGeom>
          <a:solidFill>
            <a:srgbClr val="22833B"/>
          </a:solidFill>
          <a:ln/>
        </p:spPr>
      </p:sp>
      <p:pic>
        <p:nvPicPr>
          <p:cNvPr id="16" name="Approcci rigenerativi" descr="Approcci rigenerativi">    </p:cNvPr>
          <p:cNvPicPr>
            <a:picLocks noChangeAspect="1"/>
          </p:cNvPicPr>
          <p:nvPr/>
        </p:nvPicPr>
        <p:blipFill>
          <a:blip r:embed="rId3"/>
          <a:stretch>
            <a:fillRect/>
          </a:stretch>
        </p:blipFill>
        <p:spPr>
          <a:xfrm>
            <a:off x="4738421" y="3549701"/>
            <a:ext cx="307238" cy="307238"/>
          </a:xfrm>
          <a:prstGeom prst="rect">
            <a:avLst/>
          </a:prstGeom>
        </p:spPr>
      </p:pic>
      <p:sp>
        <p:nvSpPr>
          <p:cNvPr id="17" name="Text 11"/>
          <p:cNvSpPr txBox="1"/>
          <p:nvPr/>
        </p:nvSpPr>
        <p:spPr>
          <a:xfrm>
            <a:off x="4617720" y="4023360"/>
            <a:ext cx="1371600" cy="502920"/>
          </a:xfrm>
          <a:prstGeom prst="rect">
            <a:avLst/>
          </a:prstGeom>
          <a:noFill/>
          <a:ln/>
        </p:spPr>
        <p:txBody>
          <a:bodyPr wrap="square" lIns="0" tIns="0" rIns="0" bIns="0" rtlCol="0" anchor="t"/>
          <a:lstStyle/>
          <a:p>
            <a:pPr indent="0" marL="0">
              <a:buNone/>
            </a:pPr>
            <a:r>
              <a:rPr lang="en-US" sz="1300" b="1" dirty="0">
                <a:solidFill>
                  <a:srgbClr val="22833B"/>
                </a:solidFill>
                <a:latin typeface="Calibri" pitchFamily="34" charset="0"/>
                <a:ea typeface="Calibri" pitchFamily="34" charset="-122"/>
                <a:cs typeface="Calibri" pitchFamily="34" charset="-120"/>
              </a:rPr>
              <a:t>Approcci rigenerativi</a:t>
            </a:r>
            <a:endParaRPr lang="en-US" sz="1300" dirty="0"/>
          </a:p>
        </p:txBody>
      </p:sp>
      <p:sp>
        <p:nvSpPr>
          <p:cNvPr id="18" name="Text 12"/>
          <p:cNvSpPr txBox="1"/>
          <p:nvPr/>
        </p:nvSpPr>
        <p:spPr>
          <a:xfrm>
            <a:off x="6126480" y="3364992"/>
            <a:ext cx="2651760" cy="1143000"/>
          </a:xfrm>
          <a:prstGeom prst="rect">
            <a:avLst/>
          </a:prstGeom>
          <a:noFill/>
          <a:ln/>
        </p:spPr>
        <p:txBody>
          <a:bodyPr wrap="square" lIns="0" tIns="0" rIns="0" bIns="0" rtlCol="0" anchor="ctr"/>
          <a:lstStyle/>
          <a:p>
            <a:pPr marL="177800" indent="-177800">
              <a:spcAft>
                <a:spcPts val="500"/>
              </a:spcAft>
              <a:buSzPct val="100000"/>
              <a:buChar char="•"/>
            </a:pPr>
            <a:r>
              <a:rPr lang="en-US" sz="1300" dirty="0">
                <a:solidFill>
                  <a:srgbClr val="1F2A24"/>
                </a:solidFill>
                <a:latin typeface="Calibri" pitchFamily="34" charset="0"/>
                <a:ea typeface="Calibri" pitchFamily="34" charset="-122"/>
                <a:cs typeface="Calibri" pitchFamily="34" charset="-120"/>
              </a:rPr>
              <a:t>PRP nel vestibolo: meno dolore alla pressione e nell’attività sessuale</a:t>
            </a:r>
            <a:endParaRPr lang="en-US" sz="1300" dirty="0"/>
          </a:p>
          <a:p>
            <a:pPr marL="177800" indent="-177800">
              <a:spcAft>
                <a:spcPts val="500"/>
              </a:spcAft>
              <a:buSzPct val="100000"/>
              <a:buChar char="•"/>
            </a:pPr>
            <a:r>
              <a:rPr lang="en-US" sz="1300" dirty="0">
                <a:solidFill>
                  <a:srgbClr val="1F2A24"/>
                </a:solidFill>
                <a:latin typeface="Calibri" pitchFamily="34" charset="0"/>
                <a:ea typeface="Calibri" pitchFamily="34" charset="-122"/>
                <a:cs typeface="Calibri" pitchFamily="34" charset="-120"/>
              </a:rPr>
              <a:t>Acido ialuronico non crosslinkato: modula la matrice</a:t>
            </a:r>
            <a:endParaRPr lang="en-US" sz="1300" dirty="0"/>
          </a:p>
        </p:txBody>
      </p:sp>
      <p:sp>
        <p:nvSpPr>
          <p:cNvPr id="19" name="Text 13"/>
          <p:cNvSpPr txBox="1"/>
          <p:nvPr/>
        </p:nvSpPr>
        <p:spPr>
          <a:xfrm>
            <a:off x="8869680" y="3364992"/>
            <a:ext cx="2651760" cy="1143000"/>
          </a:xfrm>
          <a:prstGeom prst="rect">
            <a:avLst/>
          </a:prstGeom>
          <a:noFill/>
          <a:ln/>
        </p:spPr>
        <p:txBody>
          <a:bodyPr wrap="square" lIns="0" tIns="0" rIns="0" bIns="0" rtlCol="0" anchor="ctr"/>
          <a:lstStyle/>
          <a:p>
            <a:pPr marL="177800" indent="-177800">
              <a:spcAft>
                <a:spcPts val="500"/>
              </a:spcAft>
              <a:buSzPct val="100000"/>
              <a:buChar char="•"/>
            </a:pPr>
            <a:r>
              <a:rPr lang="en-US" sz="1300" dirty="0">
                <a:solidFill>
                  <a:srgbClr val="1F2A24"/>
                </a:solidFill>
                <a:latin typeface="Calibri" pitchFamily="34" charset="0"/>
                <a:ea typeface="Calibri" pitchFamily="34" charset="-122"/>
                <a:cs typeface="Calibri" pitchFamily="34" charset="-120"/>
              </a:rPr>
              <a:t>Radiofrequenza: neuromodulazione (serie di casi)</a:t>
            </a:r>
            <a:endParaRPr lang="en-US" sz="1300" dirty="0"/>
          </a:p>
        </p:txBody>
      </p:sp>
      <p:sp>
        <p:nvSpPr>
          <p:cNvPr id="20" name="Componente ormonale"/>
          <p:cNvSpPr/>
          <p:nvPr/>
        </p:nvSpPr>
        <p:spPr>
          <a:xfrm>
            <a:off x="4389120" y="4754880"/>
            <a:ext cx="7251192" cy="1417320"/>
          </a:xfrm>
          <a:prstGeom prst="roundRect">
            <a:avLst>
              <a:gd name="adj" fmla="val 7742"/>
            </a:avLst>
          </a:prstGeom>
          <a:solidFill>
            <a:srgbClr val="FFFFFF"/>
          </a:solidFill>
          <a:ln w="12700">
            <a:solidFill>
              <a:srgbClr val="CFE3D3"/>
            </a:solidFill>
            <a:prstDash val="solid"/>
          </a:ln>
          <a:effectLst>
            <a:outerShdw sx="100000" sy="100000" kx="0" ky="0" algn="bl" rotWithShape="0" blurRad="76200" dist="25400" dir="5400000">
              <a:srgbClr val="000000">
                <a:alpha val="12000"/>
              </a:srgbClr>
            </a:outerShdw>
          </a:effectLst>
        </p:spPr>
      </p:sp>
      <p:sp>
        <p:nvSpPr>
          <p:cNvPr id="21" name="Componente ormonale bg"/>
          <p:cNvSpPr/>
          <p:nvPr/>
        </p:nvSpPr>
        <p:spPr>
          <a:xfrm>
            <a:off x="4617720" y="4983480"/>
            <a:ext cx="548640" cy="548640"/>
          </a:xfrm>
          <a:prstGeom prst="ellipse">
            <a:avLst/>
          </a:prstGeom>
          <a:solidFill>
            <a:srgbClr val="14532D"/>
          </a:solidFill>
          <a:ln/>
        </p:spPr>
      </p:sp>
      <p:pic>
        <p:nvPicPr>
          <p:cNvPr id="22" name="Componente ormonale" descr="Componente ormonale">    </p:cNvPr>
          <p:cNvPicPr>
            <a:picLocks noChangeAspect="1"/>
          </p:cNvPicPr>
          <p:nvPr/>
        </p:nvPicPr>
        <p:blipFill>
          <a:blip r:embed="rId4"/>
          <a:stretch>
            <a:fillRect/>
          </a:stretch>
        </p:blipFill>
        <p:spPr>
          <a:xfrm>
            <a:off x="4738421" y="5104181"/>
            <a:ext cx="307238" cy="307238"/>
          </a:xfrm>
          <a:prstGeom prst="rect">
            <a:avLst/>
          </a:prstGeom>
        </p:spPr>
      </p:pic>
      <p:sp>
        <p:nvSpPr>
          <p:cNvPr id="23" name="Text 16"/>
          <p:cNvSpPr txBox="1"/>
          <p:nvPr/>
        </p:nvSpPr>
        <p:spPr>
          <a:xfrm>
            <a:off x="4617720" y="5577840"/>
            <a:ext cx="1371600" cy="502920"/>
          </a:xfrm>
          <a:prstGeom prst="rect">
            <a:avLst/>
          </a:prstGeom>
          <a:noFill/>
          <a:ln/>
        </p:spPr>
        <p:txBody>
          <a:bodyPr wrap="square" lIns="0" tIns="0" rIns="0" bIns="0" rtlCol="0" anchor="t"/>
          <a:lstStyle/>
          <a:p>
            <a:pPr indent="0" marL="0">
              <a:buNone/>
            </a:pPr>
            <a:r>
              <a:rPr lang="en-US" sz="1300" b="1" dirty="0">
                <a:solidFill>
                  <a:srgbClr val="14532D"/>
                </a:solidFill>
                <a:latin typeface="Calibri" pitchFamily="34" charset="0"/>
                <a:ea typeface="Calibri" pitchFamily="34" charset="-122"/>
                <a:cs typeface="Calibri" pitchFamily="34" charset="-120"/>
              </a:rPr>
              <a:t>Componente ormonale</a:t>
            </a:r>
            <a:endParaRPr lang="en-US" sz="1300" dirty="0"/>
          </a:p>
        </p:txBody>
      </p:sp>
      <p:sp>
        <p:nvSpPr>
          <p:cNvPr id="24" name="Text 17"/>
          <p:cNvSpPr txBox="1"/>
          <p:nvPr/>
        </p:nvSpPr>
        <p:spPr>
          <a:xfrm>
            <a:off x="6126480" y="4919472"/>
            <a:ext cx="2651760" cy="1143000"/>
          </a:xfrm>
          <a:prstGeom prst="rect">
            <a:avLst/>
          </a:prstGeom>
          <a:noFill/>
          <a:ln/>
        </p:spPr>
        <p:txBody>
          <a:bodyPr wrap="square" lIns="0" tIns="0" rIns="0" bIns="0" rtlCol="0" anchor="ctr"/>
          <a:lstStyle/>
          <a:p>
            <a:pPr marL="177800" indent="-177800">
              <a:spcAft>
                <a:spcPts val="500"/>
              </a:spcAft>
              <a:buSzPct val="100000"/>
              <a:buChar char="•"/>
            </a:pPr>
            <a:r>
              <a:rPr lang="en-US" sz="1300" dirty="0">
                <a:solidFill>
                  <a:srgbClr val="1F2A24"/>
                </a:solidFill>
                <a:latin typeface="Calibri" pitchFamily="34" charset="0"/>
                <a:ea typeface="Calibri" pitchFamily="34" charset="-122"/>
                <a:cs typeface="Calibri" pitchFamily="34" charset="-120"/>
              </a:rPr>
              <a:t>Ipoandrogenismo locale da contraccettivi orali combinati prolungati</a:t>
            </a:r>
            <a:endParaRPr lang="en-US" sz="1300" dirty="0"/>
          </a:p>
        </p:txBody>
      </p:sp>
      <p:sp>
        <p:nvSpPr>
          <p:cNvPr id="25" name="Text 18"/>
          <p:cNvSpPr txBox="1"/>
          <p:nvPr/>
        </p:nvSpPr>
        <p:spPr>
          <a:xfrm>
            <a:off x="8869680" y="4919472"/>
            <a:ext cx="2651760" cy="1143000"/>
          </a:xfrm>
          <a:prstGeom prst="rect">
            <a:avLst/>
          </a:prstGeom>
          <a:noFill/>
          <a:ln/>
        </p:spPr>
        <p:txBody>
          <a:bodyPr wrap="square" lIns="0" tIns="0" rIns="0" bIns="0" rtlCol="0" anchor="ctr"/>
          <a:lstStyle/>
          <a:p>
            <a:pPr marL="177800" indent="-177800">
              <a:spcAft>
                <a:spcPts val="500"/>
              </a:spcAft>
              <a:buSzPct val="100000"/>
              <a:buChar char="•"/>
            </a:pPr>
            <a:r>
              <a:rPr lang="en-US" sz="1300" dirty="0">
                <a:solidFill>
                  <a:srgbClr val="1F2A24"/>
                </a:solidFill>
                <a:latin typeface="Calibri" pitchFamily="34" charset="0"/>
                <a:ea typeface="Calibri" pitchFamily="34" charset="-122"/>
                <a:cs typeface="Calibri" pitchFamily="34" charset="-120"/>
              </a:rPr>
              <a:t>DHEA topico o testosterone transdermico a basso dosaggio, nella gestione integrata</a:t>
            </a:r>
            <a:endParaRPr lang="en-US" sz="13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548640" y="292608"/>
            <a:ext cx="10241280" cy="658368"/>
          </a:xfrm>
          <a:prstGeom prst="rect">
            <a:avLst/>
          </a:prstGeom>
          <a:noFill/>
          <a:ln/>
        </p:spPr>
        <p:txBody>
          <a:bodyPr wrap="square" lIns="0" tIns="0" rIns="0" bIns="0" rtlCol="0" anchor="ctr"/>
          <a:lstStyle/>
          <a:p>
            <a:pPr algn="l" indent="0" marL="0">
              <a:buNone/>
            </a:pPr>
            <a:r>
              <a:rPr lang="en-US" sz="3000" b="1" dirty="0">
                <a:solidFill>
                  <a:srgbClr val="14532D"/>
                </a:solidFill>
                <a:latin typeface="Cambria" pitchFamily="34" charset="0"/>
                <a:ea typeface="Cambria" pitchFamily="34" charset="-122"/>
                <a:cs typeface="Cambria" pitchFamily="34" charset="-120"/>
              </a:rPr>
              <a:t>La BHRT come strumento rigenerativo sistemico</a:t>
            </a:r>
            <a:endParaRPr lang="en-US" sz="3000" dirty="0"/>
          </a:p>
        </p:txBody>
      </p:sp>
      <p:sp>
        <p:nvSpPr>
          <p:cNvPr id="3" name="Text 1"/>
          <p:cNvSpPr/>
          <p:nvPr>
            <p:ph idx="103" type="body" hasCustomPrompt="1"/>
          </p:nvPr>
        </p:nvSpPr>
        <p:spPr>
          <a:xfrm>
            <a:off x="548640" y="969264"/>
            <a:ext cx="10241280" cy="384048"/>
          </a:xfrm>
          <a:prstGeom prst="rect">
            <a:avLst/>
          </a:prstGeom>
          <a:noFill/>
          <a:ln/>
        </p:spPr>
        <p:txBody>
          <a:bodyPr wrap="square" lIns="0" tIns="0" rIns="0" bIns="0" rtlCol="0" anchor="t"/>
          <a:lstStyle/>
          <a:p>
            <a:pPr indent="0" marL="0">
              <a:buNone/>
            </a:pPr>
            <a:r>
              <a:rPr lang="en-US" sz="1500" i="1" dirty="0">
                <a:solidFill>
                  <a:srgbClr val="5B6B60"/>
                </a:solidFill>
                <a:latin typeface="Calibri" pitchFamily="34" charset="0"/>
                <a:ea typeface="Calibri" pitchFamily="34" charset="-122"/>
                <a:cs typeface="Calibri" pitchFamily="34" charset="-120"/>
              </a:rPr>
              <a:t>Non alternativa alla medicina rigenerativa: è la sequenza logica</a:t>
            </a:r>
            <a:endParaRPr lang="en-US" sz="1500" dirty="0"/>
          </a:p>
        </p:txBody>
      </p:sp>
      <p:sp>
        <p:nvSpPr>
          <p:cNvPr id="5" name="17β-estradiolo"/>
          <p:cNvSpPr/>
          <p:nvPr/>
        </p:nvSpPr>
        <p:spPr>
          <a:xfrm>
            <a:off x="548640" y="2011680"/>
            <a:ext cx="3520440" cy="4160520"/>
          </a:xfrm>
          <a:prstGeom prst="roundRect">
            <a:avLst>
              <a:gd name="adj" fmla="val 3117"/>
            </a:avLst>
          </a:prstGeom>
          <a:solidFill>
            <a:srgbClr val="FBE9EF"/>
          </a:solidFill>
          <a:ln/>
        </p:spPr>
      </p:sp>
      <p:sp>
        <p:nvSpPr>
          <p:cNvPr id="6" name="17β-estradiolo bg"/>
          <p:cNvSpPr/>
          <p:nvPr/>
        </p:nvSpPr>
        <p:spPr>
          <a:xfrm>
            <a:off x="1897380" y="1645920"/>
            <a:ext cx="822960" cy="822960"/>
          </a:xfrm>
          <a:prstGeom prst="ellipse">
            <a:avLst/>
          </a:prstGeom>
          <a:solidFill>
            <a:srgbClr val="C2416B"/>
          </a:solidFill>
          <a:ln/>
        </p:spPr>
      </p:sp>
      <p:pic>
        <p:nvPicPr>
          <p:cNvPr id="7" name="17β-estradiolo" descr="17β-estradiolo">    </p:cNvPr>
          <p:cNvPicPr>
            <a:picLocks noChangeAspect="1"/>
          </p:cNvPicPr>
          <p:nvPr/>
        </p:nvPicPr>
        <p:blipFill>
          <a:blip r:embed="rId1"/>
          <a:stretch>
            <a:fillRect/>
          </a:stretch>
        </p:blipFill>
        <p:spPr>
          <a:xfrm>
            <a:off x="2078431" y="1826971"/>
            <a:ext cx="460858" cy="460858"/>
          </a:xfrm>
          <a:prstGeom prst="rect">
            <a:avLst/>
          </a:prstGeom>
        </p:spPr>
      </p:pic>
      <p:sp>
        <p:nvSpPr>
          <p:cNvPr id="8" name="Text 4"/>
          <p:cNvSpPr txBox="1"/>
          <p:nvPr/>
        </p:nvSpPr>
        <p:spPr>
          <a:xfrm>
            <a:off x="548640" y="2560320"/>
            <a:ext cx="3520440" cy="411480"/>
          </a:xfrm>
          <a:prstGeom prst="rect">
            <a:avLst/>
          </a:prstGeom>
          <a:noFill/>
          <a:ln/>
        </p:spPr>
        <p:txBody>
          <a:bodyPr wrap="square" lIns="0" tIns="0" rIns="0" bIns="0" rtlCol="0" anchor="t"/>
          <a:lstStyle/>
          <a:p>
            <a:pPr algn="ctr" indent="0" marL="0">
              <a:buNone/>
            </a:pPr>
            <a:r>
              <a:rPr lang="en-US" sz="1900" b="1" dirty="0">
                <a:solidFill>
                  <a:srgbClr val="C2416B"/>
                </a:solidFill>
                <a:latin typeface="Cambria" pitchFamily="34" charset="0"/>
                <a:ea typeface="Cambria" pitchFamily="34" charset="-122"/>
                <a:cs typeface="Cambria" pitchFamily="34" charset="-120"/>
              </a:rPr>
              <a:t>17β-estradiolo</a:t>
            </a:r>
            <a:endParaRPr lang="en-US" sz="1900" dirty="0"/>
          </a:p>
        </p:txBody>
      </p:sp>
      <p:sp>
        <p:nvSpPr>
          <p:cNvPr id="9" name="Text 5"/>
          <p:cNvSpPr txBox="1"/>
          <p:nvPr/>
        </p:nvSpPr>
        <p:spPr>
          <a:xfrm>
            <a:off x="822960" y="3108960"/>
            <a:ext cx="3063240" cy="292608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1F2A24"/>
                </a:solidFill>
                <a:latin typeface="Calibri" pitchFamily="34" charset="0"/>
                <a:ea typeface="Calibri" pitchFamily="34" charset="-122"/>
                <a:cs typeface="Calibri" pitchFamily="34" charset="-120"/>
              </a:rPr>
              <a:t>Sintesi di collagene I e III</a:t>
            </a:r>
            <a:endParaRPr lang="en-US" sz="1400" dirty="0"/>
          </a:p>
          <a:p>
            <a:pPr marL="177800" indent="-177800">
              <a:spcAft>
                <a:spcPts val="500"/>
              </a:spcAft>
              <a:buSzPct val="100000"/>
              <a:buChar char="•"/>
            </a:pPr>
            <a:r>
              <a:rPr lang="en-US" sz="1400" dirty="0">
                <a:solidFill>
                  <a:srgbClr val="1F2A24"/>
                </a:solidFill>
                <a:latin typeface="Calibri" pitchFamily="34" charset="0"/>
                <a:ea typeface="Calibri" pitchFamily="34" charset="-122"/>
                <a:cs typeface="Calibri" pitchFamily="34" charset="-120"/>
              </a:rPr>
              <a:t>Upregulation di VEGF: angiogenesi</a:t>
            </a:r>
            <a:endParaRPr lang="en-US" sz="1400" dirty="0"/>
          </a:p>
          <a:p>
            <a:pPr marL="177800" indent="-177800">
              <a:spcAft>
                <a:spcPts val="500"/>
              </a:spcAft>
              <a:buSzPct val="100000"/>
              <a:buChar char="•"/>
            </a:pPr>
            <a:r>
              <a:rPr lang="en-US" sz="1400" dirty="0">
                <a:solidFill>
                  <a:srgbClr val="1F2A24"/>
                </a:solidFill>
                <a:latin typeface="Calibri" pitchFamily="34" charset="0"/>
                <a:ea typeface="Calibri" pitchFamily="34" charset="-122"/>
                <a:cs typeface="Calibri" pitchFamily="34" charset="-120"/>
              </a:rPr>
              <a:t>Attivazione delle cellule satellite muscolari</a:t>
            </a:r>
            <a:endParaRPr lang="en-US" sz="1400" dirty="0"/>
          </a:p>
          <a:p>
            <a:pPr marL="177800" indent="-177800">
              <a:spcAft>
                <a:spcPts val="500"/>
              </a:spcAft>
              <a:buSzPct val="100000"/>
              <a:buChar char="•"/>
            </a:pPr>
            <a:r>
              <a:rPr lang="en-US" sz="1400" dirty="0">
                <a:solidFill>
                  <a:srgbClr val="1F2A24"/>
                </a:solidFill>
                <a:latin typeface="Calibri" pitchFamily="34" charset="0"/>
                <a:ea typeface="Calibri" pitchFamily="34" charset="-122"/>
                <a:cs typeface="Calibri" pitchFamily="34" charset="-120"/>
              </a:rPr>
              <a:t>Meno inflammaging: IL-6, TNF-α, NF-κB</a:t>
            </a:r>
            <a:endParaRPr lang="en-US" sz="1400" dirty="0"/>
          </a:p>
          <a:p>
            <a:pPr marL="177800" indent="-177800">
              <a:spcAft>
                <a:spcPts val="500"/>
              </a:spcAft>
              <a:buSzPct val="100000"/>
              <a:buChar char="•"/>
            </a:pPr>
            <a:r>
              <a:rPr lang="en-US" sz="1400" dirty="0">
                <a:solidFill>
                  <a:srgbClr val="1F2A24"/>
                </a:solidFill>
                <a:latin typeface="Calibri" pitchFamily="34" charset="0"/>
                <a:ea typeface="Calibri" pitchFamily="34" charset="-122"/>
                <a:cs typeface="Calibri" pitchFamily="34" charset="-120"/>
              </a:rPr>
              <a:t>Upregulation di BDNF: neuroprotezione</a:t>
            </a:r>
            <a:endParaRPr lang="en-US" sz="1400" dirty="0"/>
          </a:p>
        </p:txBody>
      </p:sp>
      <p:sp>
        <p:nvSpPr>
          <p:cNvPr id="10" name="Progesterone"/>
          <p:cNvSpPr/>
          <p:nvPr/>
        </p:nvSpPr>
        <p:spPr>
          <a:xfrm>
            <a:off x="4334256" y="2011680"/>
            <a:ext cx="3520440" cy="4160520"/>
          </a:xfrm>
          <a:prstGeom prst="roundRect">
            <a:avLst>
              <a:gd name="adj" fmla="val 3117"/>
            </a:avLst>
          </a:prstGeom>
          <a:solidFill>
            <a:srgbClr val="EAF4EC"/>
          </a:solidFill>
          <a:ln/>
        </p:spPr>
      </p:sp>
      <p:sp>
        <p:nvSpPr>
          <p:cNvPr id="11" name="Progesterone bg"/>
          <p:cNvSpPr/>
          <p:nvPr/>
        </p:nvSpPr>
        <p:spPr>
          <a:xfrm>
            <a:off x="5682996" y="1645920"/>
            <a:ext cx="822960" cy="822960"/>
          </a:xfrm>
          <a:prstGeom prst="ellipse">
            <a:avLst/>
          </a:prstGeom>
          <a:solidFill>
            <a:srgbClr val="22833B"/>
          </a:solidFill>
          <a:ln/>
        </p:spPr>
      </p:sp>
      <p:pic>
        <p:nvPicPr>
          <p:cNvPr id="12" name="Progesterone" descr="Progesterone">    </p:cNvPr>
          <p:cNvPicPr>
            <a:picLocks noChangeAspect="1"/>
          </p:cNvPicPr>
          <p:nvPr/>
        </p:nvPicPr>
        <p:blipFill>
          <a:blip r:embed="rId2"/>
          <a:stretch>
            <a:fillRect/>
          </a:stretch>
        </p:blipFill>
        <p:spPr>
          <a:xfrm>
            <a:off x="5864047" y="1826971"/>
            <a:ext cx="460858" cy="460858"/>
          </a:xfrm>
          <a:prstGeom prst="rect">
            <a:avLst/>
          </a:prstGeom>
        </p:spPr>
      </p:pic>
      <p:sp>
        <p:nvSpPr>
          <p:cNvPr id="13" name="Text 8"/>
          <p:cNvSpPr txBox="1"/>
          <p:nvPr/>
        </p:nvSpPr>
        <p:spPr>
          <a:xfrm>
            <a:off x="4334256" y="2560320"/>
            <a:ext cx="3520440" cy="411480"/>
          </a:xfrm>
          <a:prstGeom prst="rect">
            <a:avLst/>
          </a:prstGeom>
          <a:noFill/>
          <a:ln/>
        </p:spPr>
        <p:txBody>
          <a:bodyPr wrap="square" lIns="0" tIns="0" rIns="0" bIns="0" rtlCol="0" anchor="t"/>
          <a:lstStyle/>
          <a:p>
            <a:pPr algn="ctr" indent="0" marL="0">
              <a:buNone/>
            </a:pPr>
            <a:r>
              <a:rPr lang="en-US" sz="1900" b="1" dirty="0">
                <a:solidFill>
                  <a:srgbClr val="22833B"/>
                </a:solidFill>
                <a:latin typeface="Cambria" pitchFamily="34" charset="0"/>
                <a:ea typeface="Cambria" pitchFamily="34" charset="-122"/>
                <a:cs typeface="Cambria" pitchFamily="34" charset="-120"/>
              </a:rPr>
              <a:t>Progesterone</a:t>
            </a:r>
            <a:endParaRPr lang="en-US" sz="1900" dirty="0"/>
          </a:p>
        </p:txBody>
      </p:sp>
      <p:sp>
        <p:nvSpPr>
          <p:cNvPr id="14" name="Text 9"/>
          <p:cNvSpPr txBox="1"/>
          <p:nvPr/>
        </p:nvSpPr>
        <p:spPr>
          <a:xfrm>
            <a:off x="4608576" y="3108960"/>
            <a:ext cx="3063240" cy="292608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1F2A24"/>
                </a:solidFill>
                <a:latin typeface="Calibri" pitchFamily="34" charset="0"/>
                <a:ea typeface="Calibri" pitchFamily="34" charset="-122"/>
                <a:cs typeface="Calibri" pitchFamily="34" charset="-120"/>
              </a:rPr>
              <a:t>Modula i recettori della relaxina nel connettivo pelvico</a:t>
            </a:r>
            <a:endParaRPr lang="en-US" sz="1400" dirty="0"/>
          </a:p>
          <a:p>
            <a:pPr marL="177800" indent="-177800">
              <a:spcAft>
                <a:spcPts val="500"/>
              </a:spcAft>
              <a:buSzPct val="100000"/>
              <a:buChar char="•"/>
            </a:pPr>
            <a:r>
              <a:rPr lang="en-US" sz="1400" dirty="0">
                <a:solidFill>
                  <a:srgbClr val="1F2A24"/>
                </a:solidFill>
                <a:latin typeface="Calibri" pitchFamily="34" charset="0"/>
                <a:ea typeface="Calibri" pitchFamily="34" charset="-122"/>
                <a:cs typeface="Calibri" pitchFamily="34" charset="-120"/>
              </a:rPr>
              <a:t>Effetto osteoanabolico (osteocalcina, P1NP)</a:t>
            </a:r>
            <a:endParaRPr lang="en-US" sz="1400" dirty="0"/>
          </a:p>
          <a:p>
            <a:pPr marL="177800" indent="-177800">
              <a:spcAft>
                <a:spcPts val="500"/>
              </a:spcAft>
              <a:buSzPct val="100000"/>
              <a:buChar char="•"/>
            </a:pPr>
            <a:r>
              <a:rPr lang="en-US" sz="1400" dirty="0">
                <a:solidFill>
                  <a:srgbClr val="1F2A24"/>
                </a:solidFill>
                <a:latin typeface="Calibri" pitchFamily="34" charset="0"/>
                <a:ea typeface="Calibri" pitchFamily="34" charset="-122"/>
                <a:cs typeface="Calibri" pitchFamily="34" charset="-120"/>
              </a:rPr>
              <a:t>Azione antiproliferativa endometriale</a:t>
            </a:r>
            <a:endParaRPr lang="en-US" sz="1400" dirty="0"/>
          </a:p>
          <a:p>
            <a:pPr marL="177800" indent="-177800">
              <a:spcAft>
                <a:spcPts val="500"/>
              </a:spcAft>
              <a:buSzPct val="100000"/>
              <a:buChar char="•"/>
            </a:pPr>
            <a:r>
              <a:rPr lang="en-US" sz="1400" dirty="0">
                <a:solidFill>
                  <a:srgbClr val="1F2A24"/>
                </a:solidFill>
                <a:latin typeface="Calibri" pitchFamily="34" charset="0"/>
                <a:ea typeface="Calibri" pitchFamily="34" charset="-122"/>
                <a:cs typeface="Calibri" pitchFamily="34" charset="-120"/>
              </a:rPr>
              <a:t>Modula il ritmo circadiano e il recupero notturno</a:t>
            </a:r>
            <a:endParaRPr lang="en-US" sz="1400" dirty="0"/>
          </a:p>
        </p:txBody>
      </p:sp>
      <p:sp>
        <p:nvSpPr>
          <p:cNvPr id="15" name="Testosterone e DHEA"/>
          <p:cNvSpPr/>
          <p:nvPr/>
        </p:nvSpPr>
        <p:spPr>
          <a:xfrm>
            <a:off x="8119872" y="2011680"/>
            <a:ext cx="3520440" cy="4160520"/>
          </a:xfrm>
          <a:prstGeom prst="roundRect">
            <a:avLst>
              <a:gd name="adj" fmla="val 3117"/>
            </a:avLst>
          </a:prstGeom>
          <a:solidFill>
            <a:srgbClr val="14532D"/>
          </a:solidFill>
          <a:ln/>
        </p:spPr>
      </p:sp>
      <p:sp>
        <p:nvSpPr>
          <p:cNvPr id="16" name="Testosterone e DHEA bg"/>
          <p:cNvSpPr/>
          <p:nvPr/>
        </p:nvSpPr>
        <p:spPr>
          <a:xfrm>
            <a:off x="9468612" y="1645920"/>
            <a:ext cx="822960" cy="822960"/>
          </a:xfrm>
          <a:prstGeom prst="ellipse">
            <a:avLst/>
          </a:prstGeom>
          <a:solidFill>
            <a:srgbClr val="8CBF3F"/>
          </a:solidFill>
          <a:ln/>
        </p:spPr>
      </p:sp>
      <p:pic>
        <p:nvPicPr>
          <p:cNvPr id="17" name="Testosterone e DHEA" descr="Testosterone e DHEA">    </p:cNvPr>
          <p:cNvPicPr>
            <a:picLocks noChangeAspect="1"/>
          </p:cNvPicPr>
          <p:nvPr/>
        </p:nvPicPr>
        <p:blipFill>
          <a:blip r:embed="rId3"/>
          <a:stretch>
            <a:fillRect/>
          </a:stretch>
        </p:blipFill>
        <p:spPr>
          <a:xfrm>
            <a:off x="9649663" y="1826971"/>
            <a:ext cx="460858" cy="460858"/>
          </a:xfrm>
          <a:prstGeom prst="rect">
            <a:avLst/>
          </a:prstGeom>
        </p:spPr>
      </p:pic>
      <p:sp>
        <p:nvSpPr>
          <p:cNvPr id="18" name="Text 12"/>
          <p:cNvSpPr txBox="1"/>
          <p:nvPr/>
        </p:nvSpPr>
        <p:spPr>
          <a:xfrm>
            <a:off x="8119872" y="2560320"/>
            <a:ext cx="3520440" cy="411480"/>
          </a:xfrm>
          <a:prstGeom prst="rect">
            <a:avLst/>
          </a:prstGeom>
          <a:noFill/>
          <a:ln/>
        </p:spPr>
        <p:txBody>
          <a:bodyPr wrap="square" lIns="0" tIns="0" rIns="0" bIns="0" rtlCol="0" anchor="t"/>
          <a:lstStyle/>
          <a:p>
            <a:pPr algn="ctr" indent="0" marL="0">
              <a:buNone/>
            </a:pPr>
            <a:r>
              <a:rPr lang="en-US" sz="1900" b="1" dirty="0">
                <a:solidFill>
                  <a:srgbClr val="FFFFFF"/>
                </a:solidFill>
                <a:latin typeface="Cambria" pitchFamily="34" charset="0"/>
                <a:ea typeface="Cambria" pitchFamily="34" charset="-122"/>
                <a:cs typeface="Cambria" pitchFamily="34" charset="-120"/>
              </a:rPr>
              <a:t>Testosterone e DHEA</a:t>
            </a:r>
            <a:endParaRPr lang="en-US" sz="1900" dirty="0"/>
          </a:p>
        </p:txBody>
      </p:sp>
      <p:graphicFrame>
        <p:nvGraphicFramePr>
          <p:cNvPr id="19" name="Chart 0" descr=""/>
          <p:cNvGraphicFramePr/>
          <p:nvPr/>
        </p:nvGraphicFramePr>
        <p:xfrm>
          <a:off x="8302752" y="3017520"/>
          <a:ext cx="1737360" cy="1691640"/>
        </p:xfrm>
        <a:graphic xmlns:a="http://schemas.openxmlformats.org/drawingml/2006/main">
          <a:graphicData uri="http://schemas.openxmlformats.org/drawingml/2006/chart">
            <c:chart xmlns:c="http://schemas.openxmlformats.org/drawingml/2006/chart" r:id="rId4"/>
          </a:graphicData>
        </a:graphic>
      </p:graphicFrame>
      <p:sp>
        <p:nvSpPr>
          <p:cNvPr id="20" name="Text 13"/>
          <p:cNvSpPr txBox="1"/>
          <p:nvPr/>
        </p:nvSpPr>
        <p:spPr>
          <a:xfrm>
            <a:off x="10085832" y="3246120"/>
            <a:ext cx="1417320" cy="1280160"/>
          </a:xfrm>
          <a:prstGeom prst="rect">
            <a:avLst/>
          </a:prstGeom>
          <a:noFill/>
          <a:ln/>
        </p:spPr>
        <p:txBody>
          <a:bodyPr wrap="square" lIns="0" tIns="0" rIns="0" bIns="0" rtlCol="0" anchor="ctr"/>
          <a:lstStyle/>
          <a:p>
            <a:pPr indent="0" marL="0">
              <a:buNone/>
            </a:pPr>
            <a:r>
              <a:rPr lang="en-US" sz="3000" b="1" dirty="0">
                <a:solidFill>
                  <a:srgbClr val="8CBF3F"/>
                </a:solidFill>
                <a:latin typeface="Cambria" pitchFamily="34" charset="0"/>
                <a:ea typeface="Cambria" pitchFamily="34" charset="-122"/>
                <a:cs typeface="Cambria" pitchFamily="34" charset="-120"/>
              </a:rPr>
              <a:t>−50%</a:t>
            </a:r>
            <a:endParaRPr lang="en-US" sz="3000" dirty="0"/>
          </a:p>
          <a:p>
            <a:pPr indent="0" marL="0">
              <a:buNone/>
            </a:pPr>
            <a:r>
              <a:rPr lang="en-US" sz="1200" dirty="0">
                <a:solidFill>
                  <a:srgbClr val="FFFFFF"/>
                </a:solidFill>
                <a:latin typeface="Calibri" pitchFamily="34" charset="0"/>
                <a:ea typeface="Calibri" pitchFamily="34" charset="-122"/>
                <a:cs typeface="Calibri" pitchFamily="34" charset="-120"/>
              </a:rPr>
              <a:t>di testosterone tra i 20 e i 45 anni</a:t>
            </a:r>
            <a:endParaRPr lang="en-US" sz="3000" dirty="0"/>
          </a:p>
        </p:txBody>
      </p:sp>
      <p:sp>
        <p:nvSpPr>
          <p:cNvPr id="21" name="Text 14"/>
          <p:cNvSpPr txBox="1"/>
          <p:nvPr/>
        </p:nvSpPr>
        <p:spPr>
          <a:xfrm>
            <a:off x="8394192" y="4800600"/>
            <a:ext cx="3063240" cy="128016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FFFFFF"/>
                </a:solidFill>
                <a:latin typeface="Calibri" pitchFamily="34" charset="0"/>
                <a:ea typeface="Calibri" pitchFamily="34" charset="-122"/>
                <a:cs typeface="Calibri" pitchFamily="34" charset="-120"/>
              </a:rPr>
              <a:t>Prasterone intravaginale: approvato FDA per la dispareunia post-menopausale</a:t>
            </a:r>
            <a:endParaRPr lang="en-US" sz="1300" dirty="0"/>
          </a:p>
          <a:p>
            <a:pPr marL="177800" indent="-177800">
              <a:spcAft>
                <a:spcPts val="500"/>
              </a:spcAft>
              <a:buSzPct val="100000"/>
              <a:buChar char="•"/>
            </a:pPr>
            <a:r>
              <a:rPr lang="en-US" sz="1300" dirty="0">
                <a:solidFill>
                  <a:srgbClr val="FFFFFF"/>
                </a:solidFill>
                <a:latin typeface="Calibri" pitchFamily="34" charset="0"/>
                <a:ea typeface="Calibri" pitchFamily="34" charset="-122"/>
                <a:cs typeface="Calibri" pitchFamily="34" charset="-120"/>
              </a:rPr>
              <a:t>Testosterone transdermico a basso dosaggio in donne selezionate</a:t>
            </a:r>
            <a:endParaRPr lang="en-US" sz="13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548640" y="292608"/>
            <a:ext cx="10241280" cy="658368"/>
          </a:xfrm>
          <a:prstGeom prst="rect">
            <a:avLst/>
          </a:prstGeom>
          <a:noFill/>
          <a:ln/>
        </p:spPr>
        <p:txBody>
          <a:bodyPr wrap="square" lIns="0" tIns="0" rIns="0" bIns="0" rtlCol="0" anchor="ctr"/>
          <a:lstStyle/>
          <a:p>
            <a:pPr algn="l" indent="0" marL="0">
              <a:buNone/>
            </a:pPr>
            <a:r>
              <a:rPr lang="en-US" sz="3000" b="1" dirty="0">
                <a:solidFill>
                  <a:srgbClr val="14532D"/>
                </a:solidFill>
                <a:latin typeface="Cambria" pitchFamily="34" charset="0"/>
                <a:ea typeface="Cambria" pitchFamily="34" charset="-122"/>
                <a:cs typeface="Cambria" pitchFamily="34" charset="-120"/>
              </a:rPr>
              <a:t>Protocollo integrato: dalla valutazione al trattamento</a:t>
            </a:r>
            <a:endParaRPr lang="en-US" sz="3000" dirty="0"/>
          </a:p>
        </p:txBody>
      </p:sp>
      <p:sp>
        <p:nvSpPr>
          <p:cNvPr id="3" name="Text 1"/>
          <p:cNvSpPr/>
          <p:nvPr>
            <p:ph idx="103" type="body" hasCustomPrompt="1"/>
          </p:nvPr>
        </p:nvSpPr>
        <p:spPr>
          <a:xfrm>
            <a:off x="548640" y="969264"/>
            <a:ext cx="10241280" cy="384048"/>
          </a:xfrm>
          <a:prstGeom prst="rect">
            <a:avLst/>
          </a:prstGeom>
          <a:noFill/>
          <a:ln/>
        </p:spPr>
        <p:txBody>
          <a:bodyPr wrap="square" lIns="0" tIns="0" rIns="0" bIns="0" rtlCol="0" anchor="t"/>
          <a:lstStyle/>
          <a:p>
            <a:pPr indent="0" marL="0">
              <a:buNone/>
            </a:pPr>
            <a:r>
              <a:rPr lang="en-US" sz="1500" i="1" dirty="0">
                <a:solidFill>
                  <a:srgbClr val="5B6B60"/>
                </a:solidFill>
                <a:latin typeface="Calibri" pitchFamily="34" charset="0"/>
                <a:ea typeface="Calibri" pitchFamily="34" charset="-122"/>
                <a:cs typeface="Calibri" pitchFamily="34" charset="-120"/>
              </a:rPr>
              <a:t>Schema orientativo, modulabile sul quadro individuale</a:t>
            </a:r>
            <a:endParaRPr lang="en-US" sz="1500" dirty="0"/>
          </a:p>
        </p:txBody>
      </p:sp>
      <p:sp>
        <p:nvSpPr>
          <p:cNvPr id="5" name="Shape 2"/>
          <p:cNvSpPr/>
          <p:nvPr/>
        </p:nvSpPr>
        <p:spPr>
          <a:xfrm>
            <a:off x="1828800" y="2331720"/>
            <a:ext cx="8531352" cy="0"/>
          </a:xfrm>
          <a:prstGeom prst="line">
            <a:avLst/>
          </a:prstGeom>
          <a:noFill/>
          <a:ln w="38100">
            <a:solidFill>
              <a:srgbClr val="CFE3D3"/>
            </a:solidFill>
            <a:prstDash val="solid"/>
          </a:ln>
        </p:spPr>
      </p:sp>
      <p:sp>
        <p:nvSpPr>
          <p:cNvPr id="6" name="Text 3"/>
          <p:cNvSpPr txBox="1"/>
          <p:nvPr/>
        </p:nvSpPr>
        <p:spPr>
          <a:xfrm>
            <a:off x="548640" y="1600200"/>
            <a:ext cx="2560320" cy="274320"/>
          </a:xfrm>
          <a:prstGeom prst="rect">
            <a:avLst/>
          </a:prstGeom>
          <a:noFill/>
          <a:ln/>
        </p:spPr>
        <p:txBody>
          <a:bodyPr wrap="square" lIns="0" tIns="0" rIns="0" bIns="0" rtlCol="0" anchor="t"/>
          <a:lstStyle/>
          <a:p>
            <a:pPr algn="ctr" indent="0" marL="0">
              <a:buNone/>
            </a:pPr>
            <a:r>
              <a:rPr lang="en-US" sz="1300" b="1" dirty="0">
                <a:solidFill>
                  <a:srgbClr val="5B6B60"/>
                </a:solidFill>
                <a:latin typeface="Calibri" pitchFamily="34" charset="0"/>
                <a:ea typeface="Calibri" pitchFamily="34" charset="-122"/>
                <a:cs typeface="Calibri" pitchFamily="34" charset="-120"/>
              </a:rPr>
              <a:t>Baseline</a:t>
            </a:r>
            <a:endParaRPr lang="en-US" sz="1300" dirty="0"/>
          </a:p>
        </p:txBody>
      </p:sp>
      <p:sp>
        <p:nvSpPr>
          <p:cNvPr id="7" name="Valutazione bg"/>
          <p:cNvSpPr/>
          <p:nvPr/>
        </p:nvSpPr>
        <p:spPr>
          <a:xfrm>
            <a:off x="1463040" y="1965960"/>
            <a:ext cx="731520" cy="731520"/>
          </a:xfrm>
          <a:prstGeom prst="ellipse">
            <a:avLst/>
          </a:prstGeom>
          <a:solidFill>
            <a:srgbClr val="5B6B60"/>
          </a:solidFill>
          <a:ln/>
        </p:spPr>
      </p:sp>
      <p:pic>
        <p:nvPicPr>
          <p:cNvPr id="8" name="Valutazione" descr="Valutazione">    </p:cNvPr>
          <p:cNvPicPr>
            <a:picLocks noChangeAspect="1"/>
          </p:cNvPicPr>
          <p:nvPr/>
        </p:nvPicPr>
        <p:blipFill>
          <a:blip r:embed="rId1"/>
          <a:stretch>
            <a:fillRect/>
          </a:stretch>
        </p:blipFill>
        <p:spPr>
          <a:xfrm>
            <a:off x="1623974" y="2126894"/>
            <a:ext cx="409651" cy="409651"/>
          </a:xfrm>
          <a:prstGeom prst="rect">
            <a:avLst/>
          </a:prstGeom>
        </p:spPr>
      </p:pic>
      <p:sp>
        <p:nvSpPr>
          <p:cNvPr id="9" name="Fase 1"/>
          <p:cNvSpPr/>
          <p:nvPr/>
        </p:nvSpPr>
        <p:spPr>
          <a:xfrm>
            <a:off x="548640" y="2880360"/>
            <a:ext cx="2560320" cy="3291840"/>
          </a:xfrm>
          <a:prstGeom prst="roundRect">
            <a:avLst>
              <a:gd name="adj" fmla="val 4286"/>
            </a:avLst>
          </a:prstGeom>
          <a:solidFill>
            <a:srgbClr val="EAF4EC"/>
          </a:solidFill>
          <a:ln/>
        </p:spPr>
      </p:sp>
      <p:sp>
        <p:nvSpPr>
          <p:cNvPr id="10" name="Text 6"/>
          <p:cNvSpPr txBox="1"/>
          <p:nvPr/>
        </p:nvSpPr>
        <p:spPr>
          <a:xfrm>
            <a:off x="731520" y="3017520"/>
            <a:ext cx="2286000" cy="411480"/>
          </a:xfrm>
          <a:prstGeom prst="rect">
            <a:avLst/>
          </a:prstGeom>
          <a:noFill/>
          <a:ln/>
        </p:spPr>
        <p:txBody>
          <a:bodyPr wrap="square" lIns="0" tIns="0" rIns="0" bIns="0" rtlCol="0" anchor="t"/>
          <a:lstStyle/>
          <a:p>
            <a:pPr indent="0" marL="0">
              <a:buNone/>
            </a:pPr>
            <a:r>
              <a:rPr lang="en-US" sz="1700" b="1" dirty="0">
                <a:solidFill>
                  <a:srgbClr val="5B6B60"/>
                </a:solidFill>
                <a:latin typeface="Cambria" pitchFamily="34" charset="0"/>
                <a:ea typeface="Cambria" pitchFamily="34" charset="-122"/>
                <a:cs typeface="Cambria" pitchFamily="34" charset="-120"/>
              </a:rPr>
              <a:t>1 · Valutazione</a:t>
            </a:r>
            <a:endParaRPr lang="en-US" sz="1700" dirty="0"/>
          </a:p>
        </p:txBody>
      </p:sp>
      <p:sp>
        <p:nvSpPr>
          <p:cNvPr id="11" name="Text 7"/>
          <p:cNvSpPr txBox="1"/>
          <p:nvPr/>
        </p:nvSpPr>
        <p:spPr>
          <a:xfrm>
            <a:off x="731520" y="3474720"/>
            <a:ext cx="2240280" cy="260604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1F2A24"/>
                </a:solidFill>
                <a:latin typeface="Calibri" pitchFamily="34" charset="0"/>
                <a:ea typeface="Calibri" pitchFamily="34" charset="-122"/>
                <a:cs typeface="Calibri" pitchFamily="34" charset="-120"/>
              </a:rPr>
              <a:t>Anamnesi: parità, parto, contraccezione, sintomi GSM, FSFI</a:t>
            </a:r>
            <a:endParaRPr lang="en-US" sz="1300" dirty="0"/>
          </a:p>
          <a:p>
            <a:pPr marL="177800" indent="-177800">
              <a:spcAft>
                <a:spcPts val="500"/>
              </a:spcAft>
              <a:buSzPct val="100000"/>
              <a:buChar char="•"/>
            </a:pPr>
            <a:r>
              <a:rPr lang="en-US" sz="1300" dirty="0">
                <a:solidFill>
                  <a:srgbClr val="1F2A24"/>
                </a:solidFill>
                <a:latin typeface="Calibri" pitchFamily="34" charset="0"/>
                <a:ea typeface="Calibri" pitchFamily="34" charset="-122"/>
                <a:cs typeface="Calibri" pitchFamily="34" charset="-120"/>
              </a:rPr>
              <a:t>FSH, LH, E2, progesterone, T libero, DHEA-S, SHBG</a:t>
            </a:r>
            <a:endParaRPr lang="en-US" sz="1300" dirty="0"/>
          </a:p>
          <a:p>
            <a:pPr marL="177800" indent="-177800">
              <a:spcAft>
                <a:spcPts val="500"/>
              </a:spcAft>
              <a:buSzPct val="100000"/>
              <a:buChar char="•"/>
            </a:pPr>
            <a:r>
              <a:rPr lang="en-US" sz="1300" dirty="0">
                <a:solidFill>
                  <a:srgbClr val="1F2A24"/>
                </a:solidFill>
                <a:latin typeface="Calibri" pitchFamily="34" charset="0"/>
                <a:ea typeface="Calibri" pitchFamily="34" charset="-122"/>
                <a:cs typeface="Calibri" pitchFamily="34" charset="-120"/>
              </a:rPr>
              <a:t>pH, maturation index, ecografia pelvica</a:t>
            </a:r>
            <a:endParaRPr lang="en-US" sz="1300" dirty="0"/>
          </a:p>
        </p:txBody>
      </p:sp>
      <p:sp>
        <p:nvSpPr>
          <p:cNvPr id="12" name="Text 8"/>
          <p:cNvSpPr txBox="1"/>
          <p:nvPr/>
        </p:nvSpPr>
        <p:spPr>
          <a:xfrm>
            <a:off x="3392424" y="1600200"/>
            <a:ext cx="2560320" cy="274320"/>
          </a:xfrm>
          <a:prstGeom prst="rect">
            <a:avLst/>
          </a:prstGeom>
          <a:noFill/>
          <a:ln/>
        </p:spPr>
        <p:txBody>
          <a:bodyPr wrap="square" lIns="0" tIns="0" rIns="0" bIns="0" rtlCol="0" anchor="t"/>
          <a:lstStyle/>
          <a:p>
            <a:pPr algn="ctr" indent="0" marL="0">
              <a:buNone/>
            </a:pPr>
            <a:r>
              <a:rPr lang="en-US" sz="1300" b="1" dirty="0">
                <a:solidFill>
                  <a:srgbClr val="C2416B"/>
                </a:solidFill>
                <a:latin typeface="Calibri" pitchFamily="34" charset="0"/>
                <a:ea typeface="Calibri" pitchFamily="34" charset="-122"/>
                <a:cs typeface="Calibri" pitchFamily="34" charset="-120"/>
              </a:rPr>
              <a:t>Settimana 0</a:t>
            </a:r>
            <a:endParaRPr lang="en-US" sz="1300" dirty="0"/>
          </a:p>
        </p:txBody>
      </p:sp>
      <p:sp>
        <p:nvSpPr>
          <p:cNvPr id="13" name="BHRT bg"/>
          <p:cNvSpPr/>
          <p:nvPr/>
        </p:nvSpPr>
        <p:spPr>
          <a:xfrm>
            <a:off x="4306824" y="1965960"/>
            <a:ext cx="731520" cy="731520"/>
          </a:xfrm>
          <a:prstGeom prst="ellipse">
            <a:avLst/>
          </a:prstGeom>
          <a:solidFill>
            <a:srgbClr val="C2416B"/>
          </a:solidFill>
          <a:ln/>
        </p:spPr>
      </p:sp>
      <p:pic>
        <p:nvPicPr>
          <p:cNvPr id="14" name="BHRT" descr="BHRT">    </p:cNvPr>
          <p:cNvPicPr>
            <a:picLocks noChangeAspect="1"/>
          </p:cNvPicPr>
          <p:nvPr/>
        </p:nvPicPr>
        <p:blipFill>
          <a:blip r:embed="rId2"/>
          <a:stretch>
            <a:fillRect/>
          </a:stretch>
        </p:blipFill>
        <p:spPr>
          <a:xfrm>
            <a:off x="4467758" y="2126894"/>
            <a:ext cx="409651" cy="409651"/>
          </a:xfrm>
          <a:prstGeom prst="rect">
            <a:avLst/>
          </a:prstGeom>
        </p:spPr>
      </p:pic>
      <p:sp>
        <p:nvSpPr>
          <p:cNvPr id="15" name="Fase 2"/>
          <p:cNvSpPr/>
          <p:nvPr/>
        </p:nvSpPr>
        <p:spPr>
          <a:xfrm>
            <a:off x="3392424" y="2880360"/>
            <a:ext cx="2560320" cy="3291840"/>
          </a:xfrm>
          <a:prstGeom prst="roundRect">
            <a:avLst>
              <a:gd name="adj" fmla="val 4286"/>
            </a:avLst>
          </a:prstGeom>
          <a:solidFill>
            <a:srgbClr val="FBE9EF"/>
          </a:solidFill>
          <a:ln/>
        </p:spPr>
      </p:sp>
      <p:sp>
        <p:nvSpPr>
          <p:cNvPr id="16" name="Text 11"/>
          <p:cNvSpPr txBox="1"/>
          <p:nvPr/>
        </p:nvSpPr>
        <p:spPr>
          <a:xfrm>
            <a:off x="3575304" y="3017520"/>
            <a:ext cx="2286000" cy="411480"/>
          </a:xfrm>
          <a:prstGeom prst="rect">
            <a:avLst/>
          </a:prstGeom>
          <a:noFill/>
          <a:ln/>
        </p:spPr>
        <p:txBody>
          <a:bodyPr wrap="square" lIns="0" tIns="0" rIns="0" bIns="0" rtlCol="0" anchor="t"/>
          <a:lstStyle/>
          <a:p>
            <a:pPr indent="0" marL="0">
              <a:buNone/>
            </a:pPr>
            <a:r>
              <a:rPr lang="en-US" sz="1700" b="1" dirty="0">
                <a:solidFill>
                  <a:srgbClr val="C2416B"/>
                </a:solidFill>
                <a:latin typeface="Cambria" pitchFamily="34" charset="0"/>
                <a:ea typeface="Cambria" pitchFamily="34" charset="-122"/>
                <a:cs typeface="Cambria" pitchFamily="34" charset="-120"/>
              </a:rPr>
              <a:t>2 · BHRT</a:t>
            </a:r>
            <a:endParaRPr lang="en-US" sz="1700" dirty="0"/>
          </a:p>
        </p:txBody>
      </p:sp>
      <p:sp>
        <p:nvSpPr>
          <p:cNvPr id="17" name="Text 12"/>
          <p:cNvSpPr txBox="1"/>
          <p:nvPr/>
        </p:nvSpPr>
        <p:spPr>
          <a:xfrm>
            <a:off x="3575304" y="3474720"/>
            <a:ext cx="2240280" cy="260604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1F2A24"/>
                </a:solidFill>
                <a:latin typeface="Calibri" pitchFamily="34" charset="0"/>
                <a:ea typeface="Calibri" pitchFamily="34" charset="-122"/>
                <a:cs typeface="Calibri" pitchFamily="34" charset="-120"/>
              </a:rPr>
              <a:t>17β-estradiolo: gel, capsule o losanghe</a:t>
            </a:r>
            <a:endParaRPr lang="en-US" sz="1300" dirty="0"/>
          </a:p>
          <a:p>
            <a:pPr marL="177800" indent="-177800">
              <a:spcAft>
                <a:spcPts val="500"/>
              </a:spcAft>
              <a:buSzPct val="100000"/>
              <a:buChar char="•"/>
            </a:pPr>
            <a:r>
              <a:rPr lang="en-US" sz="1300" dirty="0">
                <a:solidFill>
                  <a:srgbClr val="1F2A24"/>
                </a:solidFill>
                <a:latin typeface="Calibri" pitchFamily="34" charset="0"/>
                <a:ea typeface="Calibri" pitchFamily="34" charset="-122"/>
                <a:cs typeface="Calibri" pitchFamily="34" charset="-120"/>
              </a:rPr>
              <a:t>Progesterone orale</a:t>
            </a:r>
            <a:endParaRPr lang="en-US" sz="1300" dirty="0"/>
          </a:p>
          <a:p>
            <a:pPr marL="177800" indent="-177800">
              <a:spcAft>
                <a:spcPts val="500"/>
              </a:spcAft>
              <a:buSzPct val="100000"/>
              <a:buChar char="•"/>
            </a:pPr>
            <a:r>
              <a:rPr lang="en-US" sz="1300" dirty="0">
                <a:solidFill>
                  <a:srgbClr val="1F2A24"/>
                </a:solidFill>
                <a:latin typeface="Calibri" pitchFamily="34" charset="0"/>
                <a:ea typeface="Calibri" pitchFamily="34" charset="-122"/>
                <a:cs typeface="Calibri" pitchFamily="34" charset="-120"/>
              </a:rPr>
              <a:t>DHEA intravaginale o testosterone transdermico se indicati</a:t>
            </a:r>
            <a:endParaRPr lang="en-US" sz="1300" dirty="0"/>
          </a:p>
          <a:p>
            <a:pPr marL="177800" indent="-177800">
              <a:spcAft>
                <a:spcPts val="500"/>
              </a:spcAft>
              <a:buSzPct val="100000"/>
              <a:buChar char="•"/>
            </a:pPr>
            <a:r>
              <a:rPr lang="en-US" sz="1300" dirty="0">
                <a:solidFill>
                  <a:srgbClr val="1F2A24"/>
                </a:solidFill>
                <a:latin typeface="Calibri" pitchFamily="34" charset="0"/>
                <a:ea typeface="Calibri" pitchFamily="34" charset="-122"/>
                <a:cs typeface="Calibri" pitchFamily="34" charset="-120"/>
              </a:rPr>
              <a:t>Estriolo topico</a:t>
            </a:r>
            <a:endParaRPr lang="en-US" sz="1300" dirty="0"/>
          </a:p>
        </p:txBody>
      </p:sp>
      <p:sp>
        <p:nvSpPr>
          <p:cNvPr id="18" name="Text 13"/>
          <p:cNvSpPr txBox="1"/>
          <p:nvPr/>
        </p:nvSpPr>
        <p:spPr>
          <a:xfrm>
            <a:off x="6236208" y="1600200"/>
            <a:ext cx="2560320" cy="274320"/>
          </a:xfrm>
          <a:prstGeom prst="rect">
            <a:avLst/>
          </a:prstGeom>
          <a:noFill/>
          <a:ln/>
        </p:spPr>
        <p:txBody>
          <a:bodyPr wrap="square" lIns="0" tIns="0" rIns="0" bIns="0" rtlCol="0" anchor="t"/>
          <a:lstStyle/>
          <a:p>
            <a:pPr algn="ctr" indent="0" marL="0">
              <a:buNone/>
            </a:pPr>
            <a:r>
              <a:rPr lang="en-US" sz="1300" b="1" dirty="0">
                <a:solidFill>
                  <a:srgbClr val="22833B"/>
                </a:solidFill>
                <a:latin typeface="Calibri" pitchFamily="34" charset="0"/>
                <a:ea typeface="Calibri" pitchFamily="34" charset="-122"/>
                <a:cs typeface="Calibri" pitchFamily="34" charset="-120"/>
              </a:rPr>
              <a:t>Dopo 4–8 settimane</a:t>
            </a:r>
            <a:endParaRPr lang="en-US" sz="1300" dirty="0"/>
          </a:p>
        </p:txBody>
      </p:sp>
      <p:sp>
        <p:nvSpPr>
          <p:cNvPr id="19" name="Strumenti locali bg"/>
          <p:cNvSpPr/>
          <p:nvPr/>
        </p:nvSpPr>
        <p:spPr>
          <a:xfrm>
            <a:off x="7150608" y="1965960"/>
            <a:ext cx="731520" cy="731520"/>
          </a:xfrm>
          <a:prstGeom prst="ellipse">
            <a:avLst/>
          </a:prstGeom>
          <a:solidFill>
            <a:srgbClr val="22833B"/>
          </a:solidFill>
          <a:ln/>
        </p:spPr>
      </p:sp>
      <p:pic>
        <p:nvPicPr>
          <p:cNvPr id="20" name="Strumenti locali" descr="Strumenti locali">    </p:cNvPr>
          <p:cNvPicPr>
            <a:picLocks noChangeAspect="1"/>
          </p:cNvPicPr>
          <p:nvPr/>
        </p:nvPicPr>
        <p:blipFill>
          <a:blip r:embed="rId3"/>
          <a:stretch>
            <a:fillRect/>
          </a:stretch>
        </p:blipFill>
        <p:spPr>
          <a:xfrm>
            <a:off x="7311542" y="2126894"/>
            <a:ext cx="409651" cy="409651"/>
          </a:xfrm>
          <a:prstGeom prst="rect">
            <a:avLst/>
          </a:prstGeom>
        </p:spPr>
      </p:pic>
      <p:sp>
        <p:nvSpPr>
          <p:cNvPr id="21" name="Fase 3"/>
          <p:cNvSpPr/>
          <p:nvPr/>
        </p:nvSpPr>
        <p:spPr>
          <a:xfrm>
            <a:off x="6236208" y="2880360"/>
            <a:ext cx="2560320" cy="3291840"/>
          </a:xfrm>
          <a:prstGeom prst="roundRect">
            <a:avLst>
              <a:gd name="adj" fmla="val 4286"/>
            </a:avLst>
          </a:prstGeom>
          <a:solidFill>
            <a:srgbClr val="EAF4EC"/>
          </a:solidFill>
          <a:ln/>
        </p:spPr>
      </p:sp>
      <p:sp>
        <p:nvSpPr>
          <p:cNvPr id="22" name="Text 16"/>
          <p:cNvSpPr txBox="1"/>
          <p:nvPr/>
        </p:nvSpPr>
        <p:spPr>
          <a:xfrm>
            <a:off x="6419088" y="3017520"/>
            <a:ext cx="2286000" cy="411480"/>
          </a:xfrm>
          <a:prstGeom prst="rect">
            <a:avLst/>
          </a:prstGeom>
          <a:noFill/>
          <a:ln/>
        </p:spPr>
        <p:txBody>
          <a:bodyPr wrap="square" lIns="0" tIns="0" rIns="0" bIns="0" rtlCol="0" anchor="t"/>
          <a:lstStyle/>
          <a:p>
            <a:pPr indent="0" marL="0">
              <a:buNone/>
            </a:pPr>
            <a:r>
              <a:rPr lang="en-US" sz="1700" b="1" dirty="0">
                <a:solidFill>
                  <a:srgbClr val="22833B"/>
                </a:solidFill>
                <a:latin typeface="Cambria" pitchFamily="34" charset="0"/>
                <a:ea typeface="Cambria" pitchFamily="34" charset="-122"/>
                <a:cs typeface="Cambria" pitchFamily="34" charset="-120"/>
              </a:rPr>
              <a:t>3 · Strumenti locali</a:t>
            </a:r>
            <a:endParaRPr lang="en-US" sz="1700" dirty="0"/>
          </a:p>
        </p:txBody>
      </p:sp>
      <p:sp>
        <p:nvSpPr>
          <p:cNvPr id="23" name="Text 17"/>
          <p:cNvSpPr txBox="1"/>
          <p:nvPr/>
        </p:nvSpPr>
        <p:spPr>
          <a:xfrm>
            <a:off x="6419088" y="3474720"/>
            <a:ext cx="2240280" cy="260604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1F2A24"/>
                </a:solidFill>
                <a:latin typeface="Calibri" pitchFamily="34" charset="0"/>
                <a:ea typeface="Calibri" pitchFamily="34" charset="-122"/>
                <a:cs typeface="Calibri" pitchFamily="34" charset="-120"/>
              </a:rPr>
              <a:t>PRP: 3 sedute a 4 settimane</a:t>
            </a:r>
            <a:endParaRPr lang="en-US" sz="1300" dirty="0"/>
          </a:p>
          <a:p>
            <a:pPr marL="177800" indent="-177800">
              <a:spcAft>
                <a:spcPts val="500"/>
              </a:spcAft>
              <a:buSzPct val="100000"/>
              <a:buChar char="•"/>
            </a:pPr>
            <a:r>
              <a:rPr lang="en-US" sz="1300" dirty="0">
                <a:solidFill>
                  <a:srgbClr val="1F2A24"/>
                </a:solidFill>
                <a:latin typeface="Calibri" pitchFamily="34" charset="0"/>
                <a:ea typeface="Calibri" pitchFamily="34" charset="-122"/>
                <a:cs typeface="Calibri" pitchFamily="34" charset="-120"/>
              </a:rPr>
              <a:t>Laser: 3 sedute mensili</a:t>
            </a:r>
            <a:endParaRPr lang="en-US" sz="1300" dirty="0"/>
          </a:p>
          <a:p>
            <a:pPr marL="177800" indent="-177800">
              <a:spcAft>
                <a:spcPts val="500"/>
              </a:spcAft>
              <a:buSzPct val="100000"/>
              <a:buChar char="•"/>
            </a:pPr>
            <a:r>
              <a:rPr lang="en-US" sz="1300" dirty="0">
                <a:solidFill>
                  <a:srgbClr val="1F2A24"/>
                </a:solidFill>
                <a:latin typeface="Calibri" pitchFamily="34" charset="0"/>
                <a:ea typeface="Calibri" pitchFamily="34" charset="-122"/>
                <a:cs typeface="Calibri" pitchFamily="34" charset="-120"/>
              </a:rPr>
              <a:t>Radiofrequenza</a:t>
            </a:r>
            <a:endParaRPr lang="en-US" sz="1300" dirty="0"/>
          </a:p>
          <a:p>
            <a:pPr marL="177800" indent="-177800">
              <a:spcAft>
                <a:spcPts val="500"/>
              </a:spcAft>
              <a:buSzPct val="100000"/>
              <a:buChar char="•"/>
            </a:pPr>
            <a:r>
              <a:rPr lang="en-US" sz="1300" dirty="0">
                <a:solidFill>
                  <a:srgbClr val="1F2A24"/>
                </a:solidFill>
                <a:latin typeface="Calibri" pitchFamily="34" charset="0"/>
                <a:ea typeface="Calibri" pitchFamily="34" charset="-122"/>
                <a:cs typeface="Calibri" pitchFamily="34" charset="-120"/>
              </a:rPr>
              <a:t>Acido ialuronico vulvare</a:t>
            </a:r>
            <a:endParaRPr lang="en-US" sz="1300" dirty="0"/>
          </a:p>
        </p:txBody>
      </p:sp>
      <p:sp>
        <p:nvSpPr>
          <p:cNvPr id="24" name="Text 18"/>
          <p:cNvSpPr txBox="1"/>
          <p:nvPr/>
        </p:nvSpPr>
        <p:spPr>
          <a:xfrm>
            <a:off x="9079992" y="1600200"/>
            <a:ext cx="2560320" cy="274320"/>
          </a:xfrm>
          <a:prstGeom prst="rect">
            <a:avLst/>
          </a:prstGeom>
          <a:noFill/>
          <a:ln/>
        </p:spPr>
        <p:txBody>
          <a:bodyPr wrap="square" lIns="0" tIns="0" rIns="0" bIns="0" rtlCol="0" anchor="t"/>
          <a:lstStyle/>
          <a:p>
            <a:pPr algn="ctr" indent="0" marL="0">
              <a:buNone/>
            </a:pPr>
            <a:r>
              <a:rPr lang="en-US" sz="1300" b="1" dirty="0">
                <a:solidFill>
                  <a:srgbClr val="14532D"/>
                </a:solidFill>
                <a:latin typeface="Calibri" pitchFamily="34" charset="0"/>
                <a:ea typeface="Calibri" pitchFamily="34" charset="-122"/>
                <a:cs typeface="Calibri" pitchFamily="34" charset="-120"/>
              </a:rPr>
              <a:t>3 · 6 · 12 mesi</a:t>
            </a:r>
            <a:endParaRPr lang="en-US" sz="1300" dirty="0"/>
          </a:p>
        </p:txBody>
      </p:sp>
      <p:sp>
        <p:nvSpPr>
          <p:cNvPr id="25" name="Mantenimento bg"/>
          <p:cNvSpPr/>
          <p:nvPr/>
        </p:nvSpPr>
        <p:spPr>
          <a:xfrm>
            <a:off x="9994392" y="1965960"/>
            <a:ext cx="731520" cy="731520"/>
          </a:xfrm>
          <a:prstGeom prst="ellipse">
            <a:avLst/>
          </a:prstGeom>
          <a:solidFill>
            <a:srgbClr val="14532D"/>
          </a:solidFill>
          <a:ln/>
        </p:spPr>
      </p:sp>
      <p:pic>
        <p:nvPicPr>
          <p:cNvPr id="26" name="Mantenimento" descr="Mantenimento">    </p:cNvPr>
          <p:cNvPicPr>
            <a:picLocks noChangeAspect="1"/>
          </p:cNvPicPr>
          <p:nvPr/>
        </p:nvPicPr>
        <p:blipFill>
          <a:blip r:embed="rId4"/>
          <a:stretch>
            <a:fillRect/>
          </a:stretch>
        </p:blipFill>
        <p:spPr>
          <a:xfrm>
            <a:off x="10155326" y="2126894"/>
            <a:ext cx="409651" cy="409651"/>
          </a:xfrm>
          <a:prstGeom prst="rect">
            <a:avLst/>
          </a:prstGeom>
        </p:spPr>
      </p:pic>
      <p:sp>
        <p:nvSpPr>
          <p:cNvPr id="27" name="Fase 4"/>
          <p:cNvSpPr/>
          <p:nvPr/>
        </p:nvSpPr>
        <p:spPr>
          <a:xfrm>
            <a:off x="9079992" y="2880360"/>
            <a:ext cx="2560320" cy="2148840"/>
          </a:xfrm>
          <a:prstGeom prst="roundRect">
            <a:avLst>
              <a:gd name="adj" fmla="val 5106"/>
            </a:avLst>
          </a:prstGeom>
          <a:solidFill>
            <a:srgbClr val="EAF4EC"/>
          </a:solidFill>
          <a:ln/>
        </p:spPr>
      </p:sp>
      <p:sp>
        <p:nvSpPr>
          <p:cNvPr id="28" name="Text 21"/>
          <p:cNvSpPr txBox="1"/>
          <p:nvPr/>
        </p:nvSpPr>
        <p:spPr>
          <a:xfrm>
            <a:off x="9262872" y="3017520"/>
            <a:ext cx="2286000" cy="411480"/>
          </a:xfrm>
          <a:prstGeom prst="rect">
            <a:avLst/>
          </a:prstGeom>
          <a:noFill/>
          <a:ln/>
        </p:spPr>
        <p:txBody>
          <a:bodyPr wrap="square" lIns="0" tIns="0" rIns="0" bIns="0" rtlCol="0" anchor="t"/>
          <a:lstStyle/>
          <a:p>
            <a:pPr indent="0" marL="0">
              <a:buNone/>
            </a:pPr>
            <a:r>
              <a:rPr lang="en-US" sz="1700" b="1" dirty="0">
                <a:solidFill>
                  <a:srgbClr val="14532D"/>
                </a:solidFill>
                <a:latin typeface="Cambria" pitchFamily="34" charset="0"/>
                <a:ea typeface="Cambria" pitchFamily="34" charset="-122"/>
                <a:cs typeface="Cambria" pitchFamily="34" charset="-120"/>
              </a:rPr>
              <a:t>4 · Mantenimento</a:t>
            </a:r>
            <a:endParaRPr lang="en-US" sz="1700" dirty="0"/>
          </a:p>
        </p:txBody>
      </p:sp>
      <p:sp>
        <p:nvSpPr>
          <p:cNvPr id="29" name="Text 22"/>
          <p:cNvSpPr txBox="1"/>
          <p:nvPr/>
        </p:nvSpPr>
        <p:spPr>
          <a:xfrm>
            <a:off x="9262872" y="3474720"/>
            <a:ext cx="2240280" cy="146304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1F2A24"/>
                </a:solidFill>
                <a:latin typeface="Calibri" pitchFamily="34" charset="0"/>
                <a:ea typeface="Calibri" pitchFamily="34" charset="-122"/>
                <a:cs typeface="Calibri" pitchFamily="34" charset="-120"/>
              </a:rPr>
              <a:t>Rivalutazione clinica e ormonale a 3, 6 e 12 mesi</a:t>
            </a:r>
            <a:endParaRPr lang="en-US" sz="1300" dirty="0"/>
          </a:p>
        </p:txBody>
      </p:sp>
      <p:sp>
        <p:nvSpPr>
          <p:cNvPr id="30" name="Piano longitudinale"/>
          <p:cNvSpPr/>
          <p:nvPr/>
        </p:nvSpPr>
        <p:spPr>
          <a:xfrm>
            <a:off x="9079992" y="5166360"/>
            <a:ext cx="2560320" cy="1005840"/>
          </a:xfrm>
          <a:prstGeom prst="roundRect">
            <a:avLst>
              <a:gd name="adj" fmla="val 10909"/>
            </a:avLst>
          </a:prstGeom>
          <a:solidFill>
            <a:srgbClr val="14532D"/>
          </a:solidFill>
          <a:ln/>
        </p:spPr>
      </p:sp>
      <p:sp>
        <p:nvSpPr>
          <p:cNvPr id="31" name="Text 24"/>
          <p:cNvSpPr txBox="1"/>
          <p:nvPr/>
        </p:nvSpPr>
        <p:spPr>
          <a:xfrm>
            <a:off x="9262872" y="5166360"/>
            <a:ext cx="2194560" cy="10058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Piano di cura longitudinale, non trattamento puntuale</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200" b="1" dirty="0">
                <a:solidFill>
                  <a:srgbClr val="FFFFFF"/>
                </a:solidFill>
                <a:latin typeface="Cambria" pitchFamily="34" charset="0"/>
                <a:ea typeface="Cambria" pitchFamily="34" charset="-122"/>
                <a:cs typeface="Cambria" pitchFamily="34" charset="-120"/>
              </a:rPr>
              <a:t>Conclusioni: verso una ginecologia rigenerativa integrata</a:t>
            </a:r>
            <a:endParaRPr lang="en-US" sz="3200" dirty="0"/>
          </a:p>
        </p:txBody>
      </p:sp>
      <p:sp>
        <p:nvSpPr>
          <p:cNvPr id="4" name="Il terreno"/>
          <p:cNvSpPr/>
          <p:nvPr/>
        </p:nvSpPr>
        <p:spPr>
          <a:xfrm>
            <a:off x="548640" y="1463040"/>
            <a:ext cx="3520440" cy="3337560"/>
          </a:xfrm>
          <a:prstGeom prst="roundRect">
            <a:avLst>
              <a:gd name="adj" fmla="val 3288"/>
            </a:avLst>
          </a:prstGeom>
          <a:solidFill>
            <a:srgbClr val="1C6638"/>
          </a:solidFill>
          <a:ln/>
        </p:spPr>
      </p:sp>
      <p:sp>
        <p:nvSpPr>
          <p:cNvPr id="5" name="Il terreno bg"/>
          <p:cNvSpPr/>
          <p:nvPr/>
        </p:nvSpPr>
        <p:spPr>
          <a:xfrm>
            <a:off x="822960" y="1737360"/>
            <a:ext cx="685800" cy="685800"/>
          </a:xfrm>
          <a:prstGeom prst="ellipse">
            <a:avLst/>
          </a:prstGeom>
          <a:solidFill>
            <a:srgbClr val="8CBF3F"/>
          </a:solidFill>
          <a:ln/>
        </p:spPr>
      </p:sp>
      <p:pic>
        <p:nvPicPr>
          <p:cNvPr id="6" name="Il terreno" descr="Il terreno">    </p:cNvPr>
          <p:cNvPicPr>
            <a:picLocks noChangeAspect="1"/>
          </p:cNvPicPr>
          <p:nvPr/>
        </p:nvPicPr>
        <p:blipFill>
          <a:blip r:embed="rId1"/>
          <a:stretch>
            <a:fillRect/>
          </a:stretch>
        </p:blipFill>
        <p:spPr>
          <a:xfrm>
            <a:off x="973836" y="1888236"/>
            <a:ext cx="384048" cy="384048"/>
          </a:xfrm>
          <a:prstGeom prst="rect">
            <a:avLst/>
          </a:prstGeom>
        </p:spPr>
      </p:pic>
      <p:sp>
        <p:nvSpPr>
          <p:cNvPr id="7" name="Text 3"/>
          <p:cNvSpPr txBox="1"/>
          <p:nvPr/>
        </p:nvSpPr>
        <p:spPr>
          <a:xfrm>
            <a:off x="3154680" y="1600200"/>
            <a:ext cx="685800" cy="822960"/>
          </a:xfrm>
          <a:prstGeom prst="rect">
            <a:avLst/>
          </a:prstGeom>
          <a:noFill/>
          <a:ln/>
        </p:spPr>
        <p:txBody>
          <a:bodyPr wrap="square" lIns="0" tIns="0" rIns="0" bIns="0" rtlCol="0" anchor="t"/>
          <a:lstStyle/>
          <a:p>
            <a:pPr algn="r" indent="0" marL="0">
              <a:buNone/>
            </a:pPr>
            <a:r>
              <a:rPr lang="en-US" sz="4800" b="1" dirty="0">
                <a:solidFill>
                  <a:srgbClr val="3C8A55"/>
                </a:solidFill>
                <a:latin typeface="Cambria" pitchFamily="34" charset="0"/>
                <a:ea typeface="Cambria" pitchFamily="34" charset="-122"/>
                <a:cs typeface="Cambria" pitchFamily="34" charset="-120"/>
              </a:rPr>
              <a:t>1</a:t>
            </a:r>
            <a:endParaRPr lang="en-US" sz="4800" dirty="0"/>
          </a:p>
        </p:txBody>
      </p:sp>
      <p:sp>
        <p:nvSpPr>
          <p:cNvPr id="8" name="Text 4"/>
          <p:cNvSpPr txBox="1"/>
          <p:nvPr/>
        </p:nvSpPr>
        <p:spPr>
          <a:xfrm>
            <a:off x="822960" y="2560320"/>
            <a:ext cx="2971800" cy="411480"/>
          </a:xfrm>
          <a:prstGeom prst="rect">
            <a:avLst/>
          </a:prstGeom>
          <a:noFill/>
          <a:ln/>
        </p:spPr>
        <p:txBody>
          <a:bodyPr wrap="square" lIns="0" tIns="0" rIns="0" bIns="0" rtlCol="0" anchor="t"/>
          <a:lstStyle/>
          <a:p>
            <a:pPr indent="0" marL="0">
              <a:buNone/>
            </a:pPr>
            <a:r>
              <a:rPr lang="en-US" sz="2000" b="1" dirty="0">
                <a:solidFill>
                  <a:srgbClr val="FFFFFF"/>
                </a:solidFill>
                <a:latin typeface="Cambria" pitchFamily="34" charset="0"/>
                <a:ea typeface="Cambria" pitchFamily="34" charset="-122"/>
                <a:cs typeface="Cambria" pitchFamily="34" charset="-120"/>
              </a:rPr>
              <a:t>Il terreno</a:t>
            </a:r>
            <a:endParaRPr lang="en-US" sz="2000" dirty="0"/>
          </a:p>
        </p:txBody>
      </p:sp>
      <p:sp>
        <p:nvSpPr>
          <p:cNvPr id="9" name="Text 5"/>
          <p:cNvSpPr txBox="1"/>
          <p:nvPr/>
        </p:nvSpPr>
        <p:spPr>
          <a:xfrm>
            <a:off x="822960" y="3063240"/>
            <a:ext cx="3017520" cy="164592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E3F0E6"/>
                </a:solidFill>
                <a:latin typeface="Calibri" pitchFamily="34" charset="0"/>
                <a:ea typeface="Calibri" pitchFamily="34" charset="-122"/>
                <a:cs typeface="Calibri" pitchFamily="34" charset="-120"/>
              </a:rPr>
              <a:t>La ginecologia è campo privilegiato: stesse leggi biologiche degli altri distretti, più la dipendenza ormonale</a:t>
            </a:r>
            <a:endParaRPr lang="en-US" sz="1400" dirty="0"/>
          </a:p>
          <a:p>
            <a:pPr marL="177800" indent="-177800">
              <a:spcAft>
                <a:spcPts val="500"/>
              </a:spcAft>
              <a:buSzPct val="100000"/>
              <a:buChar char="•"/>
            </a:pPr>
            <a:r>
              <a:rPr lang="en-US" sz="1400" dirty="0">
                <a:solidFill>
                  <a:srgbClr val="E3F0E6"/>
                </a:solidFill>
                <a:latin typeface="Calibri" pitchFamily="34" charset="0"/>
                <a:ea typeface="Calibri" pitchFamily="34" charset="-122"/>
                <a:cs typeface="Calibri" pitchFamily="34" charset="-120"/>
              </a:rPr>
              <a:t>Ignorarla significa trattare un terreno biologicamente impoverito</a:t>
            </a:r>
            <a:endParaRPr lang="en-US" sz="1400" dirty="0"/>
          </a:p>
        </p:txBody>
      </p:sp>
      <p:sp>
        <p:nvSpPr>
          <p:cNvPr id="10" name="La BHRT"/>
          <p:cNvSpPr/>
          <p:nvPr/>
        </p:nvSpPr>
        <p:spPr>
          <a:xfrm>
            <a:off x="4334256" y="1463040"/>
            <a:ext cx="3520440" cy="3337560"/>
          </a:xfrm>
          <a:prstGeom prst="roundRect">
            <a:avLst>
              <a:gd name="adj" fmla="val 3288"/>
            </a:avLst>
          </a:prstGeom>
          <a:solidFill>
            <a:srgbClr val="1C6638"/>
          </a:solidFill>
          <a:ln/>
        </p:spPr>
      </p:sp>
      <p:sp>
        <p:nvSpPr>
          <p:cNvPr id="11" name="La BHRT bg"/>
          <p:cNvSpPr/>
          <p:nvPr/>
        </p:nvSpPr>
        <p:spPr>
          <a:xfrm>
            <a:off x="4608576" y="1737360"/>
            <a:ext cx="685800" cy="685800"/>
          </a:xfrm>
          <a:prstGeom prst="ellipse">
            <a:avLst/>
          </a:prstGeom>
          <a:solidFill>
            <a:srgbClr val="8CBF3F"/>
          </a:solidFill>
          <a:ln/>
        </p:spPr>
      </p:sp>
      <p:pic>
        <p:nvPicPr>
          <p:cNvPr id="12" name="La BHRT" descr="La BHRT">    </p:cNvPr>
          <p:cNvPicPr>
            <a:picLocks noChangeAspect="1"/>
          </p:cNvPicPr>
          <p:nvPr/>
        </p:nvPicPr>
        <p:blipFill>
          <a:blip r:embed="rId2"/>
          <a:stretch>
            <a:fillRect/>
          </a:stretch>
        </p:blipFill>
        <p:spPr>
          <a:xfrm>
            <a:off x="4759452" y="1888236"/>
            <a:ext cx="384048" cy="384048"/>
          </a:xfrm>
          <a:prstGeom prst="rect">
            <a:avLst/>
          </a:prstGeom>
        </p:spPr>
      </p:pic>
      <p:sp>
        <p:nvSpPr>
          <p:cNvPr id="13" name="Text 8"/>
          <p:cNvSpPr txBox="1"/>
          <p:nvPr/>
        </p:nvSpPr>
        <p:spPr>
          <a:xfrm>
            <a:off x="6940296" y="1600200"/>
            <a:ext cx="685800" cy="822960"/>
          </a:xfrm>
          <a:prstGeom prst="rect">
            <a:avLst/>
          </a:prstGeom>
          <a:noFill/>
          <a:ln/>
        </p:spPr>
        <p:txBody>
          <a:bodyPr wrap="square" lIns="0" tIns="0" rIns="0" bIns="0" rtlCol="0" anchor="t"/>
          <a:lstStyle/>
          <a:p>
            <a:pPr algn="r" indent="0" marL="0">
              <a:buNone/>
            </a:pPr>
            <a:r>
              <a:rPr lang="en-US" sz="4800" b="1" dirty="0">
                <a:solidFill>
                  <a:srgbClr val="3C8A55"/>
                </a:solidFill>
                <a:latin typeface="Cambria" pitchFamily="34" charset="0"/>
                <a:ea typeface="Cambria" pitchFamily="34" charset="-122"/>
                <a:cs typeface="Cambria" pitchFamily="34" charset="-120"/>
              </a:rPr>
              <a:t>2</a:t>
            </a:r>
            <a:endParaRPr lang="en-US" sz="4800" dirty="0"/>
          </a:p>
        </p:txBody>
      </p:sp>
      <p:sp>
        <p:nvSpPr>
          <p:cNvPr id="14" name="Text 9"/>
          <p:cNvSpPr txBox="1"/>
          <p:nvPr/>
        </p:nvSpPr>
        <p:spPr>
          <a:xfrm>
            <a:off x="4608576" y="2560320"/>
            <a:ext cx="2971800" cy="411480"/>
          </a:xfrm>
          <a:prstGeom prst="rect">
            <a:avLst/>
          </a:prstGeom>
          <a:noFill/>
          <a:ln/>
        </p:spPr>
        <p:txBody>
          <a:bodyPr wrap="square" lIns="0" tIns="0" rIns="0" bIns="0" rtlCol="0" anchor="t"/>
          <a:lstStyle/>
          <a:p>
            <a:pPr indent="0" marL="0">
              <a:buNone/>
            </a:pPr>
            <a:r>
              <a:rPr lang="en-US" sz="2000" b="1" dirty="0">
                <a:solidFill>
                  <a:srgbClr val="FFFFFF"/>
                </a:solidFill>
                <a:latin typeface="Cambria" pitchFamily="34" charset="0"/>
                <a:ea typeface="Cambria" pitchFamily="34" charset="-122"/>
                <a:cs typeface="Cambria" pitchFamily="34" charset="-120"/>
              </a:rPr>
              <a:t>La BHRT</a:t>
            </a:r>
            <a:endParaRPr lang="en-US" sz="2000" dirty="0"/>
          </a:p>
        </p:txBody>
      </p:sp>
      <p:sp>
        <p:nvSpPr>
          <p:cNvPr id="15" name="Text 10"/>
          <p:cNvSpPr txBox="1"/>
          <p:nvPr/>
        </p:nvSpPr>
        <p:spPr>
          <a:xfrm>
            <a:off x="4608576" y="3063240"/>
            <a:ext cx="3017520" cy="164592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E3F0E6"/>
                </a:solidFill>
                <a:latin typeface="Calibri" pitchFamily="34" charset="0"/>
                <a:ea typeface="Calibri" pitchFamily="34" charset="-122"/>
                <a:cs typeface="Calibri" pitchFamily="34" charset="-120"/>
              </a:rPr>
              <a:t>17β-estradiolo, progesterone, testosterone e DHEA in forma fisiologica</a:t>
            </a:r>
            <a:endParaRPr lang="en-US" sz="1400" dirty="0"/>
          </a:p>
          <a:p>
            <a:pPr marL="177800" indent="-177800">
              <a:spcAft>
                <a:spcPts val="500"/>
              </a:spcAft>
              <a:buSzPct val="100000"/>
              <a:buChar char="•"/>
            </a:pPr>
            <a:r>
              <a:rPr lang="en-US" sz="1400" dirty="0">
                <a:solidFill>
                  <a:srgbClr val="E3F0E6"/>
                </a:solidFill>
                <a:latin typeface="Calibri" pitchFamily="34" charset="0"/>
                <a:ea typeface="Calibri" pitchFamily="34" charset="-122"/>
                <a:cs typeface="Calibri" pitchFamily="34" charset="-120"/>
              </a:rPr>
              <a:t>Intervento rigenerativo sistemico: collagene, angiogenesi, cellule satellite, inflammaging</a:t>
            </a:r>
            <a:endParaRPr lang="en-US" sz="1400" dirty="0"/>
          </a:p>
        </p:txBody>
      </p:sp>
      <p:sp>
        <p:nvSpPr>
          <p:cNvPr id="16" name="L’integrazione"/>
          <p:cNvSpPr/>
          <p:nvPr/>
        </p:nvSpPr>
        <p:spPr>
          <a:xfrm>
            <a:off x="8119872" y="1463040"/>
            <a:ext cx="3520440" cy="3337560"/>
          </a:xfrm>
          <a:prstGeom prst="roundRect">
            <a:avLst>
              <a:gd name="adj" fmla="val 3288"/>
            </a:avLst>
          </a:prstGeom>
          <a:solidFill>
            <a:srgbClr val="1C6638"/>
          </a:solidFill>
          <a:ln/>
        </p:spPr>
      </p:sp>
      <p:sp>
        <p:nvSpPr>
          <p:cNvPr id="17" name="L’integrazione bg"/>
          <p:cNvSpPr/>
          <p:nvPr/>
        </p:nvSpPr>
        <p:spPr>
          <a:xfrm>
            <a:off x="8394192" y="1737360"/>
            <a:ext cx="685800" cy="685800"/>
          </a:xfrm>
          <a:prstGeom prst="ellipse">
            <a:avLst/>
          </a:prstGeom>
          <a:solidFill>
            <a:srgbClr val="8CBF3F"/>
          </a:solidFill>
          <a:ln/>
        </p:spPr>
      </p:sp>
      <p:pic>
        <p:nvPicPr>
          <p:cNvPr id="18" name="L’integrazione" descr="L’integrazione">    </p:cNvPr>
          <p:cNvPicPr>
            <a:picLocks noChangeAspect="1"/>
          </p:cNvPicPr>
          <p:nvPr/>
        </p:nvPicPr>
        <p:blipFill>
          <a:blip r:embed="rId3"/>
          <a:stretch>
            <a:fillRect/>
          </a:stretch>
        </p:blipFill>
        <p:spPr>
          <a:xfrm>
            <a:off x="8545068" y="1888236"/>
            <a:ext cx="384048" cy="384048"/>
          </a:xfrm>
          <a:prstGeom prst="rect">
            <a:avLst/>
          </a:prstGeom>
        </p:spPr>
      </p:pic>
      <p:sp>
        <p:nvSpPr>
          <p:cNvPr id="19" name="Text 13"/>
          <p:cNvSpPr txBox="1"/>
          <p:nvPr/>
        </p:nvSpPr>
        <p:spPr>
          <a:xfrm>
            <a:off x="10725912" y="1600200"/>
            <a:ext cx="685800" cy="822960"/>
          </a:xfrm>
          <a:prstGeom prst="rect">
            <a:avLst/>
          </a:prstGeom>
          <a:noFill/>
          <a:ln/>
        </p:spPr>
        <p:txBody>
          <a:bodyPr wrap="square" lIns="0" tIns="0" rIns="0" bIns="0" rtlCol="0" anchor="t"/>
          <a:lstStyle/>
          <a:p>
            <a:pPr algn="r" indent="0" marL="0">
              <a:buNone/>
            </a:pPr>
            <a:r>
              <a:rPr lang="en-US" sz="4800" b="1" dirty="0">
                <a:solidFill>
                  <a:srgbClr val="3C8A55"/>
                </a:solidFill>
                <a:latin typeface="Cambria" pitchFamily="34" charset="0"/>
                <a:ea typeface="Cambria" pitchFamily="34" charset="-122"/>
                <a:cs typeface="Cambria" pitchFamily="34" charset="-120"/>
              </a:rPr>
              <a:t>3</a:t>
            </a:r>
            <a:endParaRPr lang="en-US" sz="4800" dirty="0"/>
          </a:p>
        </p:txBody>
      </p:sp>
      <p:sp>
        <p:nvSpPr>
          <p:cNvPr id="20" name="Text 14"/>
          <p:cNvSpPr txBox="1"/>
          <p:nvPr/>
        </p:nvSpPr>
        <p:spPr>
          <a:xfrm>
            <a:off x="8394192" y="2560320"/>
            <a:ext cx="2971800" cy="411480"/>
          </a:xfrm>
          <a:prstGeom prst="rect">
            <a:avLst/>
          </a:prstGeom>
          <a:noFill/>
          <a:ln/>
        </p:spPr>
        <p:txBody>
          <a:bodyPr wrap="square" lIns="0" tIns="0" rIns="0" bIns="0" rtlCol="0" anchor="t"/>
          <a:lstStyle/>
          <a:p>
            <a:pPr indent="0" marL="0">
              <a:buNone/>
            </a:pPr>
            <a:r>
              <a:rPr lang="en-US" sz="2000" b="1" dirty="0">
                <a:solidFill>
                  <a:srgbClr val="FFFFFF"/>
                </a:solidFill>
                <a:latin typeface="Cambria" pitchFamily="34" charset="0"/>
                <a:ea typeface="Cambria" pitchFamily="34" charset="-122"/>
                <a:cs typeface="Cambria" pitchFamily="34" charset="-120"/>
              </a:rPr>
              <a:t>L’integrazione</a:t>
            </a:r>
            <a:endParaRPr lang="en-US" sz="2000" dirty="0"/>
          </a:p>
        </p:txBody>
      </p:sp>
      <p:sp>
        <p:nvSpPr>
          <p:cNvPr id="21" name="Text 15"/>
          <p:cNvSpPr txBox="1"/>
          <p:nvPr/>
        </p:nvSpPr>
        <p:spPr>
          <a:xfrm>
            <a:off x="8394192" y="3063240"/>
            <a:ext cx="3017520" cy="164592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E3F0E6"/>
                </a:solidFill>
                <a:latin typeface="Calibri" pitchFamily="34" charset="0"/>
                <a:ea typeface="Calibri" pitchFamily="34" charset="-122"/>
                <a:cs typeface="Calibri" pitchFamily="34" charset="-120"/>
              </a:rPr>
              <a:t>PRP, laser, radiofrequenza, esosomi + BHRT personalizzata</a:t>
            </a:r>
            <a:endParaRPr lang="en-US" sz="1400" dirty="0"/>
          </a:p>
          <a:p>
            <a:pPr marL="177800" indent="-177800">
              <a:spcAft>
                <a:spcPts val="500"/>
              </a:spcAft>
              <a:buSzPct val="100000"/>
              <a:buChar char="•"/>
            </a:pPr>
            <a:r>
              <a:rPr lang="en-US" sz="1400" dirty="0">
                <a:solidFill>
                  <a:srgbClr val="E3F0E6"/>
                </a:solidFill>
                <a:latin typeface="Calibri" pitchFamily="34" charset="0"/>
                <a:ea typeface="Calibri" pitchFamily="34" charset="-122"/>
                <a:cs typeface="Calibri" pitchFamily="34" charset="-120"/>
              </a:rPr>
              <a:t>Un protocollo unico, sequenziale e paziente-centrico</a:t>
            </a:r>
            <a:endParaRPr lang="en-US" sz="1400" dirty="0"/>
          </a:p>
        </p:txBody>
      </p:sp>
      <p:sp>
        <p:nvSpPr>
          <p:cNvPr id="22" name="Shape 16"/>
          <p:cNvSpPr/>
          <p:nvPr/>
        </p:nvSpPr>
        <p:spPr>
          <a:xfrm>
            <a:off x="548640" y="5120640"/>
            <a:ext cx="2651760" cy="685800"/>
          </a:xfrm>
          <a:prstGeom prst="roundRect">
            <a:avLst>
              <a:gd name="adj" fmla="val 49333"/>
            </a:avLst>
          </a:prstGeom>
          <a:solidFill>
            <a:srgbClr val="FFFFFF"/>
          </a:solidFill>
          <a:ln/>
        </p:spPr>
      </p:sp>
      <p:sp>
        <p:nvSpPr>
          <p:cNvPr id="23" name="Text 17"/>
          <p:cNvSpPr txBox="1"/>
          <p:nvPr/>
        </p:nvSpPr>
        <p:spPr>
          <a:xfrm>
            <a:off x="548640" y="5120640"/>
            <a:ext cx="2651760" cy="685800"/>
          </a:xfrm>
          <a:prstGeom prst="rect">
            <a:avLst/>
          </a:prstGeom>
          <a:noFill/>
          <a:ln/>
        </p:spPr>
        <p:txBody>
          <a:bodyPr wrap="square" lIns="0" tIns="0" rIns="0" bIns="0" rtlCol="0" anchor="ctr"/>
          <a:lstStyle/>
          <a:p>
            <a:pPr algn="ctr" indent="0" marL="0">
              <a:buNone/>
            </a:pPr>
            <a:r>
              <a:rPr lang="en-US" sz="1600" b="1" dirty="0">
                <a:solidFill>
                  <a:srgbClr val="14532D"/>
                </a:solidFill>
                <a:latin typeface="Calibri" pitchFamily="34" charset="0"/>
                <a:ea typeface="Calibri" pitchFamily="34" charset="-122"/>
                <a:cs typeface="Calibri" pitchFamily="34" charset="-120"/>
              </a:rPr>
              <a:t>Strumenti locali</a:t>
            </a:r>
            <a:endParaRPr lang="en-US" sz="1600" dirty="0"/>
          </a:p>
        </p:txBody>
      </p:sp>
      <p:sp>
        <p:nvSpPr>
          <p:cNvPr id="24" name="Text 18"/>
          <p:cNvSpPr txBox="1"/>
          <p:nvPr/>
        </p:nvSpPr>
        <p:spPr>
          <a:xfrm>
            <a:off x="3246120" y="5120640"/>
            <a:ext cx="457200" cy="685800"/>
          </a:xfrm>
          <a:prstGeom prst="rect">
            <a:avLst/>
          </a:prstGeom>
          <a:noFill/>
          <a:ln/>
        </p:spPr>
        <p:txBody>
          <a:bodyPr wrap="square" lIns="0" tIns="0" rIns="0" bIns="0" rtlCol="0" anchor="ctr"/>
          <a:lstStyle/>
          <a:p>
            <a:pPr algn="ctr" indent="0" marL="0">
              <a:buNone/>
            </a:pPr>
            <a:r>
              <a:rPr lang="en-US" sz="2600" b="1" dirty="0">
                <a:solidFill>
                  <a:srgbClr val="8CBF3F"/>
                </a:solidFill>
                <a:latin typeface="Calibri" pitchFamily="34" charset="0"/>
                <a:ea typeface="Calibri" pitchFamily="34" charset="-122"/>
                <a:cs typeface="Calibri" pitchFamily="34" charset="-120"/>
              </a:rPr>
              <a:t>+</a:t>
            </a:r>
            <a:endParaRPr lang="en-US" sz="2600" dirty="0"/>
          </a:p>
        </p:txBody>
      </p:sp>
      <p:sp>
        <p:nvSpPr>
          <p:cNvPr id="25" name="Shape 19"/>
          <p:cNvSpPr/>
          <p:nvPr/>
        </p:nvSpPr>
        <p:spPr>
          <a:xfrm>
            <a:off x="3749040" y="5120640"/>
            <a:ext cx="2743200" cy="685800"/>
          </a:xfrm>
          <a:prstGeom prst="roundRect">
            <a:avLst>
              <a:gd name="adj" fmla="val 49333"/>
            </a:avLst>
          </a:prstGeom>
          <a:solidFill>
            <a:srgbClr val="FBE9EF"/>
          </a:solidFill>
          <a:ln/>
        </p:spPr>
      </p:sp>
      <p:sp>
        <p:nvSpPr>
          <p:cNvPr id="26" name="Text 20"/>
          <p:cNvSpPr txBox="1"/>
          <p:nvPr/>
        </p:nvSpPr>
        <p:spPr>
          <a:xfrm>
            <a:off x="3749040" y="5120640"/>
            <a:ext cx="2743200" cy="685800"/>
          </a:xfrm>
          <a:prstGeom prst="rect">
            <a:avLst/>
          </a:prstGeom>
          <a:noFill/>
          <a:ln/>
        </p:spPr>
        <p:txBody>
          <a:bodyPr wrap="square" lIns="0" tIns="0" rIns="0" bIns="0" rtlCol="0" anchor="ctr"/>
          <a:lstStyle/>
          <a:p>
            <a:pPr algn="ctr" indent="0" marL="0">
              <a:buNone/>
            </a:pPr>
            <a:r>
              <a:rPr lang="en-US" sz="1600" b="1" dirty="0">
                <a:solidFill>
                  <a:srgbClr val="C2416B"/>
                </a:solidFill>
                <a:latin typeface="Calibri" pitchFamily="34" charset="0"/>
                <a:ea typeface="Calibri" pitchFamily="34" charset="-122"/>
                <a:cs typeface="Calibri" pitchFamily="34" charset="-120"/>
              </a:rPr>
              <a:t>BHRT personalizzata</a:t>
            </a:r>
            <a:endParaRPr lang="en-US" sz="1600" dirty="0"/>
          </a:p>
        </p:txBody>
      </p:sp>
      <p:sp>
        <p:nvSpPr>
          <p:cNvPr id="27" name="Text 21"/>
          <p:cNvSpPr txBox="1"/>
          <p:nvPr/>
        </p:nvSpPr>
        <p:spPr>
          <a:xfrm>
            <a:off x="6537960" y="5120640"/>
            <a:ext cx="457200" cy="685800"/>
          </a:xfrm>
          <a:prstGeom prst="rect">
            <a:avLst/>
          </a:prstGeom>
          <a:noFill/>
          <a:ln/>
        </p:spPr>
        <p:txBody>
          <a:bodyPr wrap="square" lIns="0" tIns="0" rIns="0" bIns="0" rtlCol="0" anchor="ctr"/>
          <a:lstStyle/>
          <a:p>
            <a:pPr algn="ctr" indent="0" marL="0">
              <a:buNone/>
            </a:pPr>
            <a:r>
              <a:rPr lang="en-US" sz="2600" b="1" dirty="0">
                <a:solidFill>
                  <a:srgbClr val="8CBF3F"/>
                </a:solidFill>
                <a:latin typeface="Calibri" pitchFamily="34" charset="0"/>
                <a:ea typeface="Calibri" pitchFamily="34" charset="-122"/>
                <a:cs typeface="Calibri" pitchFamily="34" charset="-120"/>
              </a:rPr>
              <a:t>=</a:t>
            </a:r>
            <a:endParaRPr lang="en-US" sz="2600" dirty="0"/>
          </a:p>
        </p:txBody>
      </p:sp>
      <p:sp>
        <p:nvSpPr>
          <p:cNvPr id="28" name="Shape 22"/>
          <p:cNvSpPr/>
          <p:nvPr/>
        </p:nvSpPr>
        <p:spPr>
          <a:xfrm>
            <a:off x="7040880" y="5120640"/>
            <a:ext cx="4599432" cy="685800"/>
          </a:xfrm>
          <a:prstGeom prst="roundRect">
            <a:avLst>
              <a:gd name="adj" fmla="val 49333"/>
            </a:avLst>
          </a:prstGeom>
          <a:solidFill>
            <a:srgbClr val="8CBF3F"/>
          </a:solidFill>
          <a:ln/>
        </p:spPr>
      </p:sp>
      <p:sp>
        <p:nvSpPr>
          <p:cNvPr id="29" name="Text 23"/>
          <p:cNvSpPr txBox="1"/>
          <p:nvPr/>
        </p:nvSpPr>
        <p:spPr>
          <a:xfrm>
            <a:off x="7040880" y="5120640"/>
            <a:ext cx="4599432" cy="685800"/>
          </a:xfrm>
          <a:prstGeom prst="rect">
            <a:avLst/>
          </a:prstGeom>
          <a:noFill/>
          <a:ln/>
        </p:spPr>
        <p:txBody>
          <a:bodyPr wrap="square" lIns="0" tIns="0" rIns="0" bIns="0" rtlCol="0" anchor="ctr"/>
          <a:lstStyle/>
          <a:p>
            <a:pPr algn="ctr" indent="0" marL="0">
              <a:buNone/>
            </a:pPr>
            <a:r>
              <a:rPr lang="en-US" sz="1600" b="1" dirty="0">
                <a:solidFill>
                  <a:srgbClr val="14532D"/>
                </a:solidFill>
                <a:latin typeface="Calibri" pitchFamily="34" charset="0"/>
                <a:ea typeface="Calibri" pitchFamily="34" charset="-122"/>
                <a:cs typeface="Calibri" pitchFamily="34" charset="-120"/>
              </a:rPr>
              <a:t>Ginecologia rigenerativa integrata</a:t>
            </a:r>
            <a:endParaRPr lang="en-US" sz="1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B9D6BF"/>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548640" y="292608"/>
            <a:ext cx="10241280" cy="658368"/>
          </a:xfrm>
          <a:prstGeom prst="rect">
            <a:avLst/>
          </a:prstGeom>
          <a:noFill/>
          <a:ln/>
        </p:spPr>
        <p:txBody>
          <a:bodyPr wrap="square" lIns="0" tIns="0" rIns="0" bIns="0" rtlCol="0" anchor="ctr"/>
          <a:lstStyle/>
          <a:p>
            <a:pPr algn="l" indent="0" marL="0">
              <a:buNone/>
            </a:pPr>
            <a:r>
              <a:rPr lang="en-US" sz="3000" b="1" dirty="0">
                <a:solidFill>
                  <a:srgbClr val="14532D"/>
                </a:solidFill>
                <a:latin typeface="Cambria" pitchFamily="34" charset="0"/>
                <a:ea typeface="Cambria" pitchFamily="34" charset="-122"/>
                <a:cs typeface="Cambria" pitchFamily="34" charset="-120"/>
              </a:rPr>
              <a:t>Riferimenti bibliografici</a:t>
            </a:r>
            <a:endParaRPr lang="en-US" sz="3000" dirty="0"/>
          </a:p>
        </p:txBody>
      </p:sp>
      <p:sp>
        <p:nvSpPr>
          <p:cNvPr id="3" name="Shape 1"/>
          <p:cNvSpPr/>
          <p:nvPr/>
        </p:nvSpPr>
        <p:spPr>
          <a:xfrm>
            <a:off x="548640" y="1463040"/>
            <a:ext cx="457200" cy="457200"/>
          </a:xfrm>
          <a:prstGeom prst="ellipse">
            <a:avLst/>
          </a:prstGeom>
          <a:solidFill>
            <a:srgbClr val="EAF4EC"/>
          </a:solidFill>
          <a:ln/>
        </p:spPr>
      </p:sp>
      <p:sp>
        <p:nvSpPr>
          <p:cNvPr id="4" name="Text 2"/>
          <p:cNvSpPr txBox="1"/>
          <p:nvPr/>
        </p:nvSpPr>
        <p:spPr>
          <a:xfrm>
            <a:off x="548640" y="1463040"/>
            <a:ext cx="457200" cy="457200"/>
          </a:xfrm>
          <a:prstGeom prst="rect">
            <a:avLst/>
          </a:prstGeom>
          <a:noFill/>
          <a:ln/>
        </p:spPr>
        <p:txBody>
          <a:bodyPr wrap="square" lIns="0" tIns="0" rIns="0" bIns="0" rtlCol="0" anchor="ctr"/>
          <a:lstStyle/>
          <a:p>
            <a:pPr algn="ctr" indent="0" marL="0">
              <a:buNone/>
            </a:pPr>
            <a:r>
              <a:rPr lang="en-US" sz="1400" b="1" dirty="0">
                <a:solidFill>
                  <a:srgbClr val="22833B"/>
                </a:solidFill>
                <a:latin typeface="Calibri" pitchFamily="34" charset="0"/>
                <a:ea typeface="Calibri" pitchFamily="34" charset="-122"/>
                <a:cs typeface="Calibri" pitchFamily="34" charset="-120"/>
              </a:rPr>
              <a:t>1</a:t>
            </a:r>
            <a:endParaRPr lang="en-US" sz="1400" dirty="0"/>
          </a:p>
        </p:txBody>
      </p:sp>
      <p:sp>
        <p:nvSpPr>
          <p:cNvPr id="5" name="Text 3"/>
          <p:cNvSpPr txBox="1"/>
          <p:nvPr/>
        </p:nvSpPr>
        <p:spPr>
          <a:xfrm>
            <a:off x="1188720" y="1417320"/>
            <a:ext cx="4846320" cy="548640"/>
          </a:xfrm>
          <a:prstGeom prst="rect">
            <a:avLst/>
          </a:prstGeom>
          <a:noFill/>
          <a:ln/>
        </p:spPr>
        <p:txBody>
          <a:bodyPr wrap="square" lIns="0" tIns="0" rIns="0" bIns="0" rtlCol="0" anchor="ctr"/>
          <a:lstStyle/>
          <a:p>
            <a:pPr indent="0" marL="0">
              <a:buNone/>
            </a:pPr>
            <a:r>
              <a:rPr lang="en-US" sz="1400" dirty="0">
                <a:solidFill>
                  <a:srgbClr val="1F2A24"/>
                </a:solidFill>
                <a:latin typeface="Calibri" pitchFamily="34" charset="0"/>
                <a:ea typeface="Calibri" pitchFamily="34" charset="-122"/>
                <a:cs typeface="Calibri" pitchFamily="34" charset="-120"/>
              </a:rPr>
              <a:t>Santen RJ et al. JCEM 2010;95(7 Suppl 1):s1–s66</a:t>
            </a:r>
            <a:endParaRPr lang="en-US" sz="1400" dirty="0"/>
          </a:p>
        </p:txBody>
      </p:sp>
      <p:sp>
        <p:nvSpPr>
          <p:cNvPr id="6" name="Shape 4"/>
          <p:cNvSpPr/>
          <p:nvPr/>
        </p:nvSpPr>
        <p:spPr>
          <a:xfrm>
            <a:off x="548640" y="2267712"/>
            <a:ext cx="457200" cy="457200"/>
          </a:xfrm>
          <a:prstGeom prst="ellipse">
            <a:avLst/>
          </a:prstGeom>
          <a:solidFill>
            <a:srgbClr val="EAF4EC"/>
          </a:solidFill>
          <a:ln/>
        </p:spPr>
      </p:sp>
      <p:sp>
        <p:nvSpPr>
          <p:cNvPr id="7" name="Text 5"/>
          <p:cNvSpPr txBox="1"/>
          <p:nvPr/>
        </p:nvSpPr>
        <p:spPr>
          <a:xfrm>
            <a:off x="548640" y="2267712"/>
            <a:ext cx="457200" cy="457200"/>
          </a:xfrm>
          <a:prstGeom prst="rect">
            <a:avLst/>
          </a:prstGeom>
          <a:noFill/>
          <a:ln/>
        </p:spPr>
        <p:txBody>
          <a:bodyPr wrap="square" lIns="0" tIns="0" rIns="0" bIns="0" rtlCol="0" anchor="ctr"/>
          <a:lstStyle/>
          <a:p>
            <a:pPr algn="ctr" indent="0" marL="0">
              <a:buNone/>
            </a:pPr>
            <a:r>
              <a:rPr lang="en-US" sz="1400" b="1" dirty="0">
                <a:solidFill>
                  <a:srgbClr val="22833B"/>
                </a:solidFill>
                <a:latin typeface="Calibri" pitchFamily="34" charset="0"/>
                <a:ea typeface="Calibri" pitchFamily="34" charset="-122"/>
                <a:cs typeface="Calibri" pitchFamily="34" charset="-120"/>
              </a:rPr>
              <a:t>2</a:t>
            </a:r>
            <a:endParaRPr lang="en-US" sz="1400" dirty="0"/>
          </a:p>
        </p:txBody>
      </p:sp>
      <p:sp>
        <p:nvSpPr>
          <p:cNvPr id="8" name="Text 6"/>
          <p:cNvSpPr txBox="1"/>
          <p:nvPr/>
        </p:nvSpPr>
        <p:spPr>
          <a:xfrm>
            <a:off x="1188720" y="2221992"/>
            <a:ext cx="4846320" cy="548640"/>
          </a:xfrm>
          <a:prstGeom prst="rect">
            <a:avLst/>
          </a:prstGeom>
          <a:noFill/>
          <a:ln/>
        </p:spPr>
        <p:txBody>
          <a:bodyPr wrap="square" lIns="0" tIns="0" rIns="0" bIns="0" rtlCol="0" anchor="ctr"/>
          <a:lstStyle/>
          <a:p>
            <a:pPr indent="0" marL="0">
              <a:buNone/>
            </a:pPr>
            <a:r>
              <a:rPr lang="en-US" sz="1400" dirty="0">
                <a:solidFill>
                  <a:srgbClr val="1F2A24"/>
                </a:solidFill>
                <a:latin typeface="Calibri" pitchFamily="34" charset="0"/>
                <a:ea typeface="Calibri" pitchFamily="34" charset="-122"/>
                <a:cs typeface="Calibri" pitchFamily="34" charset="-120"/>
              </a:rPr>
              <a:t>Portman DJ, Gass ML. Menopause 2014;21(10):1063–1068</a:t>
            </a:r>
            <a:endParaRPr lang="en-US" sz="1400" dirty="0"/>
          </a:p>
        </p:txBody>
      </p:sp>
      <p:sp>
        <p:nvSpPr>
          <p:cNvPr id="9" name="Shape 7"/>
          <p:cNvSpPr/>
          <p:nvPr/>
        </p:nvSpPr>
        <p:spPr>
          <a:xfrm>
            <a:off x="548640" y="3072384"/>
            <a:ext cx="457200" cy="457200"/>
          </a:xfrm>
          <a:prstGeom prst="ellipse">
            <a:avLst/>
          </a:prstGeom>
          <a:solidFill>
            <a:srgbClr val="EAF4EC"/>
          </a:solidFill>
          <a:ln/>
        </p:spPr>
      </p:sp>
      <p:sp>
        <p:nvSpPr>
          <p:cNvPr id="10" name="Text 8"/>
          <p:cNvSpPr txBox="1"/>
          <p:nvPr/>
        </p:nvSpPr>
        <p:spPr>
          <a:xfrm>
            <a:off x="548640" y="3072384"/>
            <a:ext cx="457200" cy="457200"/>
          </a:xfrm>
          <a:prstGeom prst="rect">
            <a:avLst/>
          </a:prstGeom>
          <a:noFill/>
          <a:ln/>
        </p:spPr>
        <p:txBody>
          <a:bodyPr wrap="square" lIns="0" tIns="0" rIns="0" bIns="0" rtlCol="0" anchor="ctr"/>
          <a:lstStyle/>
          <a:p>
            <a:pPr algn="ctr" indent="0" marL="0">
              <a:buNone/>
            </a:pPr>
            <a:r>
              <a:rPr lang="en-US" sz="1400" b="1" dirty="0">
                <a:solidFill>
                  <a:srgbClr val="22833B"/>
                </a:solidFill>
                <a:latin typeface="Calibri" pitchFamily="34" charset="0"/>
                <a:ea typeface="Calibri" pitchFamily="34" charset="-122"/>
                <a:cs typeface="Calibri" pitchFamily="34" charset="-120"/>
              </a:rPr>
              <a:t>3</a:t>
            </a:r>
            <a:endParaRPr lang="en-US" sz="1400" dirty="0"/>
          </a:p>
        </p:txBody>
      </p:sp>
      <p:sp>
        <p:nvSpPr>
          <p:cNvPr id="11" name="Text 9"/>
          <p:cNvSpPr txBox="1"/>
          <p:nvPr/>
        </p:nvSpPr>
        <p:spPr>
          <a:xfrm>
            <a:off x="1188720" y="3026664"/>
            <a:ext cx="4846320" cy="548640"/>
          </a:xfrm>
          <a:prstGeom prst="rect">
            <a:avLst/>
          </a:prstGeom>
          <a:noFill/>
          <a:ln/>
        </p:spPr>
        <p:txBody>
          <a:bodyPr wrap="square" lIns="0" tIns="0" rIns="0" bIns="0" rtlCol="0" anchor="ctr"/>
          <a:lstStyle/>
          <a:p>
            <a:pPr indent="0" marL="0">
              <a:buNone/>
            </a:pPr>
            <a:r>
              <a:rPr lang="en-US" sz="1400" dirty="0">
                <a:solidFill>
                  <a:srgbClr val="1F2A24"/>
                </a:solidFill>
                <a:latin typeface="Calibri" pitchFamily="34" charset="0"/>
                <a:ea typeface="Calibri" pitchFamily="34" charset="-122"/>
                <a:cs typeface="Calibri" pitchFamily="34" charset="-120"/>
              </a:rPr>
              <a:t>Salvatore S et al. J Endometriosis Pelvic Pain Disord 2014;6(3):150–156</a:t>
            </a:r>
            <a:endParaRPr lang="en-US" sz="1400" dirty="0"/>
          </a:p>
        </p:txBody>
      </p:sp>
      <p:sp>
        <p:nvSpPr>
          <p:cNvPr id="12" name="Shape 10"/>
          <p:cNvSpPr/>
          <p:nvPr/>
        </p:nvSpPr>
        <p:spPr>
          <a:xfrm>
            <a:off x="548640" y="3877056"/>
            <a:ext cx="457200" cy="457200"/>
          </a:xfrm>
          <a:prstGeom prst="ellipse">
            <a:avLst/>
          </a:prstGeom>
          <a:solidFill>
            <a:srgbClr val="EAF4EC"/>
          </a:solidFill>
          <a:ln/>
        </p:spPr>
      </p:sp>
      <p:sp>
        <p:nvSpPr>
          <p:cNvPr id="13" name="Text 11"/>
          <p:cNvSpPr txBox="1"/>
          <p:nvPr/>
        </p:nvSpPr>
        <p:spPr>
          <a:xfrm>
            <a:off x="548640" y="3877056"/>
            <a:ext cx="457200" cy="457200"/>
          </a:xfrm>
          <a:prstGeom prst="rect">
            <a:avLst/>
          </a:prstGeom>
          <a:noFill/>
          <a:ln/>
        </p:spPr>
        <p:txBody>
          <a:bodyPr wrap="square" lIns="0" tIns="0" rIns="0" bIns="0" rtlCol="0" anchor="ctr"/>
          <a:lstStyle/>
          <a:p>
            <a:pPr algn="ctr" indent="0" marL="0">
              <a:buNone/>
            </a:pPr>
            <a:r>
              <a:rPr lang="en-US" sz="1400" b="1" dirty="0">
                <a:solidFill>
                  <a:srgbClr val="22833B"/>
                </a:solidFill>
                <a:latin typeface="Calibri" pitchFamily="34" charset="0"/>
                <a:ea typeface="Calibri" pitchFamily="34" charset="-122"/>
                <a:cs typeface="Calibri" pitchFamily="34" charset="-120"/>
              </a:rPr>
              <a:t>4</a:t>
            </a:r>
            <a:endParaRPr lang="en-US" sz="1400" dirty="0"/>
          </a:p>
        </p:txBody>
      </p:sp>
      <p:sp>
        <p:nvSpPr>
          <p:cNvPr id="14" name="Text 12"/>
          <p:cNvSpPr txBox="1"/>
          <p:nvPr/>
        </p:nvSpPr>
        <p:spPr>
          <a:xfrm>
            <a:off x="1188720" y="3831336"/>
            <a:ext cx="4846320" cy="548640"/>
          </a:xfrm>
          <a:prstGeom prst="rect">
            <a:avLst/>
          </a:prstGeom>
          <a:noFill/>
          <a:ln/>
        </p:spPr>
        <p:txBody>
          <a:bodyPr wrap="square" lIns="0" tIns="0" rIns="0" bIns="0" rtlCol="0" anchor="ctr"/>
          <a:lstStyle/>
          <a:p>
            <a:pPr indent="0" marL="0">
              <a:buNone/>
            </a:pPr>
            <a:r>
              <a:rPr lang="en-US" sz="1400" dirty="0">
                <a:solidFill>
                  <a:srgbClr val="1F2A24"/>
                </a:solidFill>
                <a:latin typeface="Calibri" pitchFamily="34" charset="0"/>
                <a:ea typeface="Calibri" pitchFamily="34" charset="-122"/>
                <a:cs typeface="Calibri" pitchFamily="34" charset="-120"/>
              </a:rPr>
              <a:t>Runels C et al. Dermatol Surg 2014;40(7):775–779</a:t>
            </a:r>
            <a:endParaRPr lang="en-US" sz="1400" dirty="0"/>
          </a:p>
        </p:txBody>
      </p:sp>
      <p:sp>
        <p:nvSpPr>
          <p:cNvPr id="15" name="Shape 13"/>
          <p:cNvSpPr/>
          <p:nvPr/>
        </p:nvSpPr>
        <p:spPr>
          <a:xfrm>
            <a:off x="548640" y="4681728"/>
            <a:ext cx="457200" cy="457200"/>
          </a:xfrm>
          <a:prstGeom prst="ellipse">
            <a:avLst/>
          </a:prstGeom>
          <a:solidFill>
            <a:srgbClr val="EAF4EC"/>
          </a:solidFill>
          <a:ln/>
        </p:spPr>
      </p:sp>
      <p:sp>
        <p:nvSpPr>
          <p:cNvPr id="16" name="Text 14"/>
          <p:cNvSpPr txBox="1"/>
          <p:nvPr/>
        </p:nvSpPr>
        <p:spPr>
          <a:xfrm>
            <a:off x="548640" y="4681728"/>
            <a:ext cx="457200" cy="457200"/>
          </a:xfrm>
          <a:prstGeom prst="rect">
            <a:avLst/>
          </a:prstGeom>
          <a:noFill/>
          <a:ln/>
        </p:spPr>
        <p:txBody>
          <a:bodyPr wrap="square" lIns="0" tIns="0" rIns="0" bIns="0" rtlCol="0" anchor="ctr"/>
          <a:lstStyle/>
          <a:p>
            <a:pPr algn="ctr" indent="0" marL="0">
              <a:buNone/>
            </a:pPr>
            <a:r>
              <a:rPr lang="en-US" sz="1400" b="1" dirty="0">
                <a:solidFill>
                  <a:srgbClr val="22833B"/>
                </a:solidFill>
                <a:latin typeface="Calibri" pitchFamily="34" charset="0"/>
                <a:ea typeface="Calibri" pitchFamily="34" charset="-122"/>
                <a:cs typeface="Calibri" pitchFamily="34" charset="-120"/>
              </a:rPr>
              <a:t>5</a:t>
            </a:r>
            <a:endParaRPr lang="en-US" sz="1400" dirty="0"/>
          </a:p>
        </p:txBody>
      </p:sp>
      <p:sp>
        <p:nvSpPr>
          <p:cNvPr id="17" name="Text 15"/>
          <p:cNvSpPr txBox="1"/>
          <p:nvPr/>
        </p:nvSpPr>
        <p:spPr>
          <a:xfrm>
            <a:off x="1188720" y="4636008"/>
            <a:ext cx="4846320" cy="548640"/>
          </a:xfrm>
          <a:prstGeom prst="rect">
            <a:avLst/>
          </a:prstGeom>
          <a:noFill/>
          <a:ln/>
        </p:spPr>
        <p:txBody>
          <a:bodyPr wrap="square" lIns="0" tIns="0" rIns="0" bIns="0" rtlCol="0" anchor="ctr"/>
          <a:lstStyle/>
          <a:p>
            <a:pPr indent="0" marL="0">
              <a:buNone/>
            </a:pPr>
            <a:r>
              <a:rPr lang="en-US" sz="1400" dirty="0">
                <a:solidFill>
                  <a:srgbClr val="1F2A24"/>
                </a:solidFill>
                <a:latin typeface="Calibri" pitchFamily="34" charset="0"/>
                <a:ea typeface="Calibri" pitchFamily="34" charset="-122"/>
                <a:cs typeface="Calibri" pitchFamily="34" charset="-120"/>
              </a:rPr>
              <a:t>Gompel A, Plu-Bureau G. Climacteric 2018;21(3):259–263</a:t>
            </a:r>
            <a:endParaRPr lang="en-US" sz="1400" dirty="0"/>
          </a:p>
        </p:txBody>
      </p:sp>
      <p:sp>
        <p:nvSpPr>
          <p:cNvPr id="18" name="Shape 16"/>
          <p:cNvSpPr/>
          <p:nvPr/>
        </p:nvSpPr>
        <p:spPr>
          <a:xfrm>
            <a:off x="548640" y="5486400"/>
            <a:ext cx="457200" cy="457200"/>
          </a:xfrm>
          <a:prstGeom prst="ellipse">
            <a:avLst/>
          </a:prstGeom>
          <a:solidFill>
            <a:srgbClr val="EAF4EC"/>
          </a:solidFill>
          <a:ln/>
        </p:spPr>
      </p:sp>
      <p:sp>
        <p:nvSpPr>
          <p:cNvPr id="19" name="Text 17"/>
          <p:cNvSpPr txBox="1"/>
          <p:nvPr/>
        </p:nvSpPr>
        <p:spPr>
          <a:xfrm>
            <a:off x="548640" y="5486400"/>
            <a:ext cx="457200" cy="457200"/>
          </a:xfrm>
          <a:prstGeom prst="rect">
            <a:avLst/>
          </a:prstGeom>
          <a:noFill/>
          <a:ln/>
        </p:spPr>
        <p:txBody>
          <a:bodyPr wrap="square" lIns="0" tIns="0" rIns="0" bIns="0" rtlCol="0" anchor="ctr"/>
          <a:lstStyle/>
          <a:p>
            <a:pPr algn="ctr" indent="0" marL="0">
              <a:buNone/>
            </a:pPr>
            <a:r>
              <a:rPr lang="en-US" sz="1400" b="1" dirty="0">
                <a:solidFill>
                  <a:srgbClr val="22833B"/>
                </a:solidFill>
                <a:latin typeface="Calibri" pitchFamily="34" charset="0"/>
                <a:ea typeface="Calibri" pitchFamily="34" charset="-122"/>
                <a:cs typeface="Calibri" pitchFamily="34" charset="-120"/>
              </a:rPr>
              <a:t>6</a:t>
            </a:r>
            <a:endParaRPr lang="en-US" sz="1400" dirty="0"/>
          </a:p>
        </p:txBody>
      </p:sp>
      <p:sp>
        <p:nvSpPr>
          <p:cNvPr id="20" name="Text 18"/>
          <p:cNvSpPr txBox="1"/>
          <p:nvPr/>
        </p:nvSpPr>
        <p:spPr>
          <a:xfrm>
            <a:off x="1188720" y="5440680"/>
            <a:ext cx="4846320" cy="548640"/>
          </a:xfrm>
          <a:prstGeom prst="rect">
            <a:avLst/>
          </a:prstGeom>
          <a:noFill/>
          <a:ln/>
        </p:spPr>
        <p:txBody>
          <a:bodyPr wrap="square" lIns="0" tIns="0" rIns="0" bIns="0" rtlCol="0" anchor="ctr"/>
          <a:lstStyle/>
          <a:p>
            <a:pPr indent="0" marL="0">
              <a:buNone/>
            </a:pPr>
            <a:r>
              <a:rPr lang="en-US" sz="1400" dirty="0">
                <a:solidFill>
                  <a:srgbClr val="1F2A24"/>
                </a:solidFill>
                <a:latin typeface="Calibri" pitchFamily="34" charset="0"/>
                <a:ea typeface="Calibri" pitchFamily="34" charset="-122"/>
                <a:cs typeface="Calibri" pitchFamily="34" charset="-120"/>
              </a:rPr>
              <a:t>Dietz HP. Curr Opin Obstet Gynecol 2006;18(5):528–537</a:t>
            </a:r>
            <a:endParaRPr lang="en-US" sz="1400" dirty="0"/>
          </a:p>
        </p:txBody>
      </p:sp>
      <p:sp>
        <p:nvSpPr>
          <p:cNvPr id="21" name="Shape 19"/>
          <p:cNvSpPr/>
          <p:nvPr/>
        </p:nvSpPr>
        <p:spPr>
          <a:xfrm>
            <a:off x="6217920" y="1463040"/>
            <a:ext cx="457200" cy="457200"/>
          </a:xfrm>
          <a:prstGeom prst="ellipse">
            <a:avLst/>
          </a:prstGeom>
          <a:solidFill>
            <a:srgbClr val="EAF4EC"/>
          </a:solidFill>
          <a:ln/>
        </p:spPr>
      </p:sp>
      <p:sp>
        <p:nvSpPr>
          <p:cNvPr id="22" name="Text 20"/>
          <p:cNvSpPr txBox="1"/>
          <p:nvPr/>
        </p:nvSpPr>
        <p:spPr>
          <a:xfrm>
            <a:off x="6217920" y="1463040"/>
            <a:ext cx="457200" cy="457200"/>
          </a:xfrm>
          <a:prstGeom prst="rect">
            <a:avLst/>
          </a:prstGeom>
          <a:noFill/>
          <a:ln/>
        </p:spPr>
        <p:txBody>
          <a:bodyPr wrap="square" lIns="0" tIns="0" rIns="0" bIns="0" rtlCol="0" anchor="ctr"/>
          <a:lstStyle/>
          <a:p>
            <a:pPr algn="ctr" indent="0" marL="0">
              <a:buNone/>
            </a:pPr>
            <a:r>
              <a:rPr lang="en-US" sz="1400" b="1" dirty="0">
                <a:solidFill>
                  <a:srgbClr val="22833B"/>
                </a:solidFill>
                <a:latin typeface="Calibri" pitchFamily="34" charset="0"/>
                <a:ea typeface="Calibri" pitchFamily="34" charset="-122"/>
                <a:cs typeface="Calibri" pitchFamily="34" charset="-120"/>
              </a:rPr>
              <a:t>7</a:t>
            </a:r>
            <a:endParaRPr lang="en-US" sz="1400" dirty="0"/>
          </a:p>
        </p:txBody>
      </p:sp>
      <p:sp>
        <p:nvSpPr>
          <p:cNvPr id="23" name="Text 21"/>
          <p:cNvSpPr txBox="1"/>
          <p:nvPr/>
        </p:nvSpPr>
        <p:spPr>
          <a:xfrm>
            <a:off x="6858000" y="1417320"/>
            <a:ext cx="4846320" cy="548640"/>
          </a:xfrm>
          <a:prstGeom prst="rect">
            <a:avLst/>
          </a:prstGeom>
          <a:noFill/>
          <a:ln/>
        </p:spPr>
        <p:txBody>
          <a:bodyPr wrap="square" lIns="0" tIns="0" rIns="0" bIns="0" rtlCol="0" anchor="ctr"/>
          <a:lstStyle/>
          <a:p>
            <a:pPr indent="0" marL="0">
              <a:buNone/>
            </a:pPr>
            <a:r>
              <a:rPr lang="en-US" sz="1400" dirty="0">
                <a:solidFill>
                  <a:srgbClr val="1F2A24"/>
                </a:solidFill>
                <a:latin typeface="Calibri" pitchFamily="34" charset="0"/>
                <a:ea typeface="Calibri" pitchFamily="34" charset="-122"/>
                <a:cs typeface="Calibri" pitchFamily="34" charset="-120"/>
              </a:rPr>
              <a:t>Ceccarelli M. AMR Symposium 2026, comunicazione orale</a:t>
            </a:r>
            <a:endParaRPr lang="en-US" sz="1400" dirty="0"/>
          </a:p>
        </p:txBody>
      </p:sp>
      <p:sp>
        <p:nvSpPr>
          <p:cNvPr id="24" name="Shape 22"/>
          <p:cNvSpPr/>
          <p:nvPr/>
        </p:nvSpPr>
        <p:spPr>
          <a:xfrm>
            <a:off x="6217920" y="2267712"/>
            <a:ext cx="457200" cy="457200"/>
          </a:xfrm>
          <a:prstGeom prst="ellipse">
            <a:avLst/>
          </a:prstGeom>
          <a:solidFill>
            <a:srgbClr val="EAF4EC"/>
          </a:solidFill>
          <a:ln/>
        </p:spPr>
      </p:sp>
      <p:sp>
        <p:nvSpPr>
          <p:cNvPr id="25" name="Text 23"/>
          <p:cNvSpPr txBox="1"/>
          <p:nvPr/>
        </p:nvSpPr>
        <p:spPr>
          <a:xfrm>
            <a:off x="6217920" y="2267712"/>
            <a:ext cx="457200" cy="457200"/>
          </a:xfrm>
          <a:prstGeom prst="rect">
            <a:avLst/>
          </a:prstGeom>
          <a:noFill/>
          <a:ln/>
        </p:spPr>
        <p:txBody>
          <a:bodyPr wrap="square" lIns="0" tIns="0" rIns="0" bIns="0" rtlCol="0" anchor="ctr"/>
          <a:lstStyle/>
          <a:p>
            <a:pPr algn="ctr" indent="0" marL="0">
              <a:buNone/>
            </a:pPr>
            <a:r>
              <a:rPr lang="en-US" sz="1400" b="1" dirty="0">
                <a:solidFill>
                  <a:srgbClr val="22833B"/>
                </a:solidFill>
                <a:latin typeface="Calibri" pitchFamily="34" charset="0"/>
                <a:ea typeface="Calibri" pitchFamily="34" charset="-122"/>
                <a:cs typeface="Calibri" pitchFamily="34" charset="-120"/>
              </a:rPr>
              <a:t>8</a:t>
            </a:r>
            <a:endParaRPr lang="en-US" sz="1400" dirty="0"/>
          </a:p>
        </p:txBody>
      </p:sp>
      <p:sp>
        <p:nvSpPr>
          <p:cNvPr id="26" name="Text 24"/>
          <p:cNvSpPr txBox="1"/>
          <p:nvPr/>
        </p:nvSpPr>
        <p:spPr>
          <a:xfrm>
            <a:off x="6858000" y="2221992"/>
            <a:ext cx="4846320" cy="548640"/>
          </a:xfrm>
          <a:prstGeom prst="rect">
            <a:avLst/>
          </a:prstGeom>
          <a:noFill/>
          <a:ln/>
        </p:spPr>
        <p:txBody>
          <a:bodyPr wrap="square" lIns="0" tIns="0" rIns="0" bIns="0" rtlCol="0" anchor="ctr"/>
          <a:lstStyle/>
          <a:p>
            <a:pPr indent="0" marL="0">
              <a:buNone/>
            </a:pPr>
            <a:r>
              <a:rPr lang="en-US" sz="1400" dirty="0">
                <a:solidFill>
                  <a:srgbClr val="1F2A24"/>
                </a:solidFill>
                <a:latin typeface="Calibri" pitchFamily="34" charset="0"/>
                <a:ea typeface="Calibri" pitchFamily="34" charset="-122"/>
                <a:cs typeface="Calibri" pitchFamily="34" charset="-120"/>
              </a:rPr>
              <a:t>Aghajanova L et al. Fertil Steril 2020;114(3):617–625</a:t>
            </a:r>
            <a:endParaRPr lang="en-US" sz="1400" dirty="0"/>
          </a:p>
        </p:txBody>
      </p:sp>
      <p:sp>
        <p:nvSpPr>
          <p:cNvPr id="27" name="Shape 25"/>
          <p:cNvSpPr/>
          <p:nvPr/>
        </p:nvSpPr>
        <p:spPr>
          <a:xfrm>
            <a:off x="6217920" y="3072384"/>
            <a:ext cx="457200" cy="457200"/>
          </a:xfrm>
          <a:prstGeom prst="ellipse">
            <a:avLst/>
          </a:prstGeom>
          <a:solidFill>
            <a:srgbClr val="EAF4EC"/>
          </a:solidFill>
          <a:ln/>
        </p:spPr>
      </p:sp>
      <p:sp>
        <p:nvSpPr>
          <p:cNvPr id="28" name="Text 26"/>
          <p:cNvSpPr txBox="1"/>
          <p:nvPr/>
        </p:nvSpPr>
        <p:spPr>
          <a:xfrm>
            <a:off x="6217920" y="3072384"/>
            <a:ext cx="457200" cy="457200"/>
          </a:xfrm>
          <a:prstGeom prst="rect">
            <a:avLst/>
          </a:prstGeom>
          <a:noFill/>
          <a:ln/>
        </p:spPr>
        <p:txBody>
          <a:bodyPr wrap="square" lIns="0" tIns="0" rIns="0" bIns="0" rtlCol="0" anchor="ctr"/>
          <a:lstStyle/>
          <a:p>
            <a:pPr algn="ctr" indent="0" marL="0">
              <a:buNone/>
            </a:pPr>
            <a:r>
              <a:rPr lang="en-US" sz="1400" b="1" dirty="0">
                <a:solidFill>
                  <a:srgbClr val="22833B"/>
                </a:solidFill>
                <a:latin typeface="Calibri" pitchFamily="34" charset="0"/>
                <a:ea typeface="Calibri" pitchFamily="34" charset="-122"/>
                <a:cs typeface="Calibri" pitchFamily="34" charset="-120"/>
              </a:rPr>
              <a:t>9</a:t>
            </a:r>
            <a:endParaRPr lang="en-US" sz="1400" dirty="0"/>
          </a:p>
        </p:txBody>
      </p:sp>
      <p:sp>
        <p:nvSpPr>
          <p:cNvPr id="29" name="Text 27"/>
          <p:cNvSpPr txBox="1"/>
          <p:nvPr/>
        </p:nvSpPr>
        <p:spPr>
          <a:xfrm>
            <a:off x="6858000" y="3026664"/>
            <a:ext cx="4846320" cy="548640"/>
          </a:xfrm>
          <a:prstGeom prst="rect">
            <a:avLst/>
          </a:prstGeom>
          <a:noFill/>
          <a:ln/>
        </p:spPr>
        <p:txBody>
          <a:bodyPr wrap="square" lIns="0" tIns="0" rIns="0" bIns="0" rtlCol="0" anchor="ctr"/>
          <a:lstStyle/>
          <a:p>
            <a:pPr indent="0" marL="0">
              <a:buNone/>
            </a:pPr>
            <a:r>
              <a:rPr lang="en-US" sz="1400" dirty="0">
                <a:solidFill>
                  <a:srgbClr val="1F2A24"/>
                </a:solidFill>
                <a:latin typeface="Calibri" pitchFamily="34" charset="0"/>
                <a:ea typeface="Calibri" pitchFamily="34" charset="-122"/>
                <a:cs typeface="Calibri" pitchFamily="34" charset="-120"/>
              </a:rPr>
              <a:t>Goldstein AT et al. Clin Obstet Gynecol 2005;48(4):769–785</a:t>
            </a:r>
            <a:endParaRPr lang="en-US" sz="1400" dirty="0"/>
          </a:p>
        </p:txBody>
      </p:sp>
      <p:sp>
        <p:nvSpPr>
          <p:cNvPr id="30" name="Shape 28"/>
          <p:cNvSpPr/>
          <p:nvPr/>
        </p:nvSpPr>
        <p:spPr>
          <a:xfrm>
            <a:off x="6217920" y="3877056"/>
            <a:ext cx="457200" cy="457200"/>
          </a:xfrm>
          <a:prstGeom prst="ellipse">
            <a:avLst/>
          </a:prstGeom>
          <a:solidFill>
            <a:srgbClr val="EAF4EC"/>
          </a:solidFill>
          <a:ln/>
        </p:spPr>
      </p:sp>
      <p:sp>
        <p:nvSpPr>
          <p:cNvPr id="31" name="Text 29"/>
          <p:cNvSpPr txBox="1"/>
          <p:nvPr/>
        </p:nvSpPr>
        <p:spPr>
          <a:xfrm>
            <a:off x="6217920" y="3877056"/>
            <a:ext cx="457200" cy="457200"/>
          </a:xfrm>
          <a:prstGeom prst="rect">
            <a:avLst/>
          </a:prstGeom>
          <a:noFill/>
          <a:ln/>
        </p:spPr>
        <p:txBody>
          <a:bodyPr wrap="square" lIns="0" tIns="0" rIns="0" bIns="0" rtlCol="0" anchor="ctr"/>
          <a:lstStyle/>
          <a:p>
            <a:pPr algn="ctr" indent="0" marL="0">
              <a:buNone/>
            </a:pPr>
            <a:r>
              <a:rPr lang="en-US" sz="1400" b="1" dirty="0">
                <a:solidFill>
                  <a:srgbClr val="22833B"/>
                </a:solidFill>
                <a:latin typeface="Calibri" pitchFamily="34" charset="0"/>
                <a:ea typeface="Calibri" pitchFamily="34" charset="-122"/>
                <a:cs typeface="Calibri" pitchFamily="34" charset="-120"/>
              </a:rPr>
              <a:t>10</a:t>
            </a:r>
            <a:endParaRPr lang="en-US" sz="1400" dirty="0"/>
          </a:p>
        </p:txBody>
      </p:sp>
      <p:sp>
        <p:nvSpPr>
          <p:cNvPr id="32" name="Text 30"/>
          <p:cNvSpPr txBox="1"/>
          <p:nvPr/>
        </p:nvSpPr>
        <p:spPr>
          <a:xfrm>
            <a:off x="6858000" y="3831336"/>
            <a:ext cx="4846320" cy="548640"/>
          </a:xfrm>
          <a:prstGeom prst="rect">
            <a:avLst/>
          </a:prstGeom>
          <a:noFill/>
          <a:ln/>
        </p:spPr>
        <p:txBody>
          <a:bodyPr wrap="square" lIns="0" tIns="0" rIns="0" bIns="0" rtlCol="0" anchor="ctr"/>
          <a:lstStyle/>
          <a:p>
            <a:pPr indent="0" marL="0">
              <a:buNone/>
            </a:pPr>
            <a:r>
              <a:rPr lang="en-US" sz="1400" dirty="0">
                <a:solidFill>
                  <a:srgbClr val="1F2A24"/>
                </a:solidFill>
                <a:latin typeface="Calibri" pitchFamily="34" charset="0"/>
                <a:ea typeface="Calibri" pitchFamily="34" charset="-122"/>
                <a:cs typeface="Calibri" pitchFamily="34" charset="-120"/>
              </a:rPr>
              <a:t>Manson JE et al. JAMA 2024;331(20):1748–1760</a:t>
            </a:r>
            <a:endParaRPr lang="en-US" sz="1400" dirty="0"/>
          </a:p>
        </p:txBody>
      </p:sp>
      <p:sp>
        <p:nvSpPr>
          <p:cNvPr id="33" name="Shape 31"/>
          <p:cNvSpPr/>
          <p:nvPr/>
        </p:nvSpPr>
        <p:spPr>
          <a:xfrm>
            <a:off x="6217920" y="4681728"/>
            <a:ext cx="457200" cy="457200"/>
          </a:xfrm>
          <a:prstGeom prst="ellipse">
            <a:avLst/>
          </a:prstGeom>
          <a:solidFill>
            <a:srgbClr val="EAF4EC"/>
          </a:solidFill>
          <a:ln/>
        </p:spPr>
      </p:sp>
      <p:sp>
        <p:nvSpPr>
          <p:cNvPr id="34" name="Text 32"/>
          <p:cNvSpPr txBox="1"/>
          <p:nvPr/>
        </p:nvSpPr>
        <p:spPr>
          <a:xfrm>
            <a:off x="6217920" y="4681728"/>
            <a:ext cx="457200" cy="457200"/>
          </a:xfrm>
          <a:prstGeom prst="rect">
            <a:avLst/>
          </a:prstGeom>
          <a:noFill/>
          <a:ln/>
        </p:spPr>
        <p:txBody>
          <a:bodyPr wrap="square" lIns="0" tIns="0" rIns="0" bIns="0" rtlCol="0" anchor="ctr"/>
          <a:lstStyle/>
          <a:p>
            <a:pPr algn="ctr" indent="0" marL="0">
              <a:buNone/>
            </a:pPr>
            <a:r>
              <a:rPr lang="en-US" sz="1400" b="1" dirty="0">
                <a:solidFill>
                  <a:srgbClr val="22833B"/>
                </a:solidFill>
                <a:latin typeface="Calibri" pitchFamily="34" charset="0"/>
                <a:ea typeface="Calibri" pitchFamily="34" charset="-122"/>
                <a:cs typeface="Calibri" pitchFamily="34" charset="-120"/>
              </a:rPr>
              <a:t>11</a:t>
            </a:r>
            <a:endParaRPr lang="en-US" sz="1400" dirty="0"/>
          </a:p>
        </p:txBody>
      </p:sp>
      <p:sp>
        <p:nvSpPr>
          <p:cNvPr id="35" name="Text 33"/>
          <p:cNvSpPr txBox="1"/>
          <p:nvPr/>
        </p:nvSpPr>
        <p:spPr>
          <a:xfrm>
            <a:off x="6858000" y="4636008"/>
            <a:ext cx="4846320" cy="548640"/>
          </a:xfrm>
          <a:prstGeom prst="rect">
            <a:avLst/>
          </a:prstGeom>
          <a:noFill/>
          <a:ln/>
        </p:spPr>
        <p:txBody>
          <a:bodyPr wrap="square" lIns="0" tIns="0" rIns="0" bIns="0" rtlCol="0" anchor="ctr"/>
          <a:lstStyle/>
          <a:p>
            <a:pPr indent="0" marL="0">
              <a:buNone/>
            </a:pPr>
            <a:r>
              <a:rPr lang="en-US" sz="1400" dirty="0">
                <a:solidFill>
                  <a:srgbClr val="1F2A24"/>
                </a:solidFill>
                <a:latin typeface="Calibri" pitchFamily="34" charset="0"/>
                <a:ea typeface="Calibri" pitchFamily="34" charset="-122"/>
                <a:cs typeface="Calibri" pitchFamily="34" charset="-120"/>
              </a:rPr>
              <a:t>Davis SR et al. JCEM 2019;104(10):4660–4666</a:t>
            </a:r>
            <a:endParaRPr lang="en-US" sz="1400" dirty="0"/>
          </a:p>
        </p:txBody>
      </p:sp>
      <p:sp>
        <p:nvSpPr>
          <p:cNvPr id="36" name="Shape 34"/>
          <p:cNvSpPr/>
          <p:nvPr/>
        </p:nvSpPr>
        <p:spPr>
          <a:xfrm>
            <a:off x="6217920" y="5486400"/>
            <a:ext cx="457200" cy="457200"/>
          </a:xfrm>
          <a:prstGeom prst="ellipse">
            <a:avLst/>
          </a:prstGeom>
          <a:solidFill>
            <a:srgbClr val="EAF4EC"/>
          </a:solidFill>
          <a:ln/>
        </p:spPr>
      </p:sp>
      <p:sp>
        <p:nvSpPr>
          <p:cNvPr id="37" name="Text 35"/>
          <p:cNvSpPr txBox="1"/>
          <p:nvPr/>
        </p:nvSpPr>
        <p:spPr>
          <a:xfrm>
            <a:off x="6217920" y="5486400"/>
            <a:ext cx="457200" cy="457200"/>
          </a:xfrm>
          <a:prstGeom prst="rect">
            <a:avLst/>
          </a:prstGeom>
          <a:noFill/>
          <a:ln/>
        </p:spPr>
        <p:txBody>
          <a:bodyPr wrap="square" lIns="0" tIns="0" rIns="0" bIns="0" rtlCol="0" anchor="ctr"/>
          <a:lstStyle/>
          <a:p>
            <a:pPr algn="ctr" indent="0" marL="0">
              <a:buNone/>
            </a:pPr>
            <a:r>
              <a:rPr lang="en-US" sz="1400" b="1" dirty="0">
                <a:solidFill>
                  <a:srgbClr val="22833B"/>
                </a:solidFill>
                <a:latin typeface="Calibri" pitchFamily="34" charset="0"/>
                <a:ea typeface="Calibri" pitchFamily="34" charset="-122"/>
                <a:cs typeface="Calibri" pitchFamily="34" charset="-120"/>
              </a:rPr>
              <a:t>12</a:t>
            </a:r>
            <a:endParaRPr lang="en-US" sz="1400" dirty="0"/>
          </a:p>
        </p:txBody>
      </p:sp>
      <p:sp>
        <p:nvSpPr>
          <p:cNvPr id="38" name="Text 36"/>
          <p:cNvSpPr txBox="1"/>
          <p:nvPr/>
        </p:nvSpPr>
        <p:spPr>
          <a:xfrm>
            <a:off x="6858000" y="5440680"/>
            <a:ext cx="4846320" cy="548640"/>
          </a:xfrm>
          <a:prstGeom prst="rect">
            <a:avLst/>
          </a:prstGeom>
          <a:noFill/>
          <a:ln/>
        </p:spPr>
        <p:txBody>
          <a:bodyPr wrap="square" lIns="0" tIns="0" rIns="0" bIns="0" rtlCol="0" anchor="ctr"/>
          <a:lstStyle/>
          <a:p>
            <a:pPr indent="0" marL="0">
              <a:buNone/>
            </a:pPr>
            <a:r>
              <a:rPr lang="en-US" sz="1400" dirty="0">
                <a:solidFill>
                  <a:srgbClr val="1F2A24"/>
                </a:solidFill>
                <a:latin typeface="Calibri" pitchFamily="34" charset="0"/>
                <a:ea typeface="Calibri" pitchFamily="34" charset="-122"/>
                <a:cs typeface="Calibri" pitchFamily="34" charset="-120"/>
              </a:rPr>
              <a:t>Makary MA et al. JAMA 2026;335(2):117–118</a:t>
            </a:r>
            <a:endParaRPr lang="en-US" sz="1400" dirty="0"/>
          </a:p>
        </p:txBody>
      </p:sp>
      <p:sp>
        <p:nvSpPr>
          <p:cNvPr id="39" name="Text 1"/>
          <p:cNvSpPr/>
          <p:nvPr>
            <p:ph idx="103" type="body" hasCustomPrompt="1"/>
          </p:nvPr>
        </p:nvSpPr>
        <p:spPr>
          <a:xfrm>
            <a:off x="548640" y="969264"/>
            <a:ext cx="10241280" cy="384048"/>
          </a:xfrm>
          <a:prstGeom prst="rect">
            <a:avLst/>
          </a:prstGeom>
          <a:noFill/>
          <a:ln/>
        </p:spPr>
        <p:txBody>
          <a:bodyPr wrap="square" lIns="0" tIns="0" rIns="0" bIns="0" rtlCol="0" anchor="t"/>
          <a:lstStyle/>
          <a:p>
            <a:pPr indent="0" marL="0">
              <a:buNone/>
            </a:pP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Logo AMR">    </p:cNvPr>
          <p:cNvPicPr>
            <a:picLocks noChangeAspect="1"/>
          </p:cNvPicPr>
          <p:nvPr/>
        </p:nvPicPr>
        <p:blipFill>
          <a:blip r:embed="rId1"/>
          <a:stretch>
            <a:fillRect/>
          </a:stretch>
        </p:blipFill>
        <p:spPr>
          <a:xfrm>
            <a:off x="749808" y="758952"/>
            <a:ext cx="3291840" cy="3739896"/>
          </a:xfrm>
          <a:prstGeom prst="rect">
            <a:avLst/>
          </a:prstGeom>
        </p:spPr>
      </p:pic>
      <p:pic>
        <p:nvPicPr>
          <p:cNvPr id="3" name="Image 1" descr="Logo Università Pontificia Salesiana">    </p:cNvPr>
          <p:cNvPicPr>
            <a:picLocks noChangeAspect="1"/>
          </p:cNvPicPr>
          <p:nvPr/>
        </p:nvPicPr>
        <p:blipFill>
          <a:blip r:embed="rId2"/>
          <a:stretch>
            <a:fillRect/>
          </a:stretch>
        </p:blipFill>
        <p:spPr>
          <a:xfrm>
            <a:off x="146304" y="5632704"/>
            <a:ext cx="1453896" cy="1170432"/>
          </a:xfrm>
          <a:prstGeom prst="rect">
            <a:avLst/>
          </a:prstGeom>
        </p:spPr>
      </p:pic>
      <p:sp>
        <p:nvSpPr>
          <p:cNvPr id="4" name="Text 0"/>
          <p:cNvSpPr txBox="1"/>
          <p:nvPr/>
        </p:nvSpPr>
        <p:spPr>
          <a:xfrm>
            <a:off x="1691640" y="5806440"/>
            <a:ext cx="2743200" cy="685800"/>
          </a:xfrm>
          <a:prstGeom prst="rect">
            <a:avLst/>
          </a:prstGeom>
          <a:noFill/>
          <a:ln/>
        </p:spPr>
        <p:txBody>
          <a:bodyPr wrap="square" lIns="0" tIns="0" rIns="0" bIns="0" rtlCol="0" anchor="ctr"/>
          <a:lstStyle/>
          <a:p>
            <a:pPr algn="r" indent="0" marL="0">
              <a:buNone/>
            </a:pPr>
            <a:r>
              <a:rPr lang="en-US" sz="1600" spc="400" kern="0" dirty="0">
                <a:solidFill>
                  <a:srgbClr val="1F2A24"/>
                </a:solidFill>
                <a:latin typeface="Calibri" pitchFamily="34" charset="0"/>
                <a:ea typeface="Calibri" pitchFamily="34" charset="-122"/>
                <a:cs typeface="Calibri" pitchFamily="34" charset="-120"/>
              </a:rPr>
              <a:t>ROMA</a:t>
            </a:r>
            <a:endParaRPr lang="en-US" sz="1600" dirty="0"/>
          </a:p>
          <a:p>
            <a:pPr algn="r" indent="0" marL="0">
              <a:buNone/>
            </a:pPr>
            <a:r>
              <a:rPr lang="en-US" sz="1600" spc="300" kern="0" dirty="0">
                <a:solidFill>
                  <a:srgbClr val="1F2A24"/>
                </a:solidFill>
                <a:latin typeface="Calibri" pitchFamily="34" charset="0"/>
                <a:ea typeface="Calibri" pitchFamily="34" charset="-122"/>
                <a:cs typeface="Calibri" pitchFamily="34" charset="-120"/>
              </a:rPr>
              <a:t>16–17 OTTOBRE 2026</a:t>
            </a:r>
            <a:endParaRPr lang="en-US" sz="1600" dirty="0"/>
          </a:p>
        </p:txBody>
      </p:sp>
      <p:sp>
        <p:nvSpPr>
          <p:cNvPr id="5" name="Shape 1"/>
          <p:cNvSpPr/>
          <p:nvPr/>
        </p:nvSpPr>
        <p:spPr>
          <a:xfrm>
            <a:off x="4645152" y="0"/>
            <a:ext cx="7546543" cy="6858000"/>
          </a:xfrm>
          <a:prstGeom prst="rect">
            <a:avLst/>
          </a:prstGeom>
          <a:solidFill>
            <a:srgbClr val="22833B"/>
          </a:solidFill>
          <a:ln/>
        </p:spPr>
      </p:sp>
      <p:sp>
        <p:nvSpPr>
          <p:cNvPr id="6" name="Text 2"/>
          <p:cNvSpPr txBox="1"/>
          <p:nvPr/>
        </p:nvSpPr>
        <p:spPr>
          <a:xfrm>
            <a:off x="5413248" y="2011680"/>
            <a:ext cx="6035040" cy="1280160"/>
          </a:xfrm>
          <a:prstGeom prst="rect">
            <a:avLst/>
          </a:prstGeom>
          <a:noFill/>
          <a:ln/>
        </p:spPr>
        <p:txBody>
          <a:bodyPr wrap="square" lIns="0" tIns="0" rIns="0" bIns="0" rtlCol="0" anchor="b"/>
          <a:lstStyle/>
          <a:p>
            <a:pPr indent="0" marL="0">
              <a:buNone/>
            </a:pPr>
            <a:r>
              <a:rPr lang="en-US" sz="6600" b="1" dirty="0">
                <a:solidFill>
                  <a:srgbClr val="FFFFFF"/>
                </a:solidFill>
                <a:latin typeface="Cambria" pitchFamily="34" charset="0"/>
                <a:ea typeface="Cambria" pitchFamily="34" charset="-122"/>
                <a:cs typeface="Cambria" pitchFamily="34" charset="-120"/>
              </a:rPr>
              <a:t>Grazie</a:t>
            </a:r>
            <a:endParaRPr lang="en-US" sz="6600" dirty="0"/>
          </a:p>
        </p:txBody>
      </p:sp>
      <p:sp>
        <p:nvSpPr>
          <p:cNvPr id="7" name="Shape 3"/>
          <p:cNvSpPr/>
          <p:nvPr/>
        </p:nvSpPr>
        <p:spPr>
          <a:xfrm>
            <a:off x="5413248" y="3474720"/>
            <a:ext cx="5577840" cy="0"/>
          </a:xfrm>
          <a:prstGeom prst="line">
            <a:avLst/>
          </a:prstGeom>
          <a:noFill/>
          <a:ln w="12700">
            <a:solidFill>
              <a:srgbClr val="A7D3B0"/>
            </a:solidFill>
            <a:prstDash val="solid"/>
          </a:ln>
        </p:spPr>
      </p:sp>
      <p:sp>
        <p:nvSpPr>
          <p:cNvPr id="8" name="Text 4"/>
          <p:cNvSpPr txBox="1"/>
          <p:nvPr/>
        </p:nvSpPr>
        <p:spPr>
          <a:xfrm>
            <a:off x="5413248" y="3657600"/>
            <a:ext cx="6035040" cy="822960"/>
          </a:xfrm>
          <a:prstGeom prst="rect">
            <a:avLst/>
          </a:prstGeom>
          <a:noFill/>
          <a:ln/>
        </p:spPr>
        <p:txBody>
          <a:bodyPr wrap="square" lIns="0" tIns="0" rIns="0" bIns="0" rtlCol="0" anchor="t"/>
          <a:lstStyle/>
          <a:p>
            <a:pPr indent="0" marL="0">
              <a:buNone/>
            </a:pPr>
            <a:r>
              <a:rPr lang="en-US" sz="1800" i="1" dirty="0">
                <a:solidFill>
                  <a:srgbClr val="D7EBC0"/>
                </a:solidFill>
                <a:latin typeface="Calibri" pitchFamily="34" charset="0"/>
                <a:ea typeface="Calibri" pitchFamily="34" charset="-122"/>
                <a:cs typeface="Calibri" pitchFamily="34" charset="-120"/>
              </a:rPr>
              <a:t>Il contributo che, come medici, possiamo restituire alle nostre pazienti</a:t>
            </a:r>
            <a:endParaRPr lang="en-US" sz="1800" dirty="0"/>
          </a:p>
        </p:txBody>
      </p:sp>
      <p:sp>
        <p:nvSpPr>
          <p:cNvPr id="9" name="Text 5"/>
          <p:cNvSpPr txBox="1"/>
          <p:nvPr/>
        </p:nvSpPr>
        <p:spPr>
          <a:xfrm>
            <a:off x="5669280" y="5394960"/>
            <a:ext cx="5989320" cy="731520"/>
          </a:xfrm>
          <a:prstGeom prst="rect">
            <a:avLst/>
          </a:prstGeom>
          <a:noFill/>
          <a:ln/>
        </p:spPr>
        <p:txBody>
          <a:bodyPr wrap="square" lIns="0" tIns="0" rIns="0" bIns="0" rtlCol="0" anchor="b"/>
          <a:lstStyle/>
          <a:p>
            <a:pPr algn="r" indent="0" marL="0">
              <a:buNone/>
            </a:pPr>
            <a:r>
              <a:rPr lang="en-US" sz="1800" b="1" spc="200" kern="0" dirty="0">
                <a:solidFill>
                  <a:srgbClr val="FFFFFF"/>
                </a:solidFill>
                <a:latin typeface="Calibri" pitchFamily="34" charset="0"/>
                <a:ea typeface="Calibri" pitchFamily="34" charset="-122"/>
                <a:cs typeface="Calibri" pitchFamily="34" charset="-120"/>
              </a:rPr>
              <a:t>DOTT.SSA ELEONORA PICCOLO</a:t>
            </a:r>
            <a:endParaRPr lang="en-US" sz="1800" dirty="0"/>
          </a:p>
          <a:p>
            <a:pPr algn="r" indent="0" marL="0">
              <a:buNone/>
            </a:pPr>
            <a:r>
              <a:rPr lang="en-US" sz="1500" i="1" dirty="0">
                <a:solidFill>
                  <a:srgbClr val="FFFFFF"/>
                </a:solidFill>
                <a:latin typeface="Calibri" pitchFamily="34" charset="0"/>
                <a:ea typeface="Calibri" pitchFamily="34" charset="-122"/>
                <a:cs typeface="Calibri" pitchFamily="34" charset="-120"/>
              </a:rPr>
              <a:t>Ginecologa</a:t>
            </a:r>
            <a:endParaRPr lang="en-US" sz="1800" dirty="0"/>
          </a:p>
        </p:txBody>
      </p:sp>
    </p:spTree>
  </p:cSld>
  <p:clrMapOvr>
    <a:masterClrMapping/>
  </p:clrMapOvr>
</p:sld>
</file>

<file path=ppt/theme/theme1.xml><?xml version="1.0" encoding="utf-8"?>
<a:theme xmlns:a="http://schemas.openxmlformats.org/drawingml/2006/main" name="AMR Symposium 2026">
  <a:themeElements>
    <a:clrScheme name="AMR Symposium 2026">
      <a:dk1>
        <a:srgbClr val="1F2A24"/>
      </a:dk1>
      <a:lt1>
        <a:srgbClr val="FFFFFF"/>
      </a:lt1>
      <a:dk2>
        <a:srgbClr val="14532D"/>
      </a:dk2>
      <a:lt2>
        <a:srgbClr val="EAF4EC"/>
      </a:lt2>
      <a:accent1>
        <a:srgbClr val="22833B"/>
      </a:accent1>
      <a:accent2>
        <a:srgbClr val="8CBF3F"/>
      </a:accent2>
      <a:accent3>
        <a:srgbClr val="C2416B"/>
      </a:accent3>
      <a:accent4>
        <a:srgbClr val="5B6B60"/>
      </a:accent4>
      <a:accent5>
        <a:srgbClr val="A7D3B0"/>
      </a:accent5>
      <a:accent6>
        <a:srgbClr val="F6D7E0"/>
      </a:accent6>
      <a:hlink>
        <a:srgbClr val="22833B"/>
      </a:hlink>
      <a:folHlink>
        <a:srgbClr val="14532D"/>
      </a:folHlink>
    </a:clrScheme>
    <a:fontScheme name="AMR Symposium 2026">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AMR Symposium 2026</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Il Contributo della Medicina Rigenerativa in Ginecologia</dc:title>
  <dc:subject>PptxGenJS Presentation</dc:subject>
  <dc:creator>Dott.ssa Eleonora Piccolo</dc:creator>
  <cp:lastModifiedBy>Dott.ssa Eleonora Piccolo</cp:lastModifiedBy>
  <cp:revision>1</cp:revision>
  <dcterms:created xsi:type="dcterms:W3CDTF">2026-10-13T11:58:35Z</dcterms:created>
  <dcterms:modified xsi:type="dcterms:W3CDTF">2026-10-13T11:58:35Z</dcterms:modified>
</cp:coreProperties>
</file>